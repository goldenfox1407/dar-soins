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Mesdames et Messieurs les membres du jury, chers encadrants, chers camarades.</a:t>
            </a:r>
          </a:p>
          <a:p/>
          <a:p>
            <a:r>
              <a:t>Je suis [Votre Nom], étudiant en Licence Professionnelle « Développement Informatique et Sécurité des Systèmes d'Information » à IFIAG. </a:t>
            </a:r>
          </a:p>
          <a:p/>
          <a:p>
            <a:r>
              <a:t>J'ai l'honneur de vous présenter aujourd'hui mon Projet de Fin d'Études intitulé « Dar-Soins : Plateforme Digitale de Soins Infirmiers à Domicile ».</a:t>
            </a:r>
          </a:p>
          <a:p/>
          <a:p>
            <a:r>
              <a:t>Ce projet est né d'un constat personnel et d'une observation approfondie du secteur de la santé à domicile au Maroc. Il répond à un besoin réel, croissant et encore largement mal desservi par les solutions technologiques existantes.</a:t>
            </a:r>
          </a:p>
          <a:p/>
          <a:p>
            <a:r>
              <a:t>Au cours de cette soutenance, je vous présenterai le contexte, la problématique, la conception, la réalisation technique, les résultats obtenus ainsi que les perspectives d'évolution de cette plateforme.</a:t>
            </a:r>
          </a:p>
          <a:p/>
          <a:p>
            <a:r>
              <a:t>Je vous remercie par avance pour votre attention et vos retours constructifs.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 plan que nous allons suivre au cours de cette présentation.</a:t>
            </a:r>
          </a:p>
          <a:p/>
          <a:p>
            <a:r>
              <a:t>Nous commencerons par poser le contexte général et la problématique à laquelle répond le projet, avant de présenter Dar-Soins et sa proposition de valeur.</a:t>
            </a:r>
          </a:p>
          <a:p/>
          <a:p>
            <a:r>
              <a:t>Nous passerons ensuite en revue l'étude de marché, l'analyse concurrentielle, puis le business model et le business plan, pour bien comprendre la viabilité économique du projet.</a:t>
            </a:r>
          </a:p>
          <a:p/>
          <a:p>
            <a:r>
              <a:t>Nous aborderons la partie technique avec le cahier des charges fonctionnel, la conception UML, l'architecture technique retenue et le stack technologique choisi.</a:t>
            </a:r>
          </a:p>
          <a:p/>
          <a:p>
            <a:r>
              <a:t>Puis je vous montrerai les différentes réalisations : le site vitrine, les espaces clients et infirmiers, l'ERP back-office, en insistant sur la sécurité et les tests.</a:t>
            </a:r>
          </a:p>
          <a:p/>
          <a:p>
            <a:r>
              <a:t>Enfin, nous terminerons par une démonstration en direct et une ouverture sur les perspectives d'évolution.</a:t>
            </a:r>
          </a:p>
          <a:p/>
          <a:p>
            <a:r>
              <a:t>Treize points qui, je l'espère, vous donneront une vision complète et cohérente du projet.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d'entrer dans le vif du sujet technique, il est essentiel de comprendre le contexte dans lequel s'inscrit Dar-Soins.</a:t>
            </a:r>
          </a:p>
          <a:p/>
          <a:p>
            <a:r>
              <a:t>Le Maroc fait face à des défis majeurs dans le secteur de la santé : une densité médicale parmi les plus faibles de la région MENA, un vieillissement progressif de la population, et une couverture sanitaire inégale entre les zones urbaines et rurales.</a:t>
            </a:r>
          </a:p>
          <a:p/>
          <a:p>
            <a:r>
              <a:t>Ces réalités créent un terreau fertile pour le développement de solutions de santé à domicile, un marché encore largement inexploité au niveau digital dans le Royaume.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Maroc dispose de seulement 7,3 médecins pour 10 000 habitants, un ratio bien en dessous de la recommandation de l'OMS qui est de 44,5 pour 10 000. Plus de 3,2 millions de Marocains sont âgés de plus de 60 ans, et ce chiffre est en constante augmentation avec le vieillissement de la population.</a:t>
            </a:r>
          </a:p>
          <a:p/>
          <a:p>
            <a:r>
              <a:t>42% de la population vit en zone rurale, loin des structures de soins spécialisées. Et surtout, moins de 5% des soins à domicile sont aujourd'hui digitalisés : les patients appellent directement un infirmier qu'ils connaissent, négocient le prix de bouche à oreille, et il n'y a aucune traçabilité ni transparence tarifaire.</a:t>
            </a:r>
          </a:p>
          <a:p/>
          <a:p>
            <a:r>
              <a:t>C'est dans ce contexte que s'inscrit notre problématique : Comment concevoir et développer une plateforme web sécurisée, performante et ergonomique qui digitalise l'ensemble du parcours de soins infirmiers à domicile, de la demande du patient jusqu'à la facturation, tout en intégrant un système ERP complet pour l'administration de l'activité ?</a:t>
            </a:r>
          </a:p>
          <a:p/>
          <a:p>
            <a:r>
              <a:t>Cette problématique recouvre donc à la fois un volet technique (sécurité, performance, architecture), un volet fonctionnel (UX patient, workflow infirmier) et un volet managérial (gestion, comptabilité, stocks).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Passons maintenant à la présentation détaillée du projet Dar-Soins.</a:t>
            </a:r>
          </a:p>
          <a:p/>
          <a:p>
            <a:r>
              <a:t>Dar-Soins signifie littéralement « Maison de Soins » en arabe dialectal marocain. Le nom a été choisi volontairement pour évoquer la proximité, le confort du domicile et la dimension locale et culturelle du projet.</a:t>
            </a:r>
          </a:p>
          <a:p/>
          <a:p>
            <a:r>
              <a:t>L'ambition de Dar-Soins est de devenir la référence marocaine en matière de mise en relation digitale entre patients et professionnels de soins infirmiers à domicile.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Dar-Soins est une plateforme web full-stack qui digitalise l'intégralité du parcours de soins infirmiers à domicile.</a:t>
            </a:r>
          </a:p>
          <a:p/>
          <a:p>
            <a:r>
              <a:t>Elle s'articule autour de trois espaces distincts :</a:t>
            </a:r>
          </a:p>
          <a:p/>
          <a:p>
            <a:r>
              <a:t>L'Espace Patient permet de commander un soin en ligne en quelques clics, de recevoir un devis automatique calculé selon la tarification en vigueur, de suivre l'état de son intervention en temps réel, de consulter et télécharger ses factures en PDF, et de signer numériquement.</a:t>
            </a:r>
          </a:p>
          <a:p/>
          <a:p>
            <a:r>
              <a:t>L'Espace Infirmier permet de recevoir les missions, de les accepter ou refuser, de saisir les constantes médicales, de consigner les matériels utilisés, de clôturer l'intervention et de consulter ses commissions.</a:t>
            </a:r>
          </a:p>
          <a:p/>
          <a:p>
            <a:r>
              <a:t>L'Espace Gestionnaire, qui est un véritable ERP, offre une administration complète : gestion des produits/services, des stocks et achats, des utilisateurs et rôles, de la facturation, de la numérotation automatique, des paramètres système, etc.</a:t>
            </a:r>
          </a:p>
          <a:p/>
          <a:p>
            <a:r>
              <a:t>Notre proposition de valeur repose sur quatre piliers : la transparence tarifaire, l'affectation intelligente par géolocalisation, la traçabilité complète du dossier patient, et l'intégration d'un ERP complet dans la même plateforme.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de concevoir la solution technique, il était indispensable de réaliser une étude de marché approfondie pour valider le besoin, identifier les acteurs existants et positionner Dar-Soins de manière différenciante.</a:t>
            </a:r>
          </a:p>
          <a:p/>
          <a:p>
            <a:r>
              <a:t>Nous allons analyser les concurrents directs et indirects ainsi que l'analyse SWOT du projet.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étude de marché révèle qu'il n'existe actuellement aucune plateforme marocaine spécialisée exclusivement dans la mise en relation digitale patient-infirmier à domicile avec un parcours complet intégré.</a:t>
            </a:r>
          </a:p>
          <a:p/>
          <a:p>
            <a:r>
              <a:t>SOS Médecins Maroc se concentre sur les urgences médicales ponctuelles. DabaDoc est un excellent outil de prise de rendez-vous en cabinet, mais ne couvre pas les soins à domicile. Les infirmiers freelance travaillent majoritairement par bouche-à-oreille, sans traçabilité ni transparence tarifaire. Les cliniques privées proposent parfois des services à domicile, mais à des tarifs premium et sans plateforme dédiée.</a:t>
            </a:r>
          </a:p>
          <a:p/>
          <a:p>
            <a:r>
              <a:t>L'analyse SWOT montre des forces significatives : un stack technologique moderne (Laravel 12, React 19), un ERP intégré, une UX glassmorphism soignée et un code sécurisé dès la conception. Les faiblesses sont principalement liées à la nature académique du projet. Les opportunités sont immenses avec la généralisation de l'AMO et la tendance mondiale vers la digitalisation de la santé. Les menaces restent mesurées : des acteurs internationaux pourraient entrer sur le marché, et il existe une résistance culturelle au changement dans le secteur médical.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Passons maintenant à la partie économique du projet. Tout projet technologique, même académique, doit démontrer sa viabilité financière.</a:t>
            </a:r>
          </a:p>
          <a:p/>
          <a:p>
            <a:r>
              <a:t>Nous allons détailler le Business Model Canvas de Dar-Soins, suivi des projections financières sur 3 ans.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 Business Model Canvas de Dar-Soins, structuré selon les 9 blocs du modèle d'Alexander Osterwalder.</a:t>
            </a:r>
          </a:p>
          <a:p/>
          <a:p>
            <a:r>
              <a:t>Nos Partenaires Clés sont les infirmiers diplômés d'État, les fournisseurs de matériel médical et, à terme, les compagnies d'assurance dans le cadre de l'AMO.</a:t>
            </a:r>
          </a:p>
          <a:p/>
          <a:p>
            <a:r>
              <a:t>Nos Activités Clés sont le développement et la maintenance de la plateforme web, la mise en relation intelligente patient-infirmier, la gestion ERP et la facturation automatisée.</a:t>
            </a:r>
          </a:p>
          <a:p/>
          <a:p>
            <a:r>
              <a:t>Notre Proposition de Valeur est claire : offrir des soins à domicile digitalisés, transparents en termes de tarification, et sécurisés par des mécanismes d'authentification et de traçabilité.</a:t>
            </a:r>
          </a:p>
          <a:p/>
          <a:p>
            <a:r>
              <a:t>Nos Segments Clients cibles sont les patients chroniques nécessitant des soins réguliers, les personnes âgées à mobilité réduite, les patients en post-opératoire, et les entreprises souhaitant proposer des soins à domicile à leurs employés.</a:t>
            </a:r>
          </a:p>
          <a:p/>
          <a:p>
            <a:r>
              <a:t>Les Sources de Revenus reposent sur trois axes : une commission de 15 à 20% prélevée sur chaque intervention, des abonnements premium pour les infirmiers souhaitant une meilleure visibilité, et la vente de matériel médical via l'ERP intégré.</a:t>
            </a:r>
          </a:p>
          <a:p/>
          <a:p>
            <a:r>
              <a:t>La Structure de Coûts comprend l'hébergement cloud, le développement, le marketing digital et le support technique.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Nos projections financières sur 3 ans montrent une trajectoire de croissance ambitieuse mais réaliste.</a:t>
            </a:r>
          </a:p>
          <a:p/>
          <a:p>
            <a:r>
              <a:t>En Année 1, nous visons 50 infirmiers partenaires et environ 300 interventions par mois, générant un chiffre d'affaires de 180 000 MAD. Avec des coûts fixes de 240 000 MAD (principalement le développement et le marketing de lancement), le résultat net serait déficitaire de 60 000 MAD, ce qui est normal pour une startup en phase de lancement.</a:t>
            </a:r>
          </a:p>
          <a:p/>
          <a:p>
            <a:r>
              <a:t>Le point mort est estimé au 14ème mois d'activité.</a:t>
            </a:r>
          </a:p>
          <a:p/>
          <a:p>
            <a:r>
              <a:t>En Année 2, avec 200 infirmiers et 1 500 interventions mensuelles, nous passerions à un résultat net positif de 660 000 MAD.</a:t>
            </a:r>
          </a:p>
          <a:p/>
          <a:p>
            <a:r>
              <a:t>En Année 3, avec 500 infirmiers et 5 000 interventions mensuelles, le chiffre d'affaires atteindrait 4,5 millions de MAD pour un résultat net de 3,78 millions de MAD.</a:t>
            </a:r>
          </a:p>
          <a:p/>
          <a:p>
            <a:r>
              <a:t>L'investissement initial total est estimé à 169 000 MAD, réparti entre le développement, l'hébergement, le marketing et les frais juridiques. C'est un investissement très raisonnable pour une plateforme de cette envergure.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entrons maintenant dans la partie technique du projet. Le cahier des charges fonctionnel est le document fondateur qui a guidé toute la conception et le développement.</a:t>
            </a:r>
          </a:p>
          <a:p/>
          <a:p>
            <a:r>
              <a:t>Il définit l'ensemble des exigences fonctionnelles et non-fonctionnelles que la plateforme doit satisfaire.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cahier des charges fonctionnel a été structuré par acteur, en identifiant précisément les User Stories de chaque profil.</a:t>
            </a:r>
          </a:p>
          <a:p/>
          <a:p>
            <a:r>
              <a:t>Le Patient peut s'inscrire et s'authentifier, commander un soin en ligne parmi le catalogue de prestations, recevoir un devis PDF automatique qu'il peut consulter, accepter ou refuser. Il peut suivre l'état de son intervention en temps réel, consulter et télécharger ses factures en PDF, signer numériquement et accéder à l'historique complet de ses interventions.</a:t>
            </a:r>
          </a:p>
          <a:p/>
          <a:p>
            <a:r>
              <a:t>L'Infirmier dispose d'une authentification sécurisée avec gestion des rôles, peut réceptionner les missions assignées par l'algorithme de proximité, les accepter ou refuser, saisir les constantes médicales du patient, enregistrer les consommables utilisés, clôturer l'intervention et consulter ses commissions.</a:t>
            </a:r>
          </a:p>
          <a:p/>
          <a:p>
            <a:r>
              <a:t>Le Gestionnaire, via l'ERP intégré, dispose d'un tableau de bord analytique, de la gestion CRUD des produits et services, de la gestion des achats et stocks, de la gestion des utilisateurs et des rôles RBAC, de la facturation automatique avec numérotation séquentielle, et de tous les paramètres système.</a:t>
            </a:r>
          </a:p>
          <a:p/>
          <a:p>
            <a:r>
              <a:t>Les exigences non-fonctionnelles incluent la conformité aux recommandations OWASP pour la sécurité, un temps de réponse API inférieur à 200 millisecondes, un design responsive adapté à tous les écrans, et une architecture maintenable et extensible.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phase de conception a été réalisée en suivant la méthodologie UML (Unified Modeling Language), qui est le standard de modélisation dans l'industrie du génie logiciel.</a:t>
            </a:r>
          </a:p>
          <a:p/>
          <a:p>
            <a:r>
              <a:t>Nous avons produit trois types de diagrammes fondamentaux : le diagramme de cas d'utilisation, le diagramme de classes et les diagrammes de séquence pour les processus critiques.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diagramme de cas d'utilisation synthétise les interactions entre les trois acteurs principaux et le système Dar-Soins.</a:t>
            </a:r>
          </a:p>
          <a:p/>
          <a:p>
            <a:r>
              <a:t>Le Patient dispose de 8 cas d'utilisation allant de l'inscription à la signature numérique, en passant par la commande de soins, la consultation des devis et factures.</a:t>
            </a:r>
          </a:p>
          <a:p/>
          <a:p>
            <a:r>
              <a:t>L'Infirmier dispose de 7 cas d'utilisation couvrant la réception et gestion des missions, la saisie des données médicales, la clôture d'intervention et la consultation des commissions.</a:t>
            </a:r>
          </a:p>
          <a:p/>
          <a:p>
            <a:r>
              <a:t>Le Gestionnaire dispose de 7 cas d'utilisation centrés sur l'administration via l'ERP : gestion des produits, des utilisateurs, des rôles RBAC, des stocks, de la facturation et du paramétrage.</a:t>
            </a:r>
          </a:p>
          <a:p/>
          <a:p>
            <a:r>
              <a:t>Notez que certains cas d'utilisation sont partagés entre acteurs, comme l'authentification, ce qui traduit une architecture de sécurité unifiée basée sur Laravel Sanctum et Spatie Permissions.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modèle de données de Dar-Soins comprend 34 modèles Eloquent et 44 migrations de base de données.</a:t>
            </a:r>
          </a:p>
          <a:p/>
          <a:p>
            <a:r>
              <a:t>La classe centrale est User, qui utilise un système de rôles polymorphiques via les relations morphMany de Spatie Permissions. Un User peut être un Client, un Infirmier ou un Gestionnaire, chacun ayant ses attributs spécifiques.</a:t>
            </a:r>
          </a:p>
          <a:p/>
          <a:p>
            <a:r>
              <a:t>L'Intervention est le cœur métier : elle lie un Client à un Infirmier pour un Produit donné, et engendre un Devis puis une Facture. Chaque intervention peut avoir des ConstantesMédicales et des Consommations associées.</a:t>
            </a:r>
          </a:p>
          <a:p/>
          <a:p>
            <a:r>
              <a:t>Le modèle Produit gère à la fois les prestations de soins et le matériel médical, avec un système de remise intégré (pourcentage ou fixe) et une gestion de stock.</a:t>
            </a:r>
          </a:p>
          <a:p/>
          <a:p>
            <a:r>
              <a:t>Les relations Eloquent utilisent belongsTo, hasMany et morphMany, avec des soft deletes sur les entités critiques pour garantir l'intégrité historique des données médicales et financières.</a:t>
            </a:r>
          </a:p>
          <a:p/>
          <a:p>
            <a:r>
              <a:t>La base de données est PostgreSQL en production et SQLite en développement, avec une base pré-remplie incluse dans le projet pour faciliter le déploiement.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abordons maintenant l'architecture technique du projet, qui est le fruit de choix réfléchis en matière de performance, de sécurité et de maintenabilité.</a:t>
            </a:r>
          </a:p>
          <a:p/>
          <a:p>
            <a:r>
              <a:t>L'architecture suit le pattern API-First avec une séparation stricte entre le frontend et le backend, communiquant exclusivement via des appels API REST sécurisés.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L'architecture technique de Dar-Soins suit une approche en couches strictement séparées.</a:t>
            </a:r>
          </a:p>
          <a:p/>
          <a:p>
            <a:r>
              <a:t>La couche Frontend est une Single Page Application développée avec React 19 et Vite 5 pour un Hot Module Replacement ultra-rapide. Le routage côté client est géré par React Router v6, et les appels API sont effectués via Axios avec des intercepteurs pour la gestion automatique des tokens et des erreurs. Le design utilise Tailwind CSS avec un style Glassmorphism premium.</a:t>
            </a:r>
          </a:p>
          <a:p/>
          <a:p>
            <a:r>
              <a:t>La couche API REST sert d'interface entre le frontend et le backend. Chaque requête est authentifiée via un Bearer Token généré par Laravel Sanctum. Un Rate Limiting de 60 requêtes par minute est appliqué sur les routes API et de 5 par minute sur les routes d'authentification. Les réponses sont formatées via des API Resources pour une transformation sécurisée des données.</a:t>
            </a:r>
          </a:p>
          <a:p/>
          <a:p>
            <a:r>
              <a:t>La couche Backend repose sur Laravel 12 avec PHP 8.2+. La logique métier est encapsulée dans 5 services dédiés : ServiceTarification pour le calcul des prix et devis, ServiceAffectation pour l'algorithme de proximité, ServiceGéolocalisation, ServiceNumérotation pour la génération séquentielle des références factures/devis, et CacheService pour la gestion du cache Redis.</a:t>
            </a:r>
          </a:p>
          <a:p/>
          <a:p>
            <a:r>
              <a:t>La couche Données utilise PostgreSQL 15 en production et SQLite en développement, avec Redis 7 pour le cache et les sessions. Le modèle de données comprend 34 modèles Eloquent et 44 migrations.</a:t>
            </a:r>
          </a:p>
          <a:p/>
          <a:p>
            <a:r>
              <a:t>L'infrastructure DevOps inclut Docker et Docker Compose pour la conteneurisation, Nginx comme reverse proxy, et un pipeline CI/CD via GitHub Actions avec des tests end-to-end Playwright.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Passons à la partie réalisation du projet. Nous allons voir concrètement les différentes interfaces développées.</a:t>
            </a:r>
          </a:p>
          <a:p/>
          <a:p>
            <a:r>
              <a:t>Le site vitrine est la vitrine publique de Dar-Soins, accessible sans authentification. Il présente les services proposés, la page À Propos, la FAQ et les formulaires de contact et d'inscription.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site vitrine de Dar-Soins comprend 6 pages publiques majeures, totalisant plus de 76 000 octets de code React.</a:t>
            </a:r>
          </a:p>
          <a:p/>
          <a:p>
            <a:r>
              <a:t>La Page d'Accueil est la plus imposante avec un hero section intégrant un call-to-action principal, une présentation des services avec des animations au scroll, des statistiques animées, une section témoignages et un footer complet. Le design utilise le style Glassmorphism avec des effets de transparence et de flou caractéristiques.</a:t>
            </a:r>
          </a:p>
          <a:p/>
          <a:p>
            <a:r>
              <a:t>La Page Services présente le catalogue complet des soins proposés avec des descriptions détaillées et des tarifs indicatifs.</a:t>
            </a:r>
          </a:p>
          <a:p/>
          <a:p>
            <a:r>
              <a:t>La Page À Propos raconte la mission, la vision et l'histoire de Dar-Soins.</a:t>
            </a:r>
          </a:p>
          <a:p/>
          <a:p>
            <a:r>
              <a:t>La FAQ utilise un composant accordéon interactif pour organiser les questions fréquentes par catégorie.</a:t>
            </a:r>
          </a:p>
          <a:p/>
          <a:p>
            <a:r>
              <a:t>La Page Contact intègre un formulaire fonctionnel et les informations de contact.</a:t>
            </a:r>
          </a:p>
          <a:p/>
          <a:p>
            <a:r>
              <a:t>Les pages Login et Register offrent une authentification sécurisée avec un formulaire d'inscription multi-rôle (patient ou infirmier) et une validation en temps réel des champs. L'ensemble totalise plus de 25 000 octets de code.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deux espaces utilisateurs principaux sont le tableau de bord Patient et le tableau de bord Infirmier.</a:t>
            </a:r>
          </a:p>
          <a:p/>
          <a:p>
            <a:r>
              <a:t>Le Tableau de Bord Patient (32 106 octets de code React) offre une interface complète pour commander un soin, recevoir un devis PDF, l'accepter ou le refuser, suivre l'intervention en temps réel, consulter les constantes médicales enregistrées, télécharger les factures PDF avec cachet et signature numérique, et accéder à l'historique complet. Les données se mettent à jour automatiquement grâce à un système de polling toutes les 10 secondes.</a:t>
            </a:r>
          </a:p>
          <a:p/>
          <a:p>
            <a:r>
              <a:t>Le Tableau de Bord Infirmier (30 263 octets de code React) permet de recevoir les missions assignées par l'algorithme de proximité géographique, de les accepter ou refuser, de saisir les constantes médicales du patient (tension, température, pouls, etc.), d'enregistrer les consommables utilisés avec les quantités exactes, de clôturer l'intervention en renseignant la distance parcourue, de valider le montant et de générer la facture. L'infirmier peut également consulter l'historique détaillé de toutes ses interventions et ses commissions.</a:t>
            </a:r>
          </a:p>
          <a:p/>
          <a:p>
            <a:r>
              <a:t>Les deux interfaces affichent le nom personnalisé de l'utilisateur connecté et bénéficient d'un design Glassmorphism cohérent avec le reste de la plateforme.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L'ERP intégré de Dar-Soins est un véritable système de gestion d'entreprise complet, composé de 52 composants React et pilotés par 31 contrôleurs API Laravel.</a:t>
            </a:r>
          </a:p>
          <a:p/>
          <a:p>
            <a:r>
              <a:t>Le module Produits &amp; Catalogue permet la gestion CRUD complète des produits avec génération de codes-barres, variations de produits, gestion des unités de mesure, catégories et marques.</a:t>
            </a:r>
          </a:p>
          <a:p/>
          <a:p>
            <a:r>
              <a:t>Le module Achats &amp; Fournisseurs gère l'intégralité du cycle d'achat : création de bons de commande, réception des marchandises, gestion des retours fournisseurs et des paiements partiels avec suivi documentaire.</a:t>
            </a:r>
          </a:p>
          <a:p/>
          <a:p>
            <a:r>
              <a:t>Le module Stocks &amp; Entrepôts permet de suivre les mouvements de stock, effectuer des ajustements d'inventaire, gérer les transferts inter-entrepôts et configurer des seuils d'alerte de réapprovisionnement.</a:t>
            </a:r>
          </a:p>
          <a:p/>
          <a:p>
            <a:r>
              <a:t>Le module Utilisateurs &amp; Rôles implémente un système RBAC complet via Spatie Permissions, avec des permissions granulaires configurables.</a:t>
            </a:r>
          </a:p>
          <a:p/>
          <a:p>
            <a:r>
              <a:t>Le module Finances gère les comptes bancaires, les transactions financières, les commissions infirmiers et le multi-devises.</a:t>
            </a:r>
          </a:p>
          <a:p/>
          <a:p>
            <a:r>
              <a:t>Le module Facturation offre une numérotation automatique séquentielle avec préfixes configurables, des factures PDF brandées avec le logo officiel, le cachet et la signature.</a:t>
            </a:r>
          </a:p>
          <a:p/>
          <a:p>
            <a:r>
              <a:t>Le module Paramètres centralise toute la configuration système : identité de l'entreprise, logo, TVA, mentions légales, conditions de paiement, pied de page des documents.</a:t>
            </a:r>
          </a:p>
          <a:p/>
          <a:p>
            <a:r>
              <a:t>Le module Reporting propose des tableaux de bord analytiques avec des indicateurs clés de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sécurité est un pilier fondamental de Dar-Soins, d'autant plus critique que nous traitons des données de santé, qui sont des données sensibles au sens de la réglementation.</a:t>
            </a:r>
          </a:p>
          <a:p/>
          <a:p>
            <a:r>
              <a:t>Nous allons détailler les mécanismes de sécurité mis en place à chaque couche de l'application.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mécanismes de sécurité de Dar-Soins couvrent les principales recommandations OWASP et sont implémentés à chaque couche :</a:t>
            </a:r>
          </a:p>
          <a:p/>
          <a:p>
            <a:r>
              <a:t>L'Authentification utilise Laravel Sanctum avec des tokens API sécurisés qui expirent automatiquement et sont révoqués à la déconnexion. Chaque token est lié à un utilisateur et à un device spécifique.</a:t>
            </a:r>
          </a:p>
          <a:p/>
          <a:p>
            <a:r>
              <a:t>L'Autorisation implémente le modèle RBAC via Spatie Permissions, avec un contrôle d'accès granulaire par rôle. Le middleware auth:sanctum protège toutes les routes sensibles. Chaque contrôleur vérifie les permissions avant d'exécuter une action.</a:t>
            </a:r>
          </a:p>
          <a:p/>
          <a:p>
            <a:r>
              <a:t>Le Rate Limiting prévient les attaques par force brute avec des limites de 60 requêtes par minute sur l'API et seulement 5 par minute sur les routes d'authentification.</a:t>
            </a:r>
          </a:p>
          <a:p/>
          <a:p>
            <a:r>
              <a:t>La politique CORS est configurée de manière stricte, n'autorisant que l'origine localhost:5173 en développement, avec des headers autorisés explicitement définis.</a:t>
            </a:r>
          </a:p>
          <a:p/>
          <a:p>
            <a:r>
              <a:t>Le Hachage des mots de passe utilise l'algorithme bcrypt avec un facteur de coût de 12, rendant le déchiffrement computationnellement impraticable.</a:t>
            </a:r>
          </a:p>
          <a:p/>
          <a:p>
            <a:r>
              <a:t>La Validation utilise le pattern FormRequest de Laravel pour une validation côté serveur stricte de chaque paramètre d'entrée, avec des règles métier et une sanitisation automatique.</a:t>
            </a:r>
          </a:p>
          <a:p/>
          <a:p>
            <a:r>
              <a:t>Le Cache Redis isole les sessions et les données sensibles par clé unique, empêchant les fuites inter-utilisateurs.</a:t>
            </a:r>
          </a:p>
          <a:p/>
          <a:p>
            <a:r>
              <a:t>Les API Resources filtrent systématiquement les champs sensibles avant toute réponse, évitant l'exposition accidentelle de données comme les mots de passe ou les tokens.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qualité du code est assurée par une stratégie de tests multi-niveaux et un pipeline d'intégration continue.</a:t>
            </a:r>
          </a:p>
          <a:p/>
          <a:p>
            <a:r>
              <a:t>Nous allons voir les différents niveaux de tests implémentés et l'infrastructure de déploiement.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stratégie de tests de Dar-Soins comprend trois niveaux complémentaires :</a:t>
            </a:r>
          </a:p>
          <a:p/>
          <a:p>
            <a:r>
              <a:t>Les Tests Unitaires, réalisés avec le framework Pest PHP, testent isolément les services métier. Le ServiceTarification est couvert par 7 tests et 14 assertions, vérifiant le calcul du prix de base, l'application des remises en pourcentage et en valeur fixe, les frais de déplacement, la multiplication par les heures pour les gardes malades, et la gestion d'erreur en cas de configuration absente.</a:t>
            </a:r>
          </a:p>
          <a:p/>
          <a:p>
            <a:r>
              <a:t>Les Tests Fonctionnels (Feature Tests) testent les endpoints API de bout en bout : l'AuthTest vérifie l'inscription, la connexion et le profil. L'InterventionTest vérifie la commande de soins, la clôture, les contrôles de sécurité inter-utilisateurs. Le ProduitTest vérifie le CRUD admin et l'accès public.</a:t>
            </a:r>
          </a:p>
          <a:p/>
          <a:p>
            <a:r>
              <a:t>Les Tests End-to-End utilisent Playwright pour simuler des scénarios utilisateur complets dans un navigateur headless.</a:t>
            </a:r>
          </a:p>
          <a:p/>
          <a:p>
            <a:r>
              <a:t>Au total, 21 tests et 38 assertions passent à 100%.</a:t>
            </a:r>
          </a:p>
          <a:p/>
          <a:p>
            <a:r>
              <a:t>Le déploiement utilise Docker Compose avec des Dockerfiles multi-stage optimisés pour la production, Nginx comme reverse proxy avec compression gzip et configuration SSL-ready, et un pipeline CI/CD GitHub Actions qui exécute automatiquement le lint, les tests, le build et le déploiement à chaque push.</a:t>
            </a:r>
          </a:p>
          <a:p/>
          <a:p>
            <a:r>
              <a:t>Des scripts start.bat et start.sh permettent un démarrage one-click en développement, sans aucune configuration manuelle.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 moment de la démonstration en direct. Je vais vous montrer le parcours complet d'une intervention sur Dar-Soins.</a:t>
            </a:r>
          </a:p>
          <a:p/>
          <a:p>
            <a:r>
              <a:t>SCÉNARIO DE DÉMONSTRATION :</a:t>
            </a:r>
          </a:p>
          <a:p/>
          <a:p>
            <a:r>
              <a:t>1. Page d'accueil — Présentation du site vitrine, navigation, services</a:t>
            </a:r>
          </a:p>
          <a:p>
            <a:r>
              <a:t>2. Inscription d'un patient — Formulaire, validation, redirection</a:t>
            </a:r>
          </a:p>
          <a:p>
            <a:r>
              <a:t>3. Commande d'un soin — Sélection du produit, confirmation</a:t>
            </a:r>
          </a:p>
          <a:p>
            <a:r>
              <a:t>4. Devis automatique — Réception du PDF, consultation, acceptation</a:t>
            </a:r>
          </a:p>
          <a:p>
            <a:r>
              <a:t>5. Côté infirmier — Réception de la mission, acceptation, saisie des constantes</a:t>
            </a:r>
          </a:p>
          <a:p>
            <a:r>
              <a:t>6. Clôture — Enregistrement des consommables, distance, validation</a:t>
            </a:r>
          </a:p>
          <a:p>
            <a:r>
              <a:t>7. Facturation — Génération automatique de la facture PDF</a:t>
            </a:r>
          </a:p>
          <a:p>
            <a:r>
              <a:t>8. ERP — Paramètres système, gestion des produits, utilisateurs, stocks</a:t>
            </a:r>
          </a:p>
          <a:p>
            <a:r>
              <a:t>9. Signature numérique — Validation finale par le patient</a:t>
            </a:r>
          </a:p>
          <a:p/>
          <a:p>
            <a:r>
              <a:t>Ce parcours démontre concrètement la fluidité et la cohérence de l'application de bout en bout.</a:t>
            </a:r>
          </a:p>
          <a:p/>
          <a:p>
            <a:r>
              <a:t>[BASCULER SUR LE NAVIGATEUR - localhost:5173]</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arrivons à la dernière partie de cette présentation : le bilan du travail accompli, les perspectives d'évolution et la conclusion générale.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bilan technique du projet est très positif et dépasse les objectifs initiaux.</a:t>
            </a:r>
          </a:p>
          <a:p/>
          <a:p>
            <a:r>
              <a:t>En termes de backend, nous avons développé 34 modèles Eloquent, 44 migrations de base de données, 31 contrôleurs API et 5 services métier spécialisés. Chaque entité est couverte par des API Resources pour une transformation sécurisée des données.</a:t>
            </a:r>
          </a:p>
          <a:p/>
          <a:p>
            <a:r>
              <a:t>En termes de frontend, nous avons développé 11 pages principales et 52 composants ERP React, totalisant plus de 400 000 octets de code JavaScript avec un design Glassmorphism premium cohérent.</a:t>
            </a:r>
          </a:p>
          <a:p/>
          <a:p>
            <a:r>
              <a:t>Les 21 tests automatisés avec 38 assertions passent tous à 100%, couvrant les tests unitaires, fonctionnels et d'intégration.</a:t>
            </a:r>
          </a:p>
          <a:p/>
          <a:p>
            <a:r>
              <a:t>Au-delà des chiffres, ce projet m'a permis d'acquérir des compétences transversales précieuses : le développement full-stack avec des technologies modernes, l'architecture logicielle avec le pattern API-First, la sécurité web avec les bonnes pratiques OWASP, le design UX/UI avec la méthodologie Glassmorphism, les pratiques DevOps avec Docker et CI/CD, et la gestion de projet de bout en bout.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perspectives d'évolution de Dar-Soins sont nombreuses et structurées en trois horizons temporels.</a:t>
            </a:r>
          </a:p>
          <a:p/>
          <a:p>
            <a:r>
              <a:t>À court terme, nous prévoyons le développement d'une application mobile avec React Native pour étendre la portée aux utilisateurs mobiles, l'intégration d'une géolocalisation avancée avec suivi GPS en temps réel de l'infirmier et calcul d'itinéraire optimal, et l'intégration d'un système de paiement en ligne via CMI ou Stripe avec sécurité 3D Secure.</a:t>
            </a:r>
          </a:p>
          <a:p/>
          <a:p>
            <a:r>
              <a:t>À moyen terme, nous envisageons l'intégration de l'intelligence artificielle pour la recommandation intelligente de soins et la prédiction des besoins patients, ainsi qu'une expansion régionale vers d'autres villes marocaines puis en Afrique francophone.</a:t>
            </a:r>
          </a:p>
          <a:p/>
          <a:p>
            <a:r>
              <a:t>À long terme, la plateforme pourrait évoluer vers la télémédecine avec des consultations vidéo, des ordonnances numériques et un dossier médical partagé, positionnant Dar-Soins comme un acteur majeur de la e-santé au Maroc.</a:t>
            </a:r>
          </a:p>
          <a:p/>
          <a:p>
            <a:r>
              <a:t>Chacune de ces perspectives est techniquement faisable grâce à l'architecture modulaire et extensible que nous avons mise en place dès la conception.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conclure, Dar-Soins apporte une réponse concrète, fonctionnelle et ambitieuse à la problématique de digitalisation des soins infirmiers à domicile au Maroc.</a:t>
            </a:r>
          </a:p>
          <a:p/>
          <a:p>
            <a:r>
              <a:t>Ce projet de fin d'études m'a permis de mobiliser l'ensemble des compétences acquises au cours de ma formation en Licence Professionnelle à IFIAG : le développement full-stack avec les technologies les plus récentes (Laravel 12, React 19), la sécurité des systèmes d'information avec les bonnes pratiques OWASP, la conception et la modélisation UML, le déploiement et le DevOps avec Docker et CI/CD.</a:t>
            </a:r>
          </a:p>
          <a:p/>
          <a:p>
            <a:r>
              <a:t>Au-delà de l'exercice académique, Dar-Soins a un potentiel de marché réel, avec un business plan viable démontrant un retour sur investissement dès le 14ème mois.</a:t>
            </a:r>
          </a:p>
          <a:p/>
          <a:p>
            <a:r>
              <a:t>La plateforme est prête à être déployée en production et à commencer à servir de véritables patients et infirmiers.</a:t>
            </a:r>
          </a:p>
          <a:p/>
          <a:p>
            <a:r>
              <a:t>Je vous remercie pour votre attention et je suis à votre disposition pour toute question.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Merci beaucoup pour votre attention tout au long de cette présentation.</a:t>
            </a:r>
          </a:p>
          <a:p/>
          <a:p>
            <a:r>
              <a:t>Je suis maintenant à votre entière disposition pour répondre à vos questions, qu'elles soient d'ordre technique, fonctionnel, sécuritaire ou économique.</a:t>
            </a:r>
          </a:p>
          <a:p/>
          <a:p>
            <a:r>
              <a:t>Ce projet a été pour moi une expérience extrêmement enrichissante, tant sur le plan technique que sur le plan personnel, et je suis convaincu que Dar-Soins peut réellement contribuer à améliorer l'accès aux soins à domicile au Maroc.</a:t>
            </a:r>
          </a:p>
          <a:p/>
          <a:p>
            <a:r>
              <a:t>Merci encore, et au plaisir d'échanger avec vous.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563EB"/>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695" cy="91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5181904" y="457200"/>
            <a:ext cx="1828800" cy="1828800"/>
          </a:xfrm>
          <a:prstGeom prst="rect">
            <a:avLst/>
          </a:prstGeom>
        </p:spPr>
      </p:pic>
      <p:sp>
        <p:nvSpPr>
          <p:cNvPr id="5" name="TextBox 4"/>
          <p:cNvSpPr txBox="1"/>
          <p:nvPr/>
        </p:nvSpPr>
        <p:spPr>
          <a:xfrm>
            <a:off x="914400" y="2468880"/>
            <a:ext cx="10362895" cy="914400"/>
          </a:xfrm>
          <a:prstGeom prst="rect">
            <a:avLst/>
          </a:prstGeom>
          <a:noFill/>
        </p:spPr>
        <p:txBody>
          <a:bodyPr wrap="square">
            <a:spAutoFit/>
          </a:bodyPr>
          <a:lstStyle/>
          <a:p>
            <a:pPr algn="ctr">
              <a:defRPr sz="5200" b="1">
                <a:solidFill>
                  <a:srgbClr val="FFFFFF"/>
                </a:solidFill>
                <a:latin typeface="Calibri"/>
              </a:defRPr>
            </a:pPr>
            <a:r>
              <a:t>Dar-Soins</a:t>
            </a:r>
          </a:p>
        </p:txBody>
      </p:sp>
      <p:sp>
        <p:nvSpPr>
          <p:cNvPr id="6" name="TextBox 5"/>
          <p:cNvSpPr txBox="1"/>
          <p:nvPr/>
        </p:nvSpPr>
        <p:spPr>
          <a:xfrm>
            <a:off x="914400" y="3200400"/>
            <a:ext cx="10362895" cy="640080"/>
          </a:xfrm>
          <a:prstGeom prst="rect">
            <a:avLst/>
          </a:prstGeom>
          <a:noFill/>
        </p:spPr>
        <p:txBody>
          <a:bodyPr wrap="square">
            <a:spAutoFit/>
          </a:bodyPr>
          <a:lstStyle/>
          <a:p>
            <a:pPr algn="ctr">
              <a:defRPr sz="2400" b="0">
                <a:solidFill>
                  <a:srgbClr val="BFDBFE"/>
                </a:solidFill>
                <a:latin typeface="Calibri"/>
              </a:defRPr>
            </a:pPr>
            <a:r>
              <a:t>Plateforme Digitale de Soins Infirmiers à Domicile</a:t>
            </a:r>
          </a:p>
        </p:txBody>
      </p:sp>
      <p:sp>
        <p:nvSpPr>
          <p:cNvPr id="7" name="Rectangle 6"/>
          <p:cNvSpPr/>
          <p:nvPr/>
        </p:nvSpPr>
        <p:spPr>
          <a:xfrm>
            <a:off x="4572000" y="3931920"/>
            <a:ext cx="3047695"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206240"/>
            <a:ext cx="10362895" cy="457200"/>
          </a:xfrm>
          <a:prstGeom prst="rect">
            <a:avLst/>
          </a:prstGeom>
          <a:noFill/>
        </p:spPr>
        <p:txBody>
          <a:bodyPr wrap="square">
            <a:spAutoFit/>
          </a:bodyPr>
          <a:lstStyle/>
          <a:p>
            <a:pPr algn="ctr">
              <a:defRPr sz="1800" b="0">
                <a:solidFill>
                  <a:srgbClr val="BFDBFE"/>
                </a:solidFill>
                <a:latin typeface="Calibri"/>
              </a:defRPr>
            </a:pPr>
            <a:r>
              <a:t>Projet de Fin d'Études — Licence Professionnelle</a:t>
            </a:r>
          </a:p>
        </p:txBody>
      </p:sp>
      <p:sp>
        <p:nvSpPr>
          <p:cNvPr id="9" name="TextBox 8"/>
          <p:cNvSpPr txBox="1"/>
          <p:nvPr/>
        </p:nvSpPr>
        <p:spPr>
          <a:xfrm>
            <a:off x="914400" y="4663440"/>
            <a:ext cx="10362895" cy="457200"/>
          </a:xfrm>
          <a:prstGeom prst="rect">
            <a:avLst/>
          </a:prstGeom>
          <a:noFill/>
        </p:spPr>
        <p:txBody>
          <a:bodyPr wrap="square">
            <a:spAutoFit/>
          </a:bodyPr>
          <a:lstStyle/>
          <a:p>
            <a:pPr algn="ctr">
              <a:defRPr sz="1600" b="0">
                <a:solidFill>
                  <a:srgbClr val="93C5FD"/>
                </a:solidFill>
                <a:latin typeface="Calibri"/>
              </a:defRPr>
            </a:pPr>
            <a:r>
              <a:t>Développement Informatique et Sécurité des Systèmes d'Information</a:t>
            </a:r>
          </a:p>
        </p:txBody>
      </p:sp>
      <p:sp>
        <p:nvSpPr>
          <p:cNvPr id="10" name="TextBox 9"/>
          <p:cNvSpPr txBox="1"/>
          <p:nvPr/>
        </p:nvSpPr>
        <p:spPr>
          <a:xfrm>
            <a:off x="914400" y="5120640"/>
            <a:ext cx="10362895" cy="457200"/>
          </a:xfrm>
          <a:prstGeom prst="rect">
            <a:avLst/>
          </a:prstGeom>
          <a:noFill/>
        </p:spPr>
        <p:txBody>
          <a:bodyPr wrap="square">
            <a:spAutoFit/>
          </a:bodyPr>
          <a:lstStyle/>
          <a:p>
            <a:pPr algn="ctr">
              <a:defRPr sz="1600" b="0">
                <a:solidFill>
                  <a:srgbClr val="93C5FD"/>
                </a:solidFill>
                <a:latin typeface="Calibri"/>
              </a:defRPr>
            </a:pPr>
            <a:r>
              <a:t>IFIAG — Année Universitaire 2025/2026</a:t>
            </a:r>
          </a:p>
        </p:txBody>
      </p:sp>
      <p:sp>
        <p:nvSpPr>
          <p:cNvPr id="11" name="TextBox 10"/>
          <p:cNvSpPr txBox="1"/>
          <p:nvPr/>
        </p:nvSpPr>
        <p:spPr>
          <a:xfrm>
            <a:off x="914400" y="5760720"/>
            <a:ext cx="4572000" cy="457200"/>
          </a:xfrm>
          <a:prstGeom prst="rect">
            <a:avLst/>
          </a:prstGeom>
          <a:noFill/>
        </p:spPr>
        <p:txBody>
          <a:bodyPr wrap="square">
            <a:spAutoFit/>
          </a:bodyPr>
          <a:lstStyle/>
          <a:p>
            <a:pPr algn="l">
              <a:defRPr sz="1400" b="0">
                <a:solidFill>
                  <a:srgbClr val="D1D5DB"/>
                </a:solidFill>
                <a:latin typeface="Calibri"/>
              </a:defRPr>
            </a:pPr>
            <a:r>
              <a:t>Réalisé par : [Votre Nom]</a:t>
            </a:r>
          </a:p>
        </p:txBody>
      </p:sp>
      <p:sp>
        <p:nvSpPr>
          <p:cNvPr id="12" name="TextBox 11"/>
          <p:cNvSpPr txBox="1"/>
          <p:nvPr/>
        </p:nvSpPr>
        <p:spPr>
          <a:xfrm>
            <a:off x="6705295" y="5760720"/>
            <a:ext cx="4572000" cy="457200"/>
          </a:xfrm>
          <a:prstGeom prst="rect">
            <a:avLst/>
          </a:prstGeom>
          <a:noFill/>
        </p:spPr>
        <p:txBody>
          <a:bodyPr wrap="square">
            <a:spAutoFit/>
          </a:bodyPr>
          <a:lstStyle/>
          <a:p>
            <a:pPr algn="r">
              <a:defRPr sz="1400" b="0">
                <a:solidFill>
                  <a:srgbClr val="D1D5DB"/>
                </a:solidFill>
                <a:latin typeface="Calibri"/>
              </a:defRPr>
            </a:pPr>
            <a:r>
              <a:t>Encadré par : [Nom Encadrant]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548640" y="228600"/>
            <a:ext cx="731520" cy="731520"/>
          </a:xfrm>
          <a:prstGeom prst="rect">
            <a:avLst/>
          </a:prstGeom>
        </p:spPr>
      </p:pic>
      <p:sp>
        <p:nvSpPr>
          <p:cNvPr id="5" name="TextBox 4"/>
          <p:cNvSpPr txBox="1"/>
          <p:nvPr/>
        </p:nvSpPr>
        <p:spPr>
          <a:xfrm>
            <a:off x="1463040" y="274320"/>
            <a:ext cx="9144000" cy="548640"/>
          </a:xfrm>
          <a:prstGeom prst="rect">
            <a:avLst/>
          </a:prstGeom>
          <a:noFill/>
        </p:spPr>
        <p:txBody>
          <a:bodyPr wrap="square">
            <a:spAutoFit/>
          </a:bodyPr>
          <a:lstStyle/>
          <a:p>
            <a:pPr algn="l">
              <a:defRPr sz="3200" b="1">
                <a:solidFill>
                  <a:srgbClr val="2563EB"/>
                </a:solidFill>
                <a:latin typeface="Calibri"/>
              </a:defRPr>
            </a:pPr>
            <a:r>
              <a:t>Plan de la Présentation</a:t>
            </a:r>
          </a:p>
        </p:txBody>
      </p:sp>
      <p:sp>
        <p:nvSpPr>
          <p:cNvPr id="6" name="Oval 5"/>
          <p:cNvSpPr/>
          <p:nvPr/>
        </p:nvSpPr>
        <p:spPr>
          <a:xfrm>
            <a:off x="1097280" y="1097280"/>
            <a:ext cx="320040" cy="32004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01</a:t>
            </a:r>
          </a:p>
        </p:txBody>
      </p:sp>
      <p:sp>
        <p:nvSpPr>
          <p:cNvPr id="7" name="TextBox 6"/>
          <p:cNvSpPr txBox="1"/>
          <p:nvPr/>
        </p:nvSpPr>
        <p:spPr>
          <a:xfrm>
            <a:off x="1554480" y="1097280"/>
            <a:ext cx="9144000" cy="347472"/>
          </a:xfrm>
          <a:prstGeom prst="rect">
            <a:avLst/>
          </a:prstGeom>
          <a:noFill/>
        </p:spPr>
        <p:txBody>
          <a:bodyPr wrap="square">
            <a:spAutoFit/>
          </a:bodyPr>
          <a:lstStyle/>
          <a:p>
            <a:pPr algn="l">
              <a:defRPr sz="1600" b="0">
                <a:solidFill>
                  <a:srgbClr val="1E293B"/>
                </a:solidFill>
                <a:latin typeface="Calibri"/>
              </a:defRPr>
            </a:pPr>
            <a:r>
              <a:t>Contexte Général et Problématique</a:t>
            </a:r>
          </a:p>
        </p:txBody>
      </p:sp>
      <p:sp>
        <p:nvSpPr>
          <p:cNvPr id="8" name="Oval 7"/>
          <p:cNvSpPr/>
          <p:nvPr/>
        </p:nvSpPr>
        <p:spPr>
          <a:xfrm>
            <a:off x="1097280" y="1499616"/>
            <a:ext cx="320040" cy="3200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02</a:t>
            </a:r>
          </a:p>
        </p:txBody>
      </p:sp>
      <p:sp>
        <p:nvSpPr>
          <p:cNvPr id="9" name="TextBox 8"/>
          <p:cNvSpPr txBox="1"/>
          <p:nvPr/>
        </p:nvSpPr>
        <p:spPr>
          <a:xfrm>
            <a:off x="1554480" y="1499616"/>
            <a:ext cx="9144000" cy="347472"/>
          </a:xfrm>
          <a:prstGeom prst="rect">
            <a:avLst/>
          </a:prstGeom>
          <a:noFill/>
        </p:spPr>
        <p:txBody>
          <a:bodyPr wrap="square">
            <a:spAutoFit/>
          </a:bodyPr>
          <a:lstStyle/>
          <a:p>
            <a:pPr algn="l">
              <a:defRPr sz="1600" b="0">
                <a:solidFill>
                  <a:srgbClr val="1E293B"/>
                </a:solidFill>
                <a:latin typeface="Calibri"/>
              </a:defRPr>
            </a:pPr>
            <a:r>
              <a:t>Présentation du Projet Dar-Soins</a:t>
            </a:r>
          </a:p>
        </p:txBody>
      </p:sp>
      <p:sp>
        <p:nvSpPr>
          <p:cNvPr id="10" name="Oval 9"/>
          <p:cNvSpPr/>
          <p:nvPr/>
        </p:nvSpPr>
        <p:spPr>
          <a:xfrm>
            <a:off x="1097280" y="1901952"/>
            <a:ext cx="320040" cy="32004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03</a:t>
            </a:r>
          </a:p>
        </p:txBody>
      </p:sp>
      <p:sp>
        <p:nvSpPr>
          <p:cNvPr id="11" name="TextBox 10"/>
          <p:cNvSpPr txBox="1"/>
          <p:nvPr/>
        </p:nvSpPr>
        <p:spPr>
          <a:xfrm>
            <a:off x="1554480" y="1901952"/>
            <a:ext cx="9144000" cy="347472"/>
          </a:xfrm>
          <a:prstGeom prst="rect">
            <a:avLst/>
          </a:prstGeom>
          <a:noFill/>
        </p:spPr>
        <p:txBody>
          <a:bodyPr wrap="square">
            <a:spAutoFit/>
          </a:bodyPr>
          <a:lstStyle/>
          <a:p>
            <a:pPr algn="l">
              <a:defRPr sz="1600" b="0">
                <a:solidFill>
                  <a:srgbClr val="1E293B"/>
                </a:solidFill>
                <a:latin typeface="Calibri"/>
              </a:defRPr>
            </a:pPr>
            <a:r>
              <a:t>Étude de Marché et Analyse Concurrentielle</a:t>
            </a:r>
          </a:p>
        </p:txBody>
      </p:sp>
      <p:sp>
        <p:nvSpPr>
          <p:cNvPr id="12" name="Oval 11"/>
          <p:cNvSpPr/>
          <p:nvPr/>
        </p:nvSpPr>
        <p:spPr>
          <a:xfrm>
            <a:off x="1097280" y="2304288"/>
            <a:ext cx="320040" cy="3200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04</a:t>
            </a:r>
          </a:p>
        </p:txBody>
      </p:sp>
      <p:sp>
        <p:nvSpPr>
          <p:cNvPr id="13" name="TextBox 12"/>
          <p:cNvSpPr txBox="1"/>
          <p:nvPr/>
        </p:nvSpPr>
        <p:spPr>
          <a:xfrm>
            <a:off x="1554480" y="2304288"/>
            <a:ext cx="9144000" cy="347472"/>
          </a:xfrm>
          <a:prstGeom prst="rect">
            <a:avLst/>
          </a:prstGeom>
          <a:noFill/>
        </p:spPr>
        <p:txBody>
          <a:bodyPr wrap="square">
            <a:spAutoFit/>
          </a:bodyPr>
          <a:lstStyle/>
          <a:p>
            <a:pPr algn="l">
              <a:defRPr sz="1600" b="0">
                <a:solidFill>
                  <a:srgbClr val="1E293B"/>
                </a:solidFill>
                <a:latin typeface="Calibri"/>
              </a:defRPr>
            </a:pPr>
            <a:r>
              <a:t>Business Model &amp; Business Plan</a:t>
            </a:r>
          </a:p>
        </p:txBody>
      </p:sp>
      <p:sp>
        <p:nvSpPr>
          <p:cNvPr id="14" name="Oval 13"/>
          <p:cNvSpPr/>
          <p:nvPr/>
        </p:nvSpPr>
        <p:spPr>
          <a:xfrm>
            <a:off x="1097280" y="2706624"/>
            <a:ext cx="320040" cy="32004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05</a:t>
            </a:r>
          </a:p>
        </p:txBody>
      </p:sp>
      <p:sp>
        <p:nvSpPr>
          <p:cNvPr id="15" name="TextBox 14"/>
          <p:cNvSpPr txBox="1"/>
          <p:nvPr/>
        </p:nvSpPr>
        <p:spPr>
          <a:xfrm>
            <a:off x="1554480" y="2706624"/>
            <a:ext cx="9144000" cy="347472"/>
          </a:xfrm>
          <a:prstGeom prst="rect">
            <a:avLst/>
          </a:prstGeom>
          <a:noFill/>
        </p:spPr>
        <p:txBody>
          <a:bodyPr wrap="square">
            <a:spAutoFit/>
          </a:bodyPr>
          <a:lstStyle/>
          <a:p>
            <a:pPr algn="l">
              <a:defRPr sz="1600" b="0">
                <a:solidFill>
                  <a:srgbClr val="1E293B"/>
                </a:solidFill>
                <a:latin typeface="Calibri"/>
              </a:defRPr>
            </a:pPr>
            <a:r>
              <a:t>Cahier des Charges Fonctionnel</a:t>
            </a:r>
          </a:p>
        </p:txBody>
      </p:sp>
      <p:sp>
        <p:nvSpPr>
          <p:cNvPr id="16" name="Oval 15"/>
          <p:cNvSpPr/>
          <p:nvPr/>
        </p:nvSpPr>
        <p:spPr>
          <a:xfrm>
            <a:off x="1097280" y="3108960"/>
            <a:ext cx="320040" cy="3200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06</a:t>
            </a:r>
          </a:p>
        </p:txBody>
      </p:sp>
      <p:sp>
        <p:nvSpPr>
          <p:cNvPr id="17" name="TextBox 16"/>
          <p:cNvSpPr txBox="1"/>
          <p:nvPr/>
        </p:nvSpPr>
        <p:spPr>
          <a:xfrm>
            <a:off x="1554480" y="3108960"/>
            <a:ext cx="9144000" cy="347472"/>
          </a:xfrm>
          <a:prstGeom prst="rect">
            <a:avLst/>
          </a:prstGeom>
          <a:noFill/>
        </p:spPr>
        <p:txBody>
          <a:bodyPr wrap="square">
            <a:spAutoFit/>
          </a:bodyPr>
          <a:lstStyle/>
          <a:p>
            <a:pPr algn="l">
              <a:defRPr sz="1600" b="0">
                <a:solidFill>
                  <a:srgbClr val="1E293B"/>
                </a:solidFill>
                <a:latin typeface="Calibri"/>
              </a:defRPr>
            </a:pPr>
            <a:r>
              <a:t>Conception UML &amp; Modélisation</a:t>
            </a:r>
          </a:p>
        </p:txBody>
      </p:sp>
      <p:sp>
        <p:nvSpPr>
          <p:cNvPr id="18" name="Oval 17"/>
          <p:cNvSpPr/>
          <p:nvPr/>
        </p:nvSpPr>
        <p:spPr>
          <a:xfrm>
            <a:off x="1097280" y="3511296"/>
            <a:ext cx="320040" cy="32004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07</a:t>
            </a:r>
          </a:p>
        </p:txBody>
      </p:sp>
      <p:sp>
        <p:nvSpPr>
          <p:cNvPr id="19" name="TextBox 18"/>
          <p:cNvSpPr txBox="1"/>
          <p:nvPr/>
        </p:nvSpPr>
        <p:spPr>
          <a:xfrm>
            <a:off x="1554480" y="3511296"/>
            <a:ext cx="9144000" cy="347472"/>
          </a:xfrm>
          <a:prstGeom prst="rect">
            <a:avLst/>
          </a:prstGeom>
          <a:noFill/>
        </p:spPr>
        <p:txBody>
          <a:bodyPr wrap="square">
            <a:spAutoFit/>
          </a:bodyPr>
          <a:lstStyle/>
          <a:p>
            <a:pPr algn="l">
              <a:defRPr sz="1600" b="0">
                <a:solidFill>
                  <a:srgbClr val="1E293B"/>
                </a:solidFill>
                <a:latin typeface="Calibri"/>
              </a:defRPr>
            </a:pPr>
            <a:r>
              <a:t>Architecture Technique &amp; Stack Technologique</a:t>
            </a:r>
          </a:p>
        </p:txBody>
      </p:sp>
      <p:sp>
        <p:nvSpPr>
          <p:cNvPr id="20" name="Oval 19"/>
          <p:cNvSpPr/>
          <p:nvPr/>
        </p:nvSpPr>
        <p:spPr>
          <a:xfrm>
            <a:off x="1097280" y="3913632"/>
            <a:ext cx="320040" cy="3200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08</a:t>
            </a:r>
          </a:p>
        </p:txBody>
      </p:sp>
      <p:sp>
        <p:nvSpPr>
          <p:cNvPr id="21" name="TextBox 20"/>
          <p:cNvSpPr txBox="1"/>
          <p:nvPr/>
        </p:nvSpPr>
        <p:spPr>
          <a:xfrm>
            <a:off x="1554480" y="3913632"/>
            <a:ext cx="9144000" cy="347472"/>
          </a:xfrm>
          <a:prstGeom prst="rect">
            <a:avLst/>
          </a:prstGeom>
          <a:noFill/>
        </p:spPr>
        <p:txBody>
          <a:bodyPr wrap="square">
            <a:spAutoFit/>
          </a:bodyPr>
          <a:lstStyle/>
          <a:p>
            <a:pPr algn="l">
              <a:defRPr sz="1600" b="0">
                <a:solidFill>
                  <a:srgbClr val="1E293B"/>
                </a:solidFill>
                <a:latin typeface="Calibri"/>
              </a:defRPr>
            </a:pPr>
            <a:r>
              <a:t>Réalisation — Site Vitrine &amp; Espaces Utilisateurs</a:t>
            </a:r>
          </a:p>
        </p:txBody>
      </p:sp>
      <p:sp>
        <p:nvSpPr>
          <p:cNvPr id="22" name="Oval 21"/>
          <p:cNvSpPr/>
          <p:nvPr/>
        </p:nvSpPr>
        <p:spPr>
          <a:xfrm>
            <a:off x="1097280" y="4315968"/>
            <a:ext cx="320040" cy="32004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09</a:t>
            </a:r>
          </a:p>
        </p:txBody>
      </p:sp>
      <p:sp>
        <p:nvSpPr>
          <p:cNvPr id="23" name="TextBox 22"/>
          <p:cNvSpPr txBox="1"/>
          <p:nvPr/>
        </p:nvSpPr>
        <p:spPr>
          <a:xfrm>
            <a:off x="1554480" y="4315968"/>
            <a:ext cx="9144000" cy="347472"/>
          </a:xfrm>
          <a:prstGeom prst="rect">
            <a:avLst/>
          </a:prstGeom>
          <a:noFill/>
        </p:spPr>
        <p:txBody>
          <a:bodyPr wrap="square">
            <a:spAutoFit/>
          </a:bodyPr>
          <a:lstStyle/>
          <a:p>
            <a:pPr algn="l">
              <a:defRPr sz="1600" b="0">
                <a:solidFill>
                  <a:srgbClr val="1E293B"/>
                </a:solidFill>
                <a:latin typeface="Calibri"/>
              </a:defRPr>
            </a:pPr>
            <a:r>
              <a:t>Réalisation — ERP &amp; Back-Office</a:t>
            </a:r>
          </a:p>
        </p:txBody>
      </p:sp>
      <p:sp>
        <p:nvSpPr>
          <p:cNvPr id="24" name="Oval 23"/>
          <p:cNvSpPr/>
          <p:nvPr/>
        </p:nvSpPr>
        <p:spPr>
          <a:xfrm>
            <a:off x="1097280" y="4718304"/>
            <a:ext cx="320040" cy="3200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10</a:t>
            </a:r>
          </a:p>
        </p:txBody>
      </p:sp>
      <p:sp>
        <p:nvSpPr>
          <p:cNvPr id="25" name="TextBox 24"/>
          <p:cNvSpPr txBox="1"/>
          <p:nvPr/>
        </p:nvSpPr>
        <p:spPr>
          <a:xfrm>
            <a:off x="1554480" y="4718304"/>
            <a:ext cx="9144000" cy="347472"/>
          </a:xfrm>
          <a:prstGeom prst="rect">
            <a:avLst/>
          </a:prstGeom>
          <a:noFill/>
        </p:spPr>
        <p:txBody>
          <a:bodyPr wrap="square">
            <a:spAutoFit/>
          </a:bodyPr>
          <a:lstStyle/>
          <a:p>
            <a:pPr algn="l">
              <a:defRPr sz="1600" b="0">
                <a:solidFill>
                  <a:srgbClr val="1E293B"/>
                </a:solidFill>
                <a:latin typeface="Calibri"/>
              </a:defRPr>
            </a:pPr>
            <a:r>
              <a:t>Sécurité &amp; Bonnes Pratiques</a:t>
            </a:r>
          </a:p>
        </p:txBody>
      </p:sp>
      <p:sp>
        <p:nvSpPr>
          <p:cNvPr id="26" name="Oval 25"/>
          <p:cNvSpPr/>
          <p:nvPr/>
        </p:nvSpPr>
        <p:spPr>
          <a:xfrm>
            <a:off x="1097280" y="5120640"/>
            <a:ext cx="320040" cy="32004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11</a:t>
            </a:r>
          </a:p>
        </p:txBody>
      </p:sp>
      <p:sp>
        <p:nvSpPr>
          <p:cNvPr id="27" name="TextBox 26"/>
          <p:cNvSpPr txBox="1"/>
          <p:nvPr/>
        </p:nvSpPr>
        <p:spPr>
          <a:xfrm>
            <a:off x="1554480" y="5120640"/>
            <a:ext cx="9144000" cy="347472"/>
          </a:xfrm>
          <a:prstGeom prst="rect">
            <a:avLst/>
          </a:prstGeom>
          <a:noFill/>
        </p:spPr>
        <p:txBody>
          <a:bodyPr wrap="square">
            <a:spAutoFit/>
          </a:bodyPr>
          <a:lstStyle/>
          <a:p>
            <a:pPr algn="l">
              <a:defRPr sz="1600" b="0">
                <a:solidFill>
                  <a:srgbClr val="1E293B"/>
                </a:solidFill>
                <a:latin typeface="Calibri"/>
              </a:defRPr>
            </a:pPr>
            <a:r>
              <a:t>Tests, Déploiement &amp; CI/CD</a:t>
            </a:r>
          </a:p>
        </p:txBody>
      </p:sp>
      <p:sp>
        <p:nvSpPr>
          <p:cNvPr id="28" name="Oval 27"/>
          <p:cNvSpPr/>
          <p:nvPr/>
        </p:nvSpPr>
        <p:spPr>
          <a:xfrm>
            <a:off x="1097280" y="5522976"/>
            <a:ext cx="320040" cy="3200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12</a:t>
            </a:r>
          </a:p>
        </p:txBody>
      </p:sp>
      <p:sp>
        <p:nvSpPr>
          <p:cNvPr id="29" name="TextBox 28"/>
          <p:cNvSpPr txBox="1"/>
          <p:nvPr/>
        </p:nvSpPr>
        <p:spPr>
          <a:xfrm>
            <a:off x="1554480" y="5522976"/>
            <a:ext cx="9144000" cy="347472"/>
          </a:xfrm>
          <a:prstGeom prst="rect">
            <a:avLst/>
          </a:prstGeom>
          <a:noFill/>
        </p:spPr>
        <p:txBody>
          <a:bodyPr wrap="square">
            <a:spAutoFit/>
          </a:bodyPr>
          <a:lstStyle/>
          <a:p>
            <a:pPr algn="l">
              <a:defRPr sz="1600" b="0">
                <a:solidFill>
                  <a:srgbClr val="1E293B"/>
                </a:solidFill>
                <a:latin typeface="Calibri"/>
              </a:defRPr>
            </a:pPr>
            <a:r>
              <a:t>Démonstration en Direct</a:t>
            </a:r>
          </a:p>
        </p:txBody>
      </p:sp>
      <p:sp>
        <p:nvSpPr>
          <p:cNvPr id="30" name="Oval 29"/>
          <p:cNvSpPr/>
          <p:nvPr/>
        </p:nvSpPr>
        <p:spPr>
          <a:xfrm>
            <a:off x="1097280" y="5925312"/>
            <a:ext cx="320040" cy="32004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13</a:t>
            </a:r>
          </a:p>
        </p:txBody>
      </p:sp>
      <p:sp>
        <p:nvSpPr>
          <p:cNvPr id="31" name="TextBox 30"/>
          <p:cNvSpPr txBox="1"/>
          <p:nvPr/>
        </p:nvSpPr>
        <p:spPr>
          <a:xfrm>
            <a:off x="1554480" y="5925312"/>
            <a:ext cx="9144000" cy="347472"/>
          </a:xfrm>
          <a:prstGeom prst="rect">
            <a:avLst/>
          </a:prstGeom>
          <a:noFill/>
        </p:spPr>
        <p:txBody>
          <a:bodyPr wrap="square">
            <a:spAutoFit/>
          </a:bodyPr>
          <a:lstStyle/>
          <a:p>
            <a:pPr algn="l">
              <a:defRPr sz="1600" b="0">
                <a:solidFill>
                  <a:srgbClr val="1E293B"/>
                </a:solidFill>
                <a:latin typeface="Calibri"/>
              </a:defRPr>
            </a:pPr>
            <a:r>
              <a:t>Bilan, Perspectives et Conclusion</a:t>
            </a:r>
          </a:p>
        </p:txBody>
      </p:sp>
      <p:sp>
        <p:nvSpPr>
          <p:cNvPr id="32" name="TextBox 31"/>
          <p:cNvSpPr txBox="1"/>
          <p:nvPr/>
        </p:nvSpPr>
        <p:spPr>
          <a:xfrm>
            <a:off x="457200" y="6309360"/>
            <a:ext cx="10972800" cy="365760"/>
          </a:xfrm>
          <a:prstGeom prst="rect">
            <a:avLst/>
          </a:prstGeom>
          <a:noFill/>
        </p:spPr>
        <p:txBody>
          <a:bodyPr wrap="none">
            <a:spAutoFit/>
          </a:bodyPr>
          <a:lstStyle/>
          <a:p>
            <a:pPr algn="ctr">
              <a:defRPr sz="900">
                <a:solidFill>
                  <a:srgbClr val="94A3B8"/>
                </a:solidFill>
              </a:defRPr>
            </a:pPr>
            <a:r>
              <a:t>Dar-Soins — PFE Licence Pro IFIAG 2025/2026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563E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I. Contexte Général &amp; Problématique</a:t>
            </a:r>
          </a:p>
        </p:txBody>
      </p:sp>
      <p:sp>
        <p:nvSpPr>
          <p:cNvPr id="5" name="TextBox 4"/>
          <p:cNvSpPr txBox="1"/>
          <p:nvPr/>
        </p:nvSpPr>
        <p:spPr>
          <a:xfrm>
            <a:off x="914400" y="3657600"/>
            <a:ext cx="10058400" cy="914400"/>
          </a:xfrm>
          <a:prstGeom prst="rect">
            <a:avLst/>
          </a:prstGeom>
          <a:noFill/>
        </p:spPr>
        <p:txBody>
          <a:bodyPr wrap="square">
            <a:spAutoFit/>
          </a:bodyPr>
          <a:lstStyle/>
          <a:p>
            <a:pPr algn="ctr">
              <a:defRPr sz="2000" b="0">
                <a:solidFill>
                  <a:srgbClr val="BFDBFE"/>
                </a:solidFill>
                <a:latin typeface="Calibri"/>
              </a:defRPr>
            </a:pPr>
            <a:r>
              <a:t>Le secteur de la santé à domicile au Maroc</a:t>
            </a:r>
          </a:p>
        </p:txBody>
      </p:sp>
      <p:sp>
        <p:nvSpPr>
          <p:cNvPr id="6" name="TextBox 5"/>
          <p:cNvSpPr txBox="1"/>
          <p:nvPr/>
        </p:nvSpPr>
        <p:spPr>
          <a:xfrm>
            <a:off x="457200" y="6309360"/>
            <a:ext cx="10972800" cy="365760"/>
          </a:xfrm>
          <a:prstGeom prst="rect">
            <a:avLst/>
          </a:prstGeom>
          <a:noFill/>
        </p:spPr>
        <p:txBody>
          <a:bodyPr wrap="none">
            <a:spAutoFit/>
          </a:bodyPr>
          <a:lstStyle/>
          <a:p>
            <a:pPr algn="ctr">
              <a:defRPr sz="900">
                <a:solidFill>
                  <a:srgbClr val="94A3B8"/>
                </a:solidFill>
              </a:defRPr>
            </a:pPr>
            <a:r>
              <a:t>Dar-Soins — PFE Licence Pro IFIAG 2025/2026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548640" y="228600"/>
            <a:ext cx="731520" cy="731520"/>
          </a:xfrm>
          <a:prstGeom prst="rect">
            <a:avLst/>
          </a:prstGeom>
        </p:spPr>
      </p:pic>
      <p:sp>
        <p:nvSpPr>
          <p:cNvPr id="5" name="TextBox 4"/>
          <p:cNvSpPr txBox="1"/>
          <p:nvPr/>
        </p:nvSpPr>
        <p:spPr>
          <a:xfrm>
            <a:off x="1463040" y="274320"/>
            <a:ext cx="9144000" cy="548640"/>
          </a:xfrm>
          <a:prstGeom prst="rect">
            <a:avLst/>
          </a:prstGeom>
          <a:noFill/>
        </p:spPr>
        <p:txBody>
          <a:bodyPr wrap="square">
            <a:spAutoFit/>
          </a:bodyPr>
          <a:lstStyle/>
          <a:p>
            <a:pPr algn="l">
              <a:defRPr sz="3000" b="1">
                <a:solidFill>
                  <a:srgbClr val="2563EB"/>
                </a:solidFill>
                <a:latin typeface="Calibri"/>
              </a:defRPr>
            </a:pPr>
            <a:r>
              <a:t>Le Contexte Marocain en Chiffres</a:t>
            </a:r>
          </a:p>
        </p:txBody>
      </p:sp>
      <p:sp>
        <p:nvSpPr>
          <p:cNvPr id="6" name="Rounded Rectangle 5"/>
          <p:cNvSpPr/>
          <p:nvPr/>
        </p:nvSpPr>
        <p:spPr>
          <a:xfrm>
            <a:off x="731520" y="1371600"/>
            <a:ext cx="256032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45920"/>
            <a:ext cx="2194560" cy="731520"/>
          </a:xfrm>
          <a:prstGeom prst="rect">
            <a:avLst/>
          </a:prstGeom>
          <a:noFill/>
        </p:spPr>
        <p:txBody>
          <a:bodyPr wrap="square">
            <a:spAutoFit/>
          </a:bodyPr>
          <a:lstStyle/>
          <a:p>
            <a:pPr algn="ctr">
              <a:defRPr sz="4000" b="1">
                <a:solidFill>
                  <a:srgbClr val="2563EB"/>
                </a:solidFill>
                <a:latin typeface="Calibri"/>
              </a:defRPr>
            </a:pPr>
            <a:r>
              <a:t>7.3</a:t>
            </a:r>
          </a:p>
        </p:txBody>
      </p:sp>
      <p:sp>
        <p:nvSpPr>
          <p:cNvPr id="8" name="TextBox 7"/>
          <p:cNvSpPr txBox="1"/>
          <p:nvPr/>
        </p:nvSpPr>
        <p:spPr>
          <a:xfrm>
            <a:off x="914400" y="2468880"/>
            <a:ext cx="2194560" cy="731520"/>
          </a:xfrm>
          <a:prstGeom prst="rect">
            <a:avLst/>
          </a:prstGeom>
          <a:noFill/>
        </p:spPr>
        <p:txBody>
          <a:bodyPr wrap="square">
            <a:spAutoFit/>
          </a:bodyPr>
          <a:lstStyle/>
          <a:p>
            <a:pPr algn="ctr">
              <a:defRPr sz="1300" b="0">
                <a:solidFill>
                  <a:srgbClr val="1E293B"/>
                </a:solidFill>
                <a:latin typeface="Calibri"/>
              </a:defRPr>
            </a:pPr>
            <a:r>
              <a:t>médecins</a:t>
            </a:r>
            <a:br/>
            <a:r>
              <a:t>pour 10 000 hab.</a:t>
            </a:r>
          </a:p>
        </p:txBody>
      </p:sp>
      <p:sp>
        <p:nvSpPr>
          <p:cNvPr id="9" name="Rounded Rectangle 8"/>
          <p:cNvSpPr/>
          <p:nvPr/>
        </p:nvSpPr>
        <p:spPr>
          <a:xfrm>
            <a:off x="3566160" y="1371600"/>
            <a:ext cx="256032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9040" y="1645920"/>
            <a:ext cx="2194560" cy="731520"/>
          </a:xfrm>
          <a:prstGeom prst="rect">
            <a:avLst/>
          </a:prstGeom>
          <a:noFill/>
        </p:spPr>
        <p:txBody>
          <a:bodyPr wrap="square">
            <a:spAutoFit/>
          </a:bodyPr>
          <a:lstStyle/>
          <a:p>
            <a:pPr algn="ctr">
              <a:defRPr sz="4000" b="1">
                <a:solidFill>
                  <a:srgbClr val="10B981"/>
                </a:solidFill>
                <a:latin typeface="Calibri"/>
              </a:defRPr>
            </a:pPr>
            <a:r>
              <a:t>3.2M</a:t>
            </a:r>
          </a:p>
        </p:txBody>
      </p:sp>
      <p:sp>
        <p:nvSpPr>
          <p:cNvPr id="11" name="TextBox 10"/>
          <p:cNvSpPr txBox="1"/>
          <p:nvPr/>
        </p:nvSpPr>
        <p:spPr>
          <a:xfrm>
            <a:off x="3749040" y="2468880"/>
            <a:ext cx="2194560" cy="731520"/>
          </a:xfrm>
          <a:prstGeom prst="rect">
            <a:avLst/>
          </a:prstGeom>
          <a:noFill/>
        </p:spPr>
        <p:txBody>
          <a:bodyPr wrap="square">
            <a:spAutoFit/>
          </a:bodyPr>
          <a:lstStyle/>
          <a:p>
            <a:pPr algn="ctr">
              <a:defRPr sz="1300" b="0">
                <a:solidFill>
                  <a:srgbClr val="1E293B"/>
                </a:solidFill>
                <a:latin typeface="Calibri"/>
              </a:defRPr>
            </a:pPr>
            <a:r>
              <a:t>personnes</a:t>
            </a:r>
            <a:br/>
            <a:r>
              <a:t>âgées de +60 ans</a:t>
            </a:r>
          </a:p>
        </p:txBody>
      </p:sp>
      <p:sp>
        <p:nvSpPr>
          <p:cNvPr id="12" name="Rounded Rectangle 11"/>
          <p:cNvSpPr/>
          <p:nvPr/>
        </p:nvSpPr>
        <p:spPr>
          <a:xfrm>
            <a:off x="6400800" y="1371600"/>
            <a:ext cx="256032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1645920"/>
            <a:ext cx="2194560" cy="731520"/>
          </a:xfrm>
          <a:prstGeom prst="rect">
            <a:avLst/>
          </a:prstGeom>
          <a:noFill/>
        </p:spPr>
        <p:txBody>
          <a:bodyPr wrap="square">
            <a:spAutoFit/>
          </a:bodyPr>
          <a:lstStyle/>
          <a:p>
            <a:pPr algn="ctr">
              <a:defRPr sz="4000" b="1">
                <a:solidFill>
                  <a:srgbClr val="F59E0B"/>
                </a:solidFill>
                <a:latin typeface="Calibri"/>
              </a:defRPr>
            </a:pPr>
            <a:r>
              <a:t>42%</a:t>
            </a:r>
          </a:p>
        </p:txBody>
      </p:sp>
      <p:sp>
        <p:nvSpPr>
          <p:cNvPr id="14" name="TextBox 13"/>
          <p:cNvSpPr txBox="1"/>
          <p:nvPr/>
        </p:nvSpPr>
        <p:spPr>
          <a:xfrm>
            <a:off x="6583680" y="2468880"/>
            <a:ext cx="2194560" cy="731520"/>
          </a:xfrm>
          <a:prstGeom prst="rect">
            <a:avLst/>
          </a:prstGeom>
          <a:noFill/>
        </p:spPr>
        <p:txBody>
          <a:bodyPr wrap="square">
            <a:spAutoFit/>
          </a:bodyPr>
          <a:lstStyle/>
          <a:p>
            <a:pPr algn="ctr">
              <a:defRPr sz="1300" b="0">
                <a:solidFill>
                  <a:srgbClr val="1E293B"/>
                </a:solidFill>
                <a:latin typeface="Calibri"/>
              </a:defRPr>
            </a:pPr>
            <a:r>
              <a:t>de la population</a:t>
            </a:r>
            <a:br/>
            <a:r>
              <a:t>en zone rurale</a:t>
            </a:r>
          </a:p>
        </p:txBody>
      </p:sp>
      <p:sp>
        <p:nvSpPr>
          <p:cNvPr id="15" name="Rounded Rectangle 14"/>
          <p:cNvSpPr/>
          <p:nvPr/>
        </p:nvSpPr>
        <p:spPr>
          <a:xfrm>
            <a:off x="9235440" y="1371600"/>
            <a:ext cx="256032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18320" y="1645920"/>
            <a:ext cx="2194560" cy="731520"/>
          </a:xfrm>
          <a:prstGeom prst="rect">
            <a:avLst/>
          </a:prstGeom>
          <a:noFill/>
        </p:spPr>
        <p:txBody>
          <a:bodyPr wrap="square">
            <a:spAutoFit/>
          </a:bodyPr>
          <a:lstStyle/>
          <a:p>
            <a:pPr algn="ctr">
              <a:defRPr sz="4000" b="1">
                <a:solidFill>
                  <a:srgbClr val="EF4444"/>
                </a:solidFill>
                <a:latin typeface="Calibri"/>
              </a:defRPr>
            </a:pPr>
            <a:r>
              <a:t>&lt; 5%</a:t>
            </a:r>
          </a:p>
        </p:txBody>
      </p:sp>
      <p:sp>
        <p:nvSpPr>
          <p:cNvPr id="17" name="TextBox 16"/>
          <p:cNvSpPr txBox="1"/>
          <p:nvPr/>
        </p:nvSpPr>
        <p:spPr>
          <a:xfrm>
            <a:off x="9418320" y="2468880"/>
            <a:ext cx="2194560" cy="731520"/>
          </a:xfrm>
          <a:prstGeom prst="rect">
            <a:avLst/>
          </a:prstGeom>
          <a:noFill/>
        </p:spPr>
        <p:txBody>
          <a:bodyPr wrap="square">
            <a:spAutoFit/>
          </a:bodyPr>
          <a:lstStyle/>
          <a:p>
            <a:pPr algn="ctr">
              <a:defRPr sz="1300" b="0">
                <a:solidFill>
                  <a:srgbClr val="1E293B"/>
                </a:solidFill>
                <a:latin typeface="Calibri"/>
              </a:defRPr>
            </a:pPr>
            <a:r>
              <a:t>recours à des</a:t>
            </a:r>
            <a:br/>
            <a:r>
              <a:t>soins à domicile</a:t>
            </a:r>
            <a:br/>
            <a:r>
              <a:t>digitalisés</a:t>
            </a:r>
          </a:p>
        </p:txBody>
      </p:sp>
      <p:sp>
        <p:nvSpPr>
          <p:cNvPr id="18" name="TextBox 17"/>
          <p:cNvSpPr txBox="1"/>
          <p:nvPr/>
        </p:nvSpPr>
        <p:spPr>
          <a:xfrm>
            <a:off x="731520" y="3840480"/>
            <a:ext cx="10515600" cy="457200"/>
          </a:xfrm>
          <a:prstGeom prst="rect">
            <a:avLst/>
          </a:prstGeom>
          <a:noFill/>
        </p:spPr>
        <p:txBody>
          <a:bodyPr wrap="square">
            <a:spAutoFit/>
          </a:bodyPr>
          <a:lstStyle/>
          <a:p>
            <a:pPr algn="l">
              <a:defRPr sz="2200" b="1">
                <a:solidFill>
                  <a:srgbClr val="2563EB"/>
                </a:solidFill>
                <a:latin typeface="Calibri"/>
              </a:defRPr>
            </a:pPr>
            <a:r>
              <a:t>Problématique</a:t>
            </a:r>
          </a:p>
        </p:txBody>
      </p:sp>
      <p:sp>
        <p:nvSpPr>
          <p:cNvPr id="19" name="Rounded Rectangle 18"/>
          <p:cNvSpPr/>
          <p:nvPr/>
        </p:nvSpPr>
        <p:spPr>
          <a:xfrm>
            <a:off x="731520" y="4389120"/>
            <a:ext cx="10515600" cy="1645920"/>
          </a:xfrm>
          <a:prstGeom prst="roundRect">
            <a:avLst/>
          </a:prstGeom>
          <a:solidFill>
            <a:srgbClr val="FFFFFF"/>
          </a:solidFill>
          <a:ln w="254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4572000"/>
            <a:ext cx="9784080" cy="1280160"/>
          </a:xfrm>
          <a:prstGeom prst="rect">
            <a:avLst/>
          </a:prstGeom>
          <a:noFill/>
        </p:spPr>
        <p:txBody>
          <a:bodyPr wrap="square">
            <a:spAutoFit/>
          </a:bodyPr>
          <a:lstStyle/>
          <a:p>
            <a:pPr algn="ctr">
              <a:defRPr sz="1500" b="0">
                <a:solidFill>
                  <a:srgbClr val="1E293B"/>
                </a:solidFill>
                <a:latin typeface="Calibri"/>
              </a:defRPr>
            </a:pPr>
            <a:r>
              <a:t>Comment concevoir et développer une plateforme web sécurisée, performante et ergonomique</a:t>
            </a:r>
            <a:br/>
            <a:r>
              <a:t>permettant de digitaliser l'ensemble du parcours de soins infirmiers à domicile,</a:t>
            </a:r>
            <a:br/>
            <a:r>
              <a:t>de la demande du patient jusqu'à la facturation, tout en intégrant un ERP de gestion</a:t>
            </a:r>
            <a:br/>
            <a:r>
              <a:t>pour l'administration de l'activité ?</a:t>
            </a:r>
          </a:p>
        </p:txBody>
      </p:sp>
      <p:sp>
        <p:nvSpPr>
          <p:cNvPr id="21" name="TextBox 20"/>
          <p:cNvSpPr txBox="1"/>
          <p:nvPr/>
        </p:nvSpPr>
        <p:spPr>
          <a:xfrm>
            <a:off x="457200" y="6309360"/>
            <a:ext cx="10972800" cy="365760"/>
          </a:xfrm>
          <a:prstGeom prst="rect">
            <a:avLst/>
          </a:prstGeom>
          <a:noFill/>
        </p:spPr>
        <p:txBody>
          <a:bodyPr wrap="none">
            <a:spAutoFit/>
          </a:bodyPr>
          <a:lstStyle/>
          <a:p>
            <a:pPr algn="ctr">
              <a:defRPr sz="900">
                <a:solidFill>
                  <a:srgbClr val="94A3B8"/>
                </a:solidFill>
              </a:defRPr>
            </a:pPr>
            <a:r>
              <a:t>Dar-Soins — PFE Licence Pro IFIAG 2025/2026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563E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II. Présentation du Projet</a:t>
            </a:r>
          </a:p>
        </p:txBody>
      </p:sp>
      <p:sp>
        <p:nvSpPr>
          <p:cNvPr id="5" name="TextBox 4"/>
          <p:cNvSpPr txBox="1"/>
          <p:nvPr/>
        </p:nvSpPr>
        <p:spPr>
          <a:xfrm>
            <a:off x="914400" y="3657600"/>
            <a:ext cx="10058400" cy="914400"/>
          </a:xfrm>
          <a:prstGeom prst="rect">
            <a:avLst/>
          </a:prstGeom>
          <a:noFill/>
        </p:spPr>
        <p:txBody>
          <a:bodyPr wrap="square">
            <a:spAutoFit/>
          </a:bodyPr>
          <a:lstStyle/>
          <a:p>
            <a:pPr algn="ctr">
              <a:defRPr sz="2000" b="0">
                <a:solidFill>
                  <a:srgbClr val="BFDBFE"/>
                </a:solidFill>
                <a:latin typeface="Calibri"/>
              </a:defRPr>
            </a:pPr>
            <a:r>
              <a:t>Dar-Soins : La santé, chez vous, en un clic</a:t>
            </a:r>
          </a:p>
        </p:txBody>
      </p:sp>
      <p:sp>
        <p:nvSpPr>
          <p:cNvPr id="6" name="TextBox 5"/>
          <p:cNvSpPr txBox="1"/>
          <p:nvPr/>
        </p:nvSpPr>
        <p:spPr>
          <a:xfrm>
            <a:off x="457200" y="6309360"/>
            <a:ext cx="10972800" cy="365760"/>
          </a:xfrm>
          <a:prstGeom prst="rect">
            <a:avLst/>
          </a:prstGeom>
          <a:noFill/>
        </p:spPr>
        <p:txBody>
          <a:bodyPr wrap="none">
            <a:spAutoFit/>
          </a:bodyPr>
          <a:lstStyle/>
          <a:p>
            <a:pPr algn="ctr">
              <a:defRPr sz="900">
                <a:solidFill>
                  <a:srgbClr val="94A3B8"/>
                </a:solidFill>
              </a:defRPr>
            </a:pPr>
            <a:r>
              <a:t>Dar-Soins — PFE Licence Pro IFIAG 2025/2026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548640" y="228600"/>
            <a:ext cx="731520" cy="731520"/>
          </a:xfrm>
          <a:prstGeom prst="rect">
            <a:avLst/>
          </a:prstGeom>
        </p:spPr>
      </p:pic>
      <p:sp>
        <p:nvSpPr>
          <p:cNvPr id="5" name="TextBox 4"/>
          <p:cNvSpPr txBox="1"/>
          <p:nvPr/>
        </p:nvSpPr>
        <p:spPr>
          <a:xfrm>
            <a:off x="1463040" y="274320"/>
            <a:ext cx="9144000" cy="548640"/>
          </a:xfrm>
          <a:prstGeom prst="rect">
            <a:avLst/>
          </a:prstGeom>
          <a:noFill/>
        </p:spPr>
        <p:txBody>
          <a:bodyPr wrap="square">
            <a:spAutoFit/>
          </a:bodyPr>
          <a:lstStyle/>
          <a:p>
            <a:pPr algn="l">
              <a:defRPr sz="3000" b="1">
                <a:solidFill>
                  <a:srgbClr val="2563EB"/>
                </a:solidFill>
                <a:latin typeface="Calibri"/>
              </a:defRPr>
            </a:pPr>
            <a:r>
              <a:t>Qu'est-ce que Dar-Soins ?</a:t>
            </a:r>
          </a:p>
        </p:txBody>
      </p:sp>
      <p:sp>
        <p:nvSpPr>
          <p:cNvPr id="6" name="Rounded Rectangle 5"/>
          <p:cNvSpPr/>
          <p:nvPr/>
        </p:nvSpPr>
        <p:spPr>
          <a:xfrm>
            <a:off x="731520" y="1188720"/>
            <a:ext cx="5120640" cy="228600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25880"/>
            <a:ext cx="4754880" cy="365760"/>
          </a:xfrm>
          <a:prstGeom prst="rect">
            <a:avLst/>
          </a:prstGeom>
          <a:noFill/>
        </p:spPr>
        <p:txBody>
          <a:bodyPr wrap="square">
            <a:spAutoFit/>
          </a:bodyPr>
          <a:lstStyle/>
          <a:p>
            <a:pPr algn="l">
              <a:defRPr sz="1500" b="1">
                <a:solidFill>
                  <a:srgbClr val="2563EB"/>
                </a:solidFill>
                <a:latin typeface="Calibri"/>
              </a:defRPr>
            </a:pPr>
            <a:r>
              <a:t>🏠  Notre Mission</a:t>
            </a:r>
          </a:p>
        </p:txBody>
      </p:sp>
      <p:sp>
        <p:nvSpPr>
          <p:cNvPr id="8" name="TextBox 7"/>
          <p:cNvSpPr txBox="1"/>
          <p:nvPr/>
        </p:nvSpPr>
        <p:spPr>
          <a:xfrm>
            <a:off x="914400" y="1691640"/>
            <a:ext cx="4754880" cy="1645920"/>
          </a:xfrm>
          <a:prstGeom prst="rect">
            <a:avLst/>
          </a:prstGeom>
          <a:noFill/>
        </p:spPr>
        <p:txBody>
          <a:bodyPr wrap="square">
            <a:spAutoFit/>
          </a:bodyPr>
          <a:lstStyle/>
          <a:p>
            <a:pPr algn="l">
              <a:defRPr sz="1200" b="0">
                <a:solidFill>
                  <a:srgbClr val="1E293B"/>
                </a:solidFill>
                <a:latin typeface="Calibri"/>
              </a:defRPr>
            </a:pPr>
            <a:r>
              <a:t>Digitaliser l'intégralité du parcours de soins</a:t>
            </a:r>
            <a:br/>
            <a:r>
              <a:t>infirmiers à domicile au Maroc :</a:t>
            </a:r>
            <a:br/>
            <a:br/>
            <a:r>
              <a:t>• Commande en ligne par le patient</a:t>
            </a:r>
            <a:br/>
            <a:r>
              <a:t>• Affectation intelligente d'un infirmier</a:t>
            </a:r>
            <a:br/>
            <a:r>
              <a:t>• Devis automatique avant intervention</a:t>
            </a:r>
            <a:br/>
            <a:r>
              <a:t>• Facturation transparente après intervention</a:t>
            </a:r>
            <a:br/>
            <a:r>
              <a:t>• Gestion complète via un ERP intégré</a:t>
            </a:r>
          </a:p>
        </p:txBody>
      </p:sp>
      <p:sp>
        <p:nvSpPr>
          <p:cNvPr id="9" name="Rounded Rectangle 8"/>
          <p:cNvSpPr/>
          <p:nvPr/>
        </p:nvSpPr>
        <p:spPr>
          <a:xfrm>
            <a:off x="6217920" y="1188720"/>
            <a:ext cx="5120640" cy="228600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325880"/>
            <a:ext cx="4754880" cy="365760"/>
          </a:xfrm>
          <a:prstGeom prst="rect">
            <a:avLst/>
          </a:prstGeom>
          <a:noFill/>
        </p:spPr>
        <p:txBody>
          <a:bodyPr wrap="square">
            <a:spAutoFit/>
          </a:bodyPr>
          <a:lstStyle/>
          <a:p>
            <a:pPr algn="l">
              <a:defRPr sz="1500" b="1">
                <a:solidFill>
                  <a:srgbClr val="2563EB"/>
                </a:solidFill>
                <a:latin typeface="Calibri"/>
              </a:defRPr>
            </a:pPr>
            <a:r>
              <a:t>👥  Les 3 Espaces Utilisateurs</a:t>
            </a:r>
          </a:p>
        </p:txBody>
      </p:sp>
      <p:sp>
        <p:nvSpPr>
          <p:cNvPr id="11" name="TextBox 10"/>
          <p:cNvSpPr txBox="1"/>
          <p:nvPr/>
        </p:nvSpPr>
        <p:spPr>
          <a:xfrm>
            <a:off x="6400800" y="1691640"/>
            <a:ext cx="4754880" cy="1645920"/>
          </a:xfrm>
          <a:prstGeom prst="rect">
            <a:avLst/>
          </a:prstGeom>
          <a:noFill/>
        </p:spPr>
        <p:txBody>
          <a:bodyPr wrap="square">
            <a:spAutoFit/>
          </a:bodyPr>
          <a:lstStyle/>
          <a:p>
            <a:pPr algn="l">
              <a:defRPr sz="1200" b="0">
                <a:solidFill>
                  <a:srgbClr val="1E293B"/>
                </a:solidFill>
                <a:latin typeface="Calibri"/>
              </a:defRPr>
            </a:pPr>
            <a:r>
              <a:t>🔵 Espace Patient : commande de soins,</a:t>
            </a:r>
            <a:br/>
            <a:r>
              <a:t>     suivi en temps réel, historique, devis &amp; factures</a:t>
            </a:r>
            <a:br/>
            <a:br/>
            <a:r>
              <a:t>🟢 Espace Infirmier : réception des missions,</a:t>
            </a:r>
            <a:br/>
            <a:r>
              <a:t>     clôture, constantes médicales, commissions</a:t>
            </a:r>
            <a:br/>
            <a:br/>
            <a:r>
              <a:t>🟠 Espace Gestionnaire (ERP) : administration</a:t>
            </a:r>
            <a:br/>
            <a:r>
              <a:t>     complète, RH, stocks, finances, reporting</a:t>
            </a:r>
          </a:p>
        </p:txBody>
      </p:sp>
      <p:sp>
        <p:nvSpPr>
          <p:cNvPr id="12" name="TextBox 11"/>
          <p:cNvSpPr txBox="1"/>
          <p:nvPr/>
        </p:nvSpPr>
        <p:spPr>
          <a:xfrm>
            <a:off x="731520" y="3840480"/>
            <a:ext cx="10515600" cy="457200"/>
          </a:xfrm>
          <a:prstGeom prst="rect">
            <a:avLst/>
          </a:prstGeom>
          <a:noFill/>
        </p:spPr>
        <p:txBody>
          <a:bodyPr wrap="square">
            <a:spAutoFit/>
          </a:bodyPr>
          <a:lstStyle/>
          <a:p>
            <a:pPr algn="l">
              <a:defRPr sz="2200" b="1">
                <a:solidFill>
                  <a:srgbClr val="10B981"/>
                </a:solidFill>
                <a:latin typeface="Calibri"/>
              </a:defRPr>
            </a:pPr>
            <a:r>
              <a:t>Proposition de Valeur Unique</a:t>
            </a:r>
          </a:p>
        </p:txBody>
      </p:sp>
      <p:sp>
        <p:nvSpPr>
          <p:cNvPr id="13" name="TextBox 12"/>
          <p:cNvSpPr txBox="1"/>
          <p:nvPr/>
        </p:nvSpPr>
        <p:spPr>
          <a:xfrm>
            <a:off x="731520" y="4480560"/>
            <a:ext cx="5303520" cy="320040"/>
          </a:xfrm>
          <a:prstGeom prst="rect">
            <a:avLst/>
          </a:prstGeom>
          <a:noFill/>
        </p:spPr>
        <p:txBody>
          <a:bodyPr wrap="square">
            <a:spAutoFit/>
          </a:bodyPr>
          <a:lstStyle/>
          <a:p>
            <a:pPr algn="l">
              <a:defRPr sz="1400" b="1">
                <a:solidFill>
                  <a:srgbClr val="2563EB"/>
                </a:solidFill>
                <a:latin typeface="Calibri"/>
              </a:defRPr>
            </a:pPr>
            <a:r>
              <a:t>✦  Transparence tarifaire</a:t>
            </a:r>
          </a:p>
        </p:txBody>
      </p:sp>
      <p:sp>
        <p:nvSpPr>
          <p:cNvPr id="14" name="TextBox 13"/>
          <p:cNvSpPr txBox="1"/>
          <p:nvPr/>
        </p:nvSpPr>
        <p:spPr>
          <a:xfrm>
            <a:off x="1051560" y="4754880"/>
            <a:ext cx="4983480" cy="457200"/>
          </a:xfrm>
          <a:prstGeom prst="rect">
            <a:avLst/>
          </a:prstGeom>
          <a:noFill/>
        </p:spPr>
        <p:txBody>
          <a:bodyPr wrap="square">
            <a:spAutoFit/>
          </a:bodyPr>
          <a:lstStyle/>
          <a:p>
            <a:pPr algn="l">
              <a:defRPr sz="1200" b="0">
                <a:solidFill>
                  <a:srgbClr val="1E293B"/>
                </a:solidFill>
                <a:latin typeface="Calibri"/>
              </a:defRPr>
            </a:pPr>
            <a:r>
              <a:t>Devis automatique avant intervention, prix fixe, aucune surprise</a:t>
            </a:r>
          </a:p>
        </p:txBody>
      </p:sp>
      <p:sp>
        <p:nvSpPr>
          <p:cNvPr id="15" name="TextBox 14"/>
          <p:cNvSpPr txBox="1"/>
          <p:nvPr/>
        </p:nvSpPr>
        <p:spPr>
          <a:xfrm>
            <a:off x="6400800" y="4480560"/>
            <a:ext cx="5303520" cy="320040"/>
          </a:xfrm>
          <a:prstGeom prst="rect">
            <a:avLst/>
          </a:prstGeom>
          <a:noFill/>
        </p:spPr>
        <p:txBody>
          <a:bodyPr wrap="square">
            <a:spAutoFit/>
          </a:bodyPr>
          <a:lstStyle/>
          <a:p>
            <a:pPr algn="l">
              <a:defRPr sz="1400" b="1">
                <a:solidFill>
                  <a:srgbClr val="2563EB"/>
                </a:solidFill>
                <a:latin typeface="Calibri"/>
              </a:defRPr>
            </a:pPr>
            <a:r>
              <a:t>✦  Affectation intelligente</a:t>
            </a:r>
          </a:p>
        </p:txBody>
      </p:sp>
      <p:sp>
        <p:nvSpPr>
          <p:cNvPr id="16" name="TextBox 15"/>
          <p:cNvSpPr txBox="1"/>
          <p:nvPr/>
        </p:nvSpPr>
        <p:spPr>
          <a:xfrm>
            <a:off x="6720840" y="4754880"/>
            <a:ext cx="4983480" cy="457200"/>
          </a:xfrm>
          <a:prstGeom prst="rect">
            <a:avLst/>
          </a:prstGeom>
          <a:noFill/>
        </p:spPr>
        <p:txBody>
          <a:bodyPr wrap="square">
            <a:spAutoFit/>
          </a:bodyPr>
          <a:lstStyle/>
          <a:p>
            <a:pPr algn="l">
              <a:defRPr sz="1200" b="0">
                <a:solidFill>
                  <a:srgbClr val="1E293B"/>
                </a:solidFill>
                <a:latin typeface="Calibri"/>
              </a:defRPr>
            </a:pPr>
            <a:r>
              <a:t>Algorithme de proximité géographique pour trouver l'infirmier le plus proche</a:t>
            </a:r>
          </a:p>
        </p:txBody>
      </p:sp>
      <p:sp>
        <p:nvSpPr>
          <p:cNvPr id="17" name="TextBox 16"/>
          <p:cNvSpPr txBox="1"/>
          <p:nvPr/>
        </p:nvSpPr>
        <p:spPr>
          <a:xfrm>
            <a:off x="731520" y="5394960"/>
            <a:ext cx="5303520" cy="320040"/>
          </a:xfrm>
          <a:prstGeom prst="rect">
            <a:avLst/>
          </a:prstGeom>
          <a:noFill/>
        </p:spPr>
        <p:txBody>
          <a:bodyPr wrap="square">
            <a:spAutoFit/>
          </a:bodyPr>
          <a:lstStyle/>
          <a:p>
            <a:pPr algn="l">
              <a:defRPr sz="1400" b="1">
                <a:solidFill>
                  <a:srgbClr val="2563EB"/>
                </a:solidFill>
                <a:latin typeface="Calibri"/>
              </a:defRPr>
            </a:pPr>
            <a:r>
              <a:t>✦  Traçabilité complète</a:t>
            </a:r>
          </a:p>
        </p:txBody>
      </p:sp>
      <p:sp>
        <p:nvSpPr>
          <p:cNvPr id="18" name="TextBox 17"/>
          <p:cNvSpPr txBox="1"/>
          <p:nvPr/>
        </p:nvSpPr>
        <p:spPr>
          <a:xfrm>
            <a:off x="1051560" y="5669280"/>
            <a:ext cx="4983480" cy="457200"/>
          </a:xfrm>
          <a:prstGeom prst="rect">
            <a:avLst/>
          </a:prstGeom>
          <a:noFill/>
        </p:spPr>
        <p:txBody>
          <a:bodyPr wrap="square">
            <a:spAutoFit/>
          </a:bodyPr>
          <a:lstStyle/>
          <a:p>
            <a:pPr algn="l">
              <a:defRPr sz="1200" b="0">
                <a:solidFill>
                  <a:srgbClr val="1E293B"/>
                </a:solidFill>
                <a:latin typeface="Calibri"/>
              </a:defRPr>
            </a:pPr>
            <a:r>
              <a:t>Historique médical, constantes vitales, factures archivées, signatures numériques</a:t>
            </a:r>
          </a:p>
        </p:txBody>
      </p:sp>
      <p:sp>
        <p:nvSpPr>
          <p:cNvPr id="19" name="TextBox 18"/>
          <p:cNvSpPr txBox="1"/>
          <p:nvPr/>
        </p:nvSpPr>
        <p:spPr>
          <a:xfrm>
            <a:off x="6400800" y="5394960"/>
            <a:ext cx="5303520" cy="320040"/>
          </a:xfrm>
          <a:prstGeom prst="rect">
            <a:avLst/>
          </a:prstGeom>
          <a:noFill/>
        </p:spPr>
        <p:txBody>
          <a:bodyPr wrap="square">
            <a:spAutoFit/>
          </a:bodyPr>
          <a:lstStyle/>
          <a:p>
            <a:pPr algn="l">
              <a:defRPr sz="1400" b="1">
                <a:solidFill>
                  <a:srgbClr val="2563EB"/>
                </a:solidFill>
                <a:latin typeface="Calibri"/>
              </a:defRPr>
            </a:pPr>
            <a:r>
              <a:t>✦  ERP intégré</a:t>
            </a:r>
          </a:p>
        </p:txBody>
      </p:sp>
      <p:sp>
        <p:nvSpPr>
          <p:cNvPr id="20" name="TextBox 19"/>
          <p:cNvSpPr txBox="1"/>
          <p:nvPr/>
        </p:nvSpPr>
        <p:spPr>
          <a:xfrm>
            <a:off x="6720840" y="5669280"/>
            <a:ext cx="4983480" cy="457200"/>
          </a:xfrm>
          <a:prstGeom prst="rect">
            <a:avLst/>
          </a:prstGeom>
          <a:noFill/>
        </p:spPr>
        <p:txBody>
          <a:bodyPr wrap="square">
            <a:spAutoFit/>
          </a:bodyPr>
          <a:lstStyle/>
          <a:p>
            <a:pPr algn="l">
              <a:defRPr sz="1200" b="0">
                <a:solidFill>
                  <a:srgbClr val="1E293B"/>
                </a:solidFill>
                <a:latin typeface="Calibri"/>
              </a:defRPr>
            </a:pPr>
            <a:r>
              <a:t>Gestion des achats, stocks, RH, comptabilité — tout dans une seule plateforme</a:t>
            </a:r>
          </a:p>
        </p:txBody>
      </p:sp>
      <p:sp>
        <p:nvSpPr>
          <p:cNvPr id="21" name="TextBox 20"/>
          <p:cNvSpPr txBox="1"/>
          <p:nvPr/>
        </p:nvSpPr>
        <p:spPr>
          <a:xfrm>
            <a:off x="457200" y="6309360"/>
            <a:ext cx="10972800" cy="365760"/>
          </a:xfrm>
          <a:prstGeom prst="rect">
            <a:avLst/>
          </a:prstGeom>
          <a:noFill/>
        </p:spPr>
        <p:txBody>
          <a:bodyPr wrap="none">
            <a:spAutoFit/>
          </a:bodyPr>
          <a:lstStyle/>
          <a:p>
            <a:pPr algn="ctr">
              <a:defRPr sz="900">
                <a:solidFill>
                  <a:srgbClr val="94A3B8"/>
                </a:solidFill>
              </a:defRPr>
            </a:pPr>
            <a:r>
              <a:t>Dar-Soins — PFE Licence Pro IFIAG 2025/2026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563E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III. Étude de Marché</a:t>
            </a:r>
          </a:p>
        </p:txBody>
      </p:sp>
      <p:sp>
        <p:nvSpPr>
          <p:cNvPr id="5" name="TextBox 4"/>
          <p:cNvSpPr txBox="1"/>
          <p:nvPr/>
        </p:nvSpPr>
        <p:spPr>
          <a:xfrm>
            <a:off x="914400" y="3657600"/>
            <a:ext cx="10058400" cy="914400"/>
          </a:xfrm>
          <a:prstGeom prst="rect">
            <a:avLst/>
          </a:prstGeom>
          <a:noFill/>
        </p:spPr>
        <p:txBody>
          <a:bodyPr wrap="square">
            <a:spAutoFit/>
          </a:bodyPr>
          <a:lstStyle/>
          <a:p>
            <a:pPr algn="ctr">
              <a:defRPr sz="2000" b="0">
                <a:solidFill>
                  <a:srgbClr val="BFDBFE"/>
                </a:solidFill>
                <a:latin typeface="Calibri"/>
              </a:defRPr>
            </a:pPr>
            <a:r>
              <a:t>Analyse concurrentielle et positionnement</a:t>
            </a:r>
          </a:p>
        </p:txBody>
      </p:sp>
      <p:sp>
        <p:nvSpPr>
          <p:cNvPr id="6" name="TextBox 5"/>
          <p:cNvSpPr txBox="1"/>
          <p:nvPr/>
        </p:nvSpPr>
        <p:spPr>
          <a:xfrm>
            <a:off x="457200" y="6309360"/>
            <a:ext cx="10972800" cy="365760"/>
          </a:xfrm>
          <a:prstGeom prst="rect">
            <a:avLst/>
          </a:prstGeom>
          <a:noFill/>
        </p:spPr>
        <p:txBody>
          <a:bodyPr wrap="none">
            <a:spAutoFit/>
          </a:bodyPr>
          <a:lstStyle/>
          <a:p>
            <a:pPr algn="ctr">
              <a:defRPr sz="900">
                <a:solidFill>
                  <a:srgbClr val="94A3B8"/>
                </a:solidFill>
              </a:defRPr>
            </a:pPr>
            <a:r>
              <a:t>Dar-Soins — PFE Licence Pro IFIAG 2025/2026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548640" y="228600"/>
            <a:ext cx="731520" cy="731520"/>
          </a:xfrm>
          <a:prstGeom prst="rect">
            <a:avLst/>
          </a:prstGeom>
        </p:spPr>
      </p:pic>
      <p:sp>
        <p:nvSpPr>
          <p:cNvPr id="5" name="TextBox 4"/>
          <p:cNvSpPr txBox="1"/>
          <p:nvPr/>
        </p:nvSpPr>
        <p:spPr>
          <a:xfrm>
            <a:off x="1463040" y="274320"/>
            <a:ext cx="9144000" cy="548640"/>
          </a:xfrm>
          <a:prstGeom prst="rect">
            <a:avLst/>
          </a:prstGeom>
          <a:noFill/>
        </p:spPr>
        <p:txBody>
          <a:bodyPr wrap="square">
            <a:spAutoFit/>
          </a:bodyPr>
          <a:lstStyle/>
          <a:p>
            <a:pPr algn="l">
              <a:defRPr sz="2800" b="1">
                <a:solidFill>
                  <a:srgbClr val="2563EB"/>
                </a:solidFill>
                <a:latin typeface="Calibri"/>
              </a:defRPr>
            </a:pPr>
            <a:r>
              <a:t>Analyse Concurrentielle &amp; SWOT</a:t>
            </a:r>
          </a:p>
        </p:txBody>
      </p:sp>
      <p:sp>
        <p:nvSpPr>
          <p:cNvPr id="6" name="TextBox 5"/>
          <p:cNvSpPr txBox="1"/>
          <p:nvPr/>
        </p:nvSpPr>
        <p:spPr>
          <a:xfrm>
            <a:off x="731520" y="1005840"/>
            <a:ext cx="4572000" cy="365760"/>
          </a:xfrm>
          <a:prstGeom prst="rect">
            <a:avLst/>
          </a:prstGeom>
          <a:noFill/>
        </p:spPr>
        <p:txBody>
          <a:bodyPr wrap="square">
            <a:spAutoFit/>
          </a:bodyPr>
          <a:lstStyle/>
          <a:p>
            <a:pPr algn="l">
              <a:defRPr sz="1800" b="1">
                <a:solidFill>
                  <a:srgbClr val="1E40AF"/>
                </a:solidFill>
                <a:latin typeface="Calibri"/>
              </a:defRPr>
            </a:pPr>
            <a:r>
              <a:t>Concurrents Identifiés</a:t>
            </a:r>
          </a:p>
        </p:txBody>
      </p:sp>
      <p:sp>
        <p:nvSpPr>
          <p:cNvPr id="7" name="TextBox 6"/>
          <p:cNvSpPr txBox="1"/>
          <p:nvPr/>
        </p:nvSpPr>
        <p:spPr>
          <a:xfrm>
            <a:off x="731520" y="1463040"/>
            <a:ext cx="5120640" cy="2011680"/>
          </a:xfrm>
          <a:prstGeom prst="rect">
            <a:avLst/>
          </a:prstGeom>
          <a:noFill/>
        </p:spPr>
        <p:txBody>
          <a:bodyPr wrap="square">
            <a:spAutoFit/>
          </a:bodyPr>
          <a:lstStyle/>
          <a:p>
            <a:pPr>
              <a:spcAft>
                <a:spcPts val="600"/>
              </a:spcAft>
              <a:defRPr sz="1300">
                <a:solidFill>
                  <a:srgbClr val="1E293B"/>
                </a:solidFill>
                <a:latin typeface="Calibri"/>
              </a:defRPr>
              <a:buChar char="▸"/>
              <a:buClr>
                <a:srgbClr val="2563EB"/>
              </a:buClr>
            </a:pPr>
            <a:r>
              <a:t>SOS Médecins Maroc — Urgences médicales, pas de soins planifiés</a:t>
            </a:r>
          </a:p>
          <a:p>
            <a:pPr>
              <a:spcAft>
                <a:spcPts val="600"/>
              </a:spcAft>
              <a:defRPr sz="1300">
                <a:solidFill>
                  <a:srgbClr val="1E293B"/>
                </a:solidFill>
                <a:latin typeface="Calibri"/>
              </a:defRPr>
              <a:buChar char="▸"/>
              <a:buClr>
                <a:srgbClr val="2563EB"/>
              </a:buClr>
            </a:pPr>
            <a:r>
              <a:t>DabaDoc — Prise de RDV cabinet, pas de soins à domicile</a:t>
            </a:r>
          </a:p>
          <a:p>
            <a:pPr>
              <a:spcAft>
                <a:spcPts val="600"/>
              </a:spcAft>
              <a:defRPr sz="1300">
                <a:solidFill>
                  <a:srgbClr val="1E293B"/>
                </a:solidFill>
                <a:latin typeface="Calibri"/>
              </a:defRPr>
              <a:buChar char="▸"/>
              <a:buClr>
                <a:srgbClr val="2563EB"/>
              </a:buClr>
            </a:pPr>
            <a:r>
              <a:t>Infirmiers Freelance — Pas de plateforme, bouche-à-oreille</a:t>
            </a:r>
          </a:p>
          <a:p>
            <a:pPr>
              <a:spcAft>
                <a:spcPts val="600"/>
              </a:spcAft>
              <a:defRPr sz="1300">
                <a:solidFill>
                  <a:srgbClr val="1E293B"/>
                </a:solidFill>
                <a:latin typeface="Calibri"/>
              </a:defRPr>
              <a:buChar char="▸"/>
              <a:buClr>
                <a:srgbClr val="2563EB"/>
              </a:buClr>
            </a:pPr>
            <a:r>
              <a:t>Cliniques privées — Services à domicile limités, prix élevé</a:t>
            </a:r>
          </a:p>
        </p:txBody>
      </p:sp>
      <p:sp>
        <p:nvSpPr>
          <p:cNvPr id="8" name="Rounded Rectangle 7"/>
          <p:cNvSpPr/>
          <p:nvPr/>
        </p:nvSpPr>
        <p:spPr>
          <a:xfrm>
            <a:off x="6400800" y="1005840"/>
            <a:ext cx="2560320" cy="2194560"/>
          </a:xfrm>
          <a:prstGeom prst="roundRect">
            <a:avLst/>
          </a:prstGeom>
          <a:solidFill>
            <a:srgbClr val="FFFF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143000"/>
            <a:ext cx="2286000" cy="320040"/>
          </a:xfrm>
          <a:prstGeom prst="rect">
            <a:avLst/>
          </a:prstGeom>
          <a:noFill/>
        </p:spPr>
        <p:txBody>
          <a:bodyPr wrap="square">
            <a:spAutoFit/>
          </a:bodyPr>
          <a:lstStyle/>
          <a:p>
            <a:pPr algn="ctr">
              <a:defRPr sz="1600" b="1">
                <a:solidFill>
                  <a:srgbClr val="10B981"/>
                </a:solidFill>
                <a:latin typeface="Calibri"/>
              </a:defRPr>
            </a:pPr>
            <a:r>
              <a:t>Forces</a:t>
            </a:r>
          </a:p>
        </p:txBody>
      </p:sp>
      <p:sp>
        <p:nvSpPr>
          <p:cNvPr id="10" name="TextBox 9"/>
          <p:cNvSpPr txBox="1"/>
          <p:nvPr/>
        </p:nvSpPr>
        <p:spPr>
          <a:xfrm>
            <a:off x="6537960" y="1600200"/>
            <a:ext cx="2286000" cy="1371600"/>
          </a:xfrm>
          <a:prstGeom prst="rect">
            <a:avLst/>
          </a:prstGeom>
          <a:noFill/>
        </p:spPr>
        <p:txBody>
          <a:bodyPr wrap="square">
            <a:spAutoFit/>
          </a:bodyPr>
          <a:lstStyle/>
          <a:p>
            <a:pPr algn="ctr">
              <a:defRPr sz="1200" b="0">
                <a:solidFill>
                  <a:srgbClr val="1E293B"/>
                </a:solidFill>
                <a:latin typeface="Calibri"/>
              </a:defRPr>
            </a:pPr>
            <a:r>
              <a:t>Stack moderne, ERP intégré,</a:t>
            </a:r>
            <a:br/>
            <a:r>
              <a:t>UX soignée, code sécurisé</a:t>
            </a:r>
          </a:p>
        </p:txBody>
      </p:sp>
      <p:sp>
        <p:nvSpPr>
          <p:cNvPr id="11" name="Rounded Rectangle 10"/>
          <p:cNvSpPr/>
          <p:nvPr/>
        </p:nvSpPr>
        <p:spPr>
          <a:xfrm>
            <a:off x="9235440" y="1005840"/>
            <a:ext cx="2560320" cy="2194560"/>
          </a:xfrm>
          <a:prstGeom prst="roundRect">
            <a:avLst/>
          </a:prstGeom>
          <a:solidFill>
            <a:srgbClr val="FFFFFF"/>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72600" y="1143000"/>
            <a:ext cx="2286000" cy="320040"/>
          </a:xfrm>
          <a:prstGeom prst="rect">
            <a:avLst/>
          </a:prstGeom>
          <a:noFill/>
        </p:spPr>
        <p:txBody>
          <a:bodyPr wrap="square">
            <a:spAutoFit/>
          </a:bodyPr>
          <a:lstStyle/>
          <a:p>
            <a:pPr algn="ctr">
              <a:defRPr sz="1600" b="1">
                <a:solidFill>
                  <a:srgbClr val="EF4444"/>
                </a:solidFill>
                <a:latin typeface="Calibri"/>
              </a:defRPr>
            </a:pPr>
            <a:r>
              <a:t>Faiblesses</a:t>
            </a:r>
          </a:p>
        </p:txBody>
      </p:sp>
      <p:sp>
        <p:nvSpPr>
          <p:cNvPr id="13" name="TextBox 12"/>
          <p:cNvSpPr txBox="1"/>
          <p:nvPr/>
        </p:nvSpPr>
        <p:spPr>
          <a:xfrm>
            <a:off x="9372600" y="1600200"/>
            <a:ext cx="2286000" cy="1371600"/>
          </a:xfrm>
          <a:prstGeom prst="rect">
            <a:avLst/>
          </a:prstGeom>
          <a:noFill/>
        </p:spPr>
        <p:txBody>
          <a:bodyPr wrap="square">
            <a:spAutoFit/>
          </a:bodyPr>
          <a:lstStyle/>
          <a:p>
            <a:pPr algn="ctr">
              <a:defRPr sz="1200" b="0">
                <a:solidFill>
                  <a:srgbClr val="1E293B"/>
                </a:solidFill>
                <a:latin typeface="Calibri"/>
              </a:defRPr>
            </a:pPr>
            <a:r>
              <a:t>Projet académique,</a:t>
            </a:r>
            <a:br/>
            <a:r>
              <a:t>pas encore déployé en prod</a:t>
            </a:r>
          </a:p>
        </p:txBody>
      </p:sp>
      <p:sp>
        <p:nvSpPr>
          <p:cNvPr id="14" name="Rounded Rectangle 13"/>
          <p:cNvSpPr/>
          <p:nvPr/>
        </p:nvSpPr>
        <p:spPr>
          <a:xfrm>
            <a:off x="6400800" y="3566160"/>
            <a:ext cx="2560320" cy="219456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3703320"/>
            <a:ext cx="2286000" cy="320040"/>
          </a:xfrm>
          <a:prstGeom prst="rect">
            <a:avLst/>
          </a:prstGeom>
          <a:noFill/>
        </p:spPr>
        <p:txBody>
          <a:bodyPr wrap="square">
            <a:spAutoFit/>
          </a:bodyPr>
          <a:lstStyle/>
          <a:p>
            <a:pPr algn="ctr">
              <a:defRPr sz="1600" b="1">
                <a:solidFill>
                  <a:srgbClr val="2563EB"/>
                </a:solidFill>
                <a:latin typeface="Calibri"/>
              </a:defRPr>
            </a:pPr>
            <a:r>
              <a:t>Opportunités</a:t>
            </a:r>
          </a:p>
        </p:txBody>
      </p:sp>
      <p:sp>
        <p:nvSpPr>
          <p:cNvPr id="16" name="TextBox 15"/>
          <p:cNvSpPr txBox="1"/>
          <p:nvPr/>
        </p:nvSpPr>
        <p:spPr>
          <a:xfrm>
            <a:off x="6537960" y="4160520"/>
            <a:ext cx="2286000" cy="1371600"/>
          </a:xfrm>
          <a:prstGeom prst="rect">
            <a:avLst/>
          </a:prstGeom>
          <a:noFill/>
        </p:spPr>
        <p:txBody>
          <a:bodyPr wrap="square">
            <a:spAutoFit/>
          </a:bodyPr>
          <a:lstStyle/>
          <a:p>
            <a:pPr algn="ctr">
              <a:defRPr sz="1200" b="0">
                <a:solidFill>
                  <a:srgbClr val="1E293B"/>
                </a:solidFill>
                <a:latin typeface="Calibri"/>
              </a:defRPr>
            </a:pPr>
            <a:r>
              <a:t>Marché inexploité,</a:t>
            </a:r>
            <a:br/>
            <a:r>
              <a:t>AMO généralisée, digitalisation</a:t>
            </a:r>
          </a:p>
        </p:txBody>
      </p:sp>
      <p:sp>
        <p:nvSpPr>
          <p:cNvPr id="17" name="Rounded Rectangle 16"/>
          <p:cNvSpPr/>
          <p:nvPr/>
        </p:nvSpPr>
        <p:spPr>
          <a:xfrm>
            <a:off x="9235440" y="3566160"/>
            <a:ext cx="2560320" cy="2194560"/>
          </a:xfrm>
          <a:prstGeom prst="roundRect">
            <a:avLst/>
          </a:prstGeom>
          <a:solidFill>
            <a:srgbClr val="FFFFFF"/>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72600" y="3703320"/>
            <a:ext cx="2286000" cy="320040"/>
          </a:xfrm>
          <a:prstGeom prst="rect">
            <a:avLst/>
          </a:prstGeom>
          <a:noFill/>
        </p:spPr>
        <p:txBody>
          <a:bodyPr wrap="square">
            <a:spAutoFit/>
          </a:bodyPr>
          <a:lstStyle/>
          <a:p>
            <a:pPr algn="ctr">
              <a:defRPr sz="1600" b="1">
                <a:solidFill>
                  <a:srgbClr val="F59E0B"/>
                </a:solidFill>
                <a:latin typeface="Calibri"/>
              </a:defRPr>
            </a:pPr>
            <a:r>
              <a:t>Menaces</a:t>
            </a:r>
          </a:p>
        </p:txBody>
      </p:sp>
      <p:sp>
        <p:nvSpPr>
          <p:cNvPr id="19" name="TextBox 18"/>
          <p:cNvSpPr txBox="1"/>
          <p:nvPr/>
        </p:nvSpPr>
        <p:spPr>
          <a:xfrm>
            <a:off x="9372600" y="4160520"/>
            <a:ext cx="2286000" cy="1371600"/>
          </a:xfrm>
          <a:prstGeom prst="rect">
            <a:avLst/>
          </a:prstGeom>
          <a:noFill/>
        </p:spPr>
        <p:txBody>
          <a:bodyPr wrap="square">
            <a:spAutoFit/>
          </a:bodyPr>
          <a:lstStyle/>
          <a:p>
            <a:pPr algn="ctr">
              <a:defRPr sz="1200" b="0">
                <a:solidFill>
                  <a:srgbClr val="1E293B"/>
                </a:solidFill>
                <a:latin typeface="Calibri"/>
              </a:defRPr>
            </a:pPr>
            <a:r>
              <a:t>Nouveaux entrants,</a:t>
            </a:r>
            <a:br/>
            <a:r>
              <a:t>résistance au changement</a:t>
            </a:r>
          </a:p>
        </p:txBody>
      </p:sp>
      <p:sp>
        <p:nvSpPr>
          <p:cNvPr id="20" name="TextBox 19"/>
          <p:cNvSpPr txBox="1"/>
          <p:nvPr/>
        </p:nvSpPr>
        <p:spPr>
          <a:xfrm>
            <a:off x="457200" y="6309360"/>
            <a:ext cx="10972800" cy="365760"/>
          </a:xfrm>
          <a:prstGeom prst="rect">
            <a:avLst/>
          </a:prstGeom>
          <a:noFill/>
        </p:spPr>
        <p:txBody>
          <a:bodyPr wrap="none">
            <a:spAutoFit/>
          </a:bodyPr>
          <a:lstStyle/>
          <a:p>
            <a:pPr algn="ctr">
              <a:defRPr sz="900">
                <a:solidFill>
                  <a:srgbClr val="94A3B8"/>
                </a:solidFill>
              </a:defRPr>
            </a:pPr>
            <a:r>
              <a:t>Dar-Soins — PFE Licence Pro IFIAG 2025/2026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563E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IV. Business Model &amp; Business Plan</a:t>
            </a:r>
          </a:p>
        </p:txBody>
      </p:sp>
      <p:sp>
        <p:nvSpPr>
          <p:cNvPr id="5" name="TextBox 4"/>
          <p:cNvSpPr txBox="1"/>
          <p:nvPr/>
        </p:nvSpPr>
        <p:spPr>
          <a:xfrm>
            <a:off x="914400" y="3657600"/>
            <a:ext cx="10058400" cy="914400"/>
          </a:xfrm>
          <a:prstGeom prst="rect">
            <a:avLst/>
          </a:prstGeom>
          <a:noFill/>
        </p:spPr>
        <p:txBody>
          <a:bodyPr wrap="square">
            <a:spAutoFit/>
          </a:bodyPr>
          <a:lstStyle/>
          <a:p>
            <a:pPr algn="ctr">
              <a:defRPr sz="2000" b="0">
                <a:solidFill>
                  <a:srgbClr val="BFDBFE"/>
                </a:solidFill>
                <a:latin typeface="Calibri"/>
              </a:defRPr>
            </a:pPr>
            <a:r>
              <a:t>Modèle économique et projections financières</a:t>
            </a:r>
          </a:p>
        </p:txBody>
      </p:sp>
      <p:sp>
        <p:nvSpPr>
          <p:cNvPr id="6" name="TextBox 5"/>
          <p:cNvSpPr txBox="1"/>
          <p:nvPr/>
        </p:nvSpPr>
        <p:spPr>
          <a:xfrm>
            <a:off x="457200" y="6309360"/>
            <a:ext cx="10972800" cy="365760"/>
          </a:xfrm>
          <a:prstGeom prst="rect">
            <a:avLst/>
          </a:prstGeom>
          <a:noFill/>
        </p:spPr>
        <p:txBody>
          <a:bodyPr wrap="none">
            <a:spAutoFit/>
          </a:bodyPr>
          <a:lstStyle/>
          <a:p>
            <a:pPr algn="ctr">
              <a:defRPr sz="900">
                <a:solidFill>
                  <a:srgbClr val="94A3B8"/>
                </a:solidFill>
              </a:defRPr>
            </a:pPr>
            <a:r>
              <a:t>Dar-Soins — PFE Licence Pro IFIAG 2025/2026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548640" y="228600"/>
            <a:ext cx="731520" cy="731520"/>
          </a:xfrm>
          <a:prstGeom prst="rect">
            <a:avLst/>
          </a:prstGeom>
        </p:spPr>
      </p:pic>
      <p:sp>
        <p:nvSpPr>
          <p:cNvPr id="5" name="TextBox 4"/>
          <p:cNvSpPr txBox="1"/>
          <p:nvPr/>
        </p:nvSpPr>
        <p:spPr>
          <a:xfrm>
            <a:off x="1463040" y="274320"/>
            <a:ext cx="9144000" cy="548640"/>
          </a:xfrm>
          <a:prstGeom prst="rect">
            <a:avLst/>
          </a:prstGeom>
          <a:noFill/>
        </p:spPr>
        <p:txBody>
          <a:bodyPr wrap="square">
            <a:spAutoFit/>
          </a:bodyPr>
          <a:lstStyle/>
          <a:p>
            <a:pPr algn="l">
              <a:defRPr sz="2800" b="1">
                <a:solidFill>
                  <a:srgbClr val="2563EB"/>
                </a:solidFill>
                <a:latin typeface="Calibri"/>
              </a:defRPr>
            </a:pPr>
            <a:r>
              <a:t>Business Model Canvas</a:t>
            </a:r>
          </a:p>
        </p:txBody>
      </p:sp>
      <p:sp>
        <p:nvSpPr>
          <p:cNvPr id="6" name="Rounded Rectangle 5"/>
          <p:cNvSpPr/>
          <p:nvPr/>
        </p:nvSpPr>
        <p:spPr>
          <a:xfrm>
            <a:off x="548640" y="1097280"/>
            <a:ext cx="2286000" cy="20116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170432"/>
            <a:ext cx="2103120" cy="365760"/>
          </a:xfrm>
          <a:prstGeom prst="rect">
            <a:avLst/>
          </a:prstGeom>
          <a:noFill/>
        </p:spPr>
        <p:txBody>
          <a:bodyPr wrap="square">
            <a:spAutoFit/>
          </a:bodyPr>
          <a:lstStyle/>
          <a:p>
            <a:pPr algn="l">
              <a:defRPr sz="1000" b="1">
                <a:solidFill>
                  <a:srgbClr val="2563EB"/>
                </a:solidFill>
                <a:latin typeface="Calibri"/>
              </a:defRPr>
            </a:pPr>
            <a:r>
              <a:t>Partenaires Clés</a:t>
            </a:r>
          </a:p>
        </p:txBody>
      </p:sp>
      <p:sp>
        <p:nvSpPr>
          <p:cNvPr id="8" name="TextBox 7"/>
          <p:cNvSpPr txBox="1"/>
          <p:nvPr/>
        </p:nvSpPr>
        <p:spPr>
          <a:xfrm>
            <a:off x="640080" y="1536192"/>
            <a:ext cx="2103120" cy="1508760"/>
          </a:xfrm>
          <a:prstGeom prst="rect">
            <a:avLst/>
          </a:prstGeom>
          <a:noFill/>
        </p:spPr>
        <p:txBody>
          <a:bodyPr wrap="square">
            <a:spAutoFit/>
          </a:bodyPr>
          <a:lstStyle/>
          <a:p>
            <a:pPr algn="l">
              <a:defRPr sz="900" b="0">
                <a:solidFill>
                  <a:srgbClr val="1E293B"/>
                </a:solidFill>
                <a:latin typeface="Calibri"/>
              </a:defRPr>
            </a:pPr>
            <a:r>
              <a:t>Infirmiers diplômés</a:t>
            </a:r>
            <a:br/>
            <a:r>
              <a:t>Fournisseurs médicaux</a:t>
            </a:r>
            <a:br/>
            <a:r>
              <a:t>Assurances (AMO)</a:t>
            </a:r>
          </a:p>
        </p:txBody>
      </p:sp>
      <p:sp>
        <p:nvSpPr>
          <p:cNvPr id="9" name="Rounded Rectangle 8"/>
          <p:cNvSpPr/>
          <p:nvPr/>
        </p:nvSpPr>
        <p:spPr>
          <a:xfrm>
            <a:off x="2926080" y="1097280"/>
            <a:ext cx="2286000" cy="20116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17520" y="1170432"/>
            <a:ext cx="2103120" cy="365760"/>
          </a:xfrm>
          <a:prstGeom prst="rect">
            <a:avLst/>
          </a:prstGeom>
          <a:noFill/>
        </p:spPr>
        <p:txBody>
          <a:bodyPr wrap="square">
            <a:spAutoFit/>
          </a:bodyPr>
          <a:lstStyle/>
          <a:p>
            <a:pPr algn="l">
              <a:defRPr sz="1000" b="1">
                <a:solidFill>
                  <a:srgbClr val="2563EB"/>
                </a:solidFill>
                <a:latin typeface="Calibri"/>
              </a:defRPr>
            </a:pPr>
            <a:r>
              <a:t>Activités Clés</a:t>
            </a:r>
          </a:p>
        </p:txBody>
      </p:sp>
      <p:sp>
        <p:nvSpPr>
          <p:cNvPr id="11" name="TextBox 10"/>
          <p:cNvSpPr txBox="1"/>
          <p:nvPr/>
        </p:nvSpPr>
        <p:spPr>
          <a:xfrm>
            <a:off x="3017520" y="1536192"/>
            <a:ext cx="2103120" cy="1508760"/>
          </a:xfrm>
          <a:prstGeom prst="rect">
            <a:avLst/>
          </a:prstGeom>
          <a:noFill/>
        </p:spPr>
        <p:txBody>
          <a:bodyPr wrap="square">
            <a:spAutoFit/>
          </a:bodyPr>
          <a:lstStyle/>
          <a:p>
            <a:pPr algn="l">
              <a:defRPr sz="900" b="0">
                <a:solidFill>
                  <a:srgbClr val="1E293B"/>
                </a:solidFill>
                <a:latin typeface="Calibri"/>
              </a:defRPr>
            </a:pPr>
            <a:r>
              <a:t>Plateforme web</a:t>
            </a:r>
            <a:br/>
            <a:r>
              <a:t>Mise en relation</a:t>
            </a:r>
            <a:br/>
            <a:r>
              <a:t>Gestion ERP</a:t>
            </a:r>
            <a:br/>
            <a:r>
              <a:t>Facturation</a:t>
            </a:r>
          </a:p>
        </p:txBody>
      </p:sp>
      <p:sp>
        <p:nvSpPr>
          <p:cNvPr id="12" name="Rounded Rectangle 11"/>
          <p:cNvSpPr/>
          <p:nvPr/>
        </p:nvSpPr>
        <p:spPr>
          <a:xfrm>
            <a:off x="5303520" y="1097280"/>
            <a:ext cx="2011680" cy="20116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94960" y="1170432"/>
            <a:ext cx="1828800" cy="365760"/>
          </a:xfrm>
          <a:prstGeom prst="rect">
            <a:avLst/>
          </a:prstGeom>
          <a:noFill/>
        </p:spPr>
        <p:txBody>
          <a:bodyPr wrap="square">
            <a:spAutoFit/>
          </a:bodyPr>
          <a:lstStyle/>
          <a:p>
            <a:pPr algn="l">
              <a:defRPr sz="1000" b="1">
                <a:solidFill>
                  <a:srgbClr val="2563EB"/>
                </a:solidFill>
                <a:latin typeface="Calibri"/>
              </a:defRPr>
            </a:pPr>
            <a:r>
              <a:t>Proposition de</a:t>
            </a:r>
            <a:br/>
            <a:r>
              <a:t>Valeur</a:t>
            </a:r>
          </a:p>
        </p:txBody>
      </p:sp>
      <p:sp>
        <p:nvSpPr>
          <p:cNvPr id="14" name="TextBox 13"/>
          <p:cNvSpPr txBox="1"/>
          <p:nvPr/>
        </p:nvSpPr>
        <p:spPr>
          <a:xfrm>
            <a:off x="5394960" y="1536192"/>
            <a:ext cx="1828800" cy="1508760"/>
          </a:xfrm>
          <a:prstGeom prst="rect">
            <a:avLst/>
          </a:prstGeom>
          <a:noFill/>
        </p:spPr>
        <p:txBody>
          <a:bodyPr wrap="square">
            <a:spAutoFit/>
          </a:bodyPr>
          <a:lstStyle/>
          <a:p>
            <a:pPr algn="l">
              <a:defRPr sz="900" b="0">
                <a:solidFill>
                  <a:srgbClr val="1E293B"/>
                </a:solidFill>
                <a:latin typeface="Calibri"/>
              </a:defRPr>
            </a:pPr>
            <a:r>
              <a:t>Soins à domicile</a:t>
            </a:r>
            <a:br/>
            <a:r>
              <a:t>digitalisés,</a:t>
            </a:r>
            <a:br/>
            <a:r>
              <a:t>transparents</a:t>
            </a:r>
            <a:br/>
            <a:r>
              <a:t>et sécurisés</a:t>
            </a:r>
          </a:p>
        </p:txBody>
      </p:sp>
      <p:sp>
        <p:nvSpPr>
          <p:cNvPr id="15" name="Rounded Rectangle 14"/>
          <p:cNvSpPr/>
          <p:nvPr/>
        </p:nvSpPr>
        <p:spPr>
          <a:xfrm>
            <a:off x="7406640" y="1097280"/>
            <a:ext cx="2286000" cy="20116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0" y="1170432"/>
            <a:ext cx="2103120" cy="365760"/>
          </a:xfrm>
          <a:prstGeom prst="rect">
            <a:avLst/>
          </a:prstGeom>
          <a:noFill/>
        </p:spPr>
        <p:txBody>
          <a:bodyPr wrap="square">
            <a:spAutoFit/>
          </a:bodyPr>
          <a:lstStyle/>
          <a:p>
            <a:pPr algn="l">
              <a:defRPr sz="1000" b="1">
                <a:solidFill>
                  <a:srgbClr val="2563EB"/>
                </a:solidFill>
                <a:latin typeface="Calibri"/>
              </a:defRPr>
            </a:pPr>
            <a:r>
              <a:t>Relation Client</a:t>
            </a:r>
          </a:p>
        </p:txBody>
      </p:sp>
      <p:sp>
        <p:nvSpPr>
          <p:cNvPr id="17" name="TextBox 16"/>
          <p:cNvSpPr txBox="1"/>
          <p:nvPr/>
        </p:nvSpPr>
        <p:spPr>
          <a:xfrm>
            <a:off x="7498080" y="1536192"/>
            <a:ext cx="2103120" cy="1508760"/>
          </a:xfrm>
          <a:prstGeom prst="rect">
            <a:avLst/>
          </a:prstGeom>
          <a:noFill/>
        </p:spPr>
        <p:txBody>
          <a:bodyPr wrap="square">
            <a:spAutoFit/>
          </a:bodyPr>
          <a:lstStyle/>
          <a:p>
            <a:pPr algn="l">
              <a:defRPr sz="900" b="0">
                <a:solidFill>
                  <a:srgbClr val="1E293B"/>
                </a:solidFill>
                <a:latin typeface="Calibri"/>
              </a:defRPr>
            </a:pPr>
            <a:r>
              <a:t>Application web</a:t>
            </a:r>
            <a:br/>
            <a:r>
              <a:t>Notifications</a:t>
            </a:r>
            <a:br/>
            <a:r>
              <a:t>Devis/Facture auto</a:t>
            </a:r>
            <a:br/>
            <a:r>
              <a:t>Support</a:t>
            </a:r>
          </a:p>
        </p:txBody>
      </p:sp>
      <p:sp>
        <p:nvSpPr>
          <p:cNvPr id="18" name="Rounded Rectangle 17"/>
          <p:cNvSpPr/>
          <p:nvPr/>
        </p:nvSpPr>
        <p:spPr>
          <a:xfrm>
            <a:off x="9784080" y="1097280"/>
            <a:ext cx="2011680" cy="20116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0" y="1170432"/>
            <a:ext cx="1828800" cy="365760"/>
          </a:xfrm>
          <a:prstGeom prst="rect">
            <a:avLst/>
          </a:prstGeom>
          <a:noFill/>
        </p:spPr>
        <p:txBody>
          <a:bodyPr wrap="square">
            <a:spAutoFit/>
          </a:bodyPr>
          <a:lstStyle/>
          <a:p>
            <a:pPr algn="l">
              <a:defRPr sz="1000" b="1">
                <a:solidFill>
                  <a:srgbClr val="2563EB"/>
                </a:solidFill>
                <a:latin typeface="Calibri"/>
              </a:defRPr>
            </a:pPr>
            <a:r>
              <a:t>Segments Clients</a:t>
            </a:r>
          </a:p>
        </p:txBody>
      </p:sp>
      <p:sp>
        <p:nvSpPr>
          <p:cNvPr id="20" name="TextBox 19"/>
          <p:cNvSpPr txBox="1"/>
          <p:nvPr/>
        </p:nvSpPr>
        <p:spPr>
          <a:xfrm>
            <a:off x="9875520" y="1536192"/>
            <a:ext cx="1828800" cy="1508760"/>
          </a:xfrm>
          <a:prstGeom prst="rect">
            <a:avLst/>
          </a:prstGeom>
          <a:noFill/>
        </p:spPr>
        <p:txBody>
          <a:bodyPr wrap="square">
            <a:spAutoFit/>
          </a:bodyPr>
          <a:lstStyle/>
          <a:p>
            <a:pPr algn="l">
              <a:defRPr sz="900" b="0">
                <a:solidFill>
                  <a:srgbClr val="1E293B"/>
                </a:solidFill>
                <a:latin typeface="Calibri"/>
              </a:defRPr>
            </a:pPr>
            <a:r>
              <a:t>Patients chroniques</a:t>
            </a:r>
            <a:br/>
            <a:r>
              <a:t>Personnes âgées</a:t>
            </a:r>
            <a:br/>
            <a:r>
              <a:t>Post-opératoires</a:t>
            </a:r>
            <a:br/>
            <a:r>
              <a:t>Entreprises</a:t>
            </a:r>
          </a:p>
        </p:txBody>
      </p:sp>
      <p:sp>
        <p:nvSpPr>
          <p:cNvPr id="21" name="Rounded Rectangle 20"/>
          <p:cNvSpPr/>
          <p:nvPr/>
        </p:nvSpPr>
        <p:spPr>
          <a:xfrm>
            <a:off x="2926080" y="3566160"/>
            <a:ext cx="2286000" cy="20116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017520" y="3639312"/>
            <a:ext cx="2103120" cy="365760"/>
          </a:xfrm>
          <a:prstGeom prst="rect">
            <a:avLst/>
          </a:prstGeom>
          <a:noFill/>
        </p:spPr>
        <p:txBody>
          <a:bodyPr wrap="square">
            <a:spAutoFit/>
          </a:bodyPr>
          <a:lstStyle/>
          <a:p>
            <a:pPr algn="l">
              <a:defRPr sz="1000" b="1">
                <a:solidFill>
                  <a:srgbClr val="2563EB"/>
                </a:solidFill>
                <a:latin typeface="Calibri"/>
              </a:defRPr>
            </a:pPr>
            <a:r>
              <a:t>Ressources Clés</a:t>
            </a:r>
          </a:p>
        </p:txBody>
      </p:sp>
      <p:sp>
        <p:nvSpPr>
          <p:cNvPr id="23" name="TextBox 22"/>
          <p:cNvSpPr txBox="1"/>
          <p:nvPr/>
        </p:nvSpPr>
        <p:spPr>
          <a:xfrm>
            <a:off x="3017520" y="4005072"/>
            <a:ext cx="2103120" cy="1508760"/>
          </a:xfrm>
          <a:prstGeom prst="rect">
            <a:avLst/>
          </a:prstGeom>
          <a:noFill/>
        </p:spPr>
        <p:txBody>
          <a:bodyPr wrap="square">
            <a:spAutoFit/>
          </a:bodyPr>
          <a:lstStyle/>
          <a:p>
            <a:pPr algn="l">
              <a:defRPr sz="900" b="0">
                <a:solidFill>
                  <a:srgbClr val="1E293B"/>
                </a:solidFill>
                <a:latin typeface="Calibri"/>
              </a:defRPr>
            </a:pPr>
            <a:r>
              <a:t>Développeurs</a:t>
            </a:r>
            <a:br/>
            <a:r>
              <a:t>Infirmiers partenaires</a:t>
            </a:r>
            <a:br/>
            <a:r>
              <a:t>Infrastructure cloud</a:t>
            </a:r>
          </a:p>
        </p:txBody>
      </p:sp>
      <p:sp>
        <p:nvSpPr>
          <p:cNvPr id="24" name="Rounded Rectangle 23"/>
          <p:cNvSpPr/>
          <p:nvPr/>
        </p:nvSpPr>
        <p:spPr>
          <a:xfrm>
            <a:off x="7406640" y="3566160"/>
            <a:ext cx="2286000" cy="20116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0" y="3639312"/>
            <a:ext cx="2103120" cy="365760"/>
          </a:xfrm>
          <a:prstGeom prst="rect">
            <a:avLst/>
          </a:prstGeom>
          <a:noFill/>
        </p:spPr>
        <p:txBody>
          <a:bodyPr wrap="square">
            <a:spAutoFit/>
          </a:bodyPr>
          <a:lstStyle/>
          <a:p>
            <a:pPr algn="l">
              <a:defRPr sz="1000" b="1">
                <a:solidFill>
                  <a:srgbClr val="2563EB"/>
                </a:solidFill>
                <a:latin typeface="Calibri"/>
              </a:defRPr>
            </a:pPr>
            <a:r>
              <a:t>Canaux</a:t>
            </a:r>
          </a:p>
        </p:txBody>
      </p:sp>
      <p:sp>
        <p:nvSpPr>
          <p:cNvPr id="26" name="TextBox 25"/>
          <p:cNvSpPr txBox="1"/>
          <p:nvPr/>
        </p:nvSpPr>
        <p:spPr>
          <a:xfrm>
            <a:off x="7498080" y="4005072"/>
            <a:ext cx="2103120" cy="1508760"/>
          </a:xfrm>
          <a:prstGeom prst="rect">
            <a:avLst/>
          </a:prstGeom>
          <a:noFill/>
        </p:spPr>
        <p:txBody>
          <a:bodyPr wrap="square">
            <a:spAutoFit/>
          </a:bodyPr>
          <a:lstStyle/>
          <a:p>
            <a:pPr algn="l">
              <a:defRPr sz="900" b="0">
                <a:solidFill>
                  <a:srgbClr val="1E293B"/>
                </a:solidFill>
                <a:latin typeface="Calibri"/>
              </a:defRPr>
            </a:pPr>
            <a:r>
              <a:t>Site web</a:t>
            </a:r>
            <a:br/>
            <a:r>
              <a:t>Référencement SEO</a:t>
            </a:r>
            <a:br/>
            <a:r>
              <a:t>Réseaux sociaux</a:t>
            </a:r>
            <a:br/>
            <a:r>
              <a:t>Partenariats</a:t>
            </a:r>
          </a:p>
        </p:txBody>
      </p:sp>
      <p:sp>
        <p:nvSpPr>
          <p:cNvPr id="27" name="Rounded Rectangle 26"/>
          <p:cNvSpPr/>
          <p:nvPr/>
        </p:nvSpPr>
        <p:spPr>
          <a:xfrm>
            <a:off x="548640" y="5303520"/>
            <a:ext cx="5303520" cy="1097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5376672"/>
            <a:ext cx="5120640" cy="365760"/>
          </a:xfrm>
          <a:prstGeom prst="rect">
            <a:avLst/>
          </a:prstGeom>
          <a:noFill/>
        </p:spPr>
        <p:txBody>
          <a:bodyPr wrap="square">
            <a:spAutoFit/>
          </a:bodyPr>
          <a:lstStyle/>
          <a:p>
            <a:pPr algn="l">
              <a:defRPr sz="1000" b="1">
                <a:solidFill>
                  <a:srgbClr val="2563EB"/>
                </a:solidFill>
                <a:latin typeface="Calibri"/>
              </a:defRPr>
            </a:pPr>
            <a:r>
              <a:t>Structure de Coûts</a:t>
            </a:r>
          </a:p>
        </p:txBody>
      </p:sp>
      <p:sp>
        <p:nvSpPr>
          <p:cNvPr id="29" name="TextBox 28"/>
          <p:cNvSpPr txBox="1"/>
          <p:nvPr/>
        </p:nvSpPr>
        <p:spPr>
          <a:xfrm>
            <a:off x="640080" y="5742432"/>
            <a:ext cx="5120640" cy="594360"/>
          </a:xfrm>
          <a:prstGeom prst="rect">
            <a:avLst/>
          </a:prstGeom>
          <a:noFill/>
        </p:spPr>
        <p:txBody>
          <a:bodyPr wrap="square">
            <a:spAutoFit/>
          </a:bodyPr>
          <a:lstStyle/>
          <a:p>
            <a:pPr algn="l">
              <a:defRPr sz="900" b="0">
                <a:solidFill>
                  <a:srgbClr val="1E293B"/>
                </a:solidFill>
                <a:latin typeface="Calibri"/>
              </a:defRPr>
            </a:pPr>
            <a:r>
              <a:t>Hébergement cloud · Développement · Marketing · Support technique</a:t>
            </a:r>
          </a:p>
        </p:txBody>
      </p:sp>
      <p:sp>
        <p:nvSpPr>
          <p:cNvPr id="30" name="Rounded Rectangle 29"/>
          <p:cNvSpPr/>
          <p:nvPr/>
        </p:nvSpPr>
        <p:spPr>
          <a:xfrm>
            <a:off x="6035040" y="5303520"/>
            <a:ext cx="5760720" cy="10972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26480" y="5376672"/>
            <a:ext cx="5577840" cy="365760"/>
          </a:xfrm>
          <a:prstGeom prst="rect">
            <a:avLst/>
          </a:prstGeom>
          <a:noFill/>
        </p:spPr>
        <p:txBody>
          <a:bodyPr wrap="square">
            <a:spAutoFit/>
          </a:bodyPr>
          <a:lstStyle/>
          <a:p>
            <a:pPr algn="l">
              <a:defRPr sz="1000" b="1">
                <a:solidFill>
                  <a:srgbClr val="2563EB"/>
                </a:solidFill>
                <a:latin typeface="Calibri"/>
              </a:defRPr>
            </a:pPr>
            <a:r>
              <a:t>Sources de Revenus</a:t>
            </a:r>
          </a:p>
        </p:txBody>
      </p:sp>
      <p:sp>
        <p:nvSpPr>
          <p:cNvPr id="32" name="TextBox 31"/>
          <p:cNvSpPr txBox="1"/>
          <p:nvPr/>
        </p:nvSpPr>
        <p:spPr>
          <a:xfrm>
            <a:off x="6126480" y="5742432"/>
            <a:ext cx="5577840" cy="594360"/>
          </a:xfrm>
          <a:prstGeom prst="rect">
            <a:avLst/>
          </a:prstGeom>
          <a:noFill/>
        </p:spPr>
        <p:txBody>
          <a:bodyPr wrap="square">
            <a:spAutoFit/>
          </a:bodyPr>
          <a:lstStyle/>
          <a:p>
            <a:pPr algn="l">
              <a:defRPr sz="900" b="0">
                <a:solidFill>
                  <a:srgbClr val="1E293B"/>
                </a:solidFill>
                <a:latin typeface="Calibri"/>
              </a:defRPr>
            </a:pPr>
            <a:r>
              <a:t>Commission par intervention (15-20%) · Abonnements Premium · Vente de matériel médical</a:t>
            </a:r>
          </a:p>
        </p:txBody>
      </p:sp>
      <p:sp>
        <p:nvSpPr>
          <p:cNvPr id="33" name="TextBox 32"/>
          <p:cNvSpPr txBox="1"/>
          <p:nvPr/>
        </p:nvSpPr>
        <p:spPr>
          <a:xfrm>
            <a:off x="457200" y="6309360"/>
            <a:ext cx="10972800" cy="365760"/>
          </a:xfrm>
          <a:prstGeom prst="rect">
            <a:avLst/>
          </a:prstGeom>
          <a:noFill/>
        </p:spPr>
        <p:txBody>
          <a:bodyPr wrap="none">
            <a:spAutoFit/>
          </a:bodyPr>
          <a:lstStyle/>
          <a:p>
            <a:pPr algn="ctr">
              <a:defRPr sz="900">
                <a:solidFill>
                  <a:srgbClr val="94A3B8"/>
                </a:solidFill>
              </a:defRPr>
            </a:pPr>
            <a:r>
              <a:t>Dar-Soins — PFE Licence Pro IFIAG 2025/2026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548640" y="228600"/>
            <a:ext cx="731520" cy="731520"/>
          </a:xfrm>
          <a:prstGeom prst="rect">
            <a:avLst/>
          </a:prstGeom>
        </p:spPr>
      </p:pic>
      <p:sp>
        <p:nvSpPr>
          <p:cNvPr id="5" name="TextBox 4"/>
          <p:cNvSpPr txBox="1"/>
          <p:nvPr/>
        </p:nvSpPr>
        <p:spPr>
          <a:xfrm>
            <a:off x="1463040" y="274320"/>
            <a:ext cx="9144000" cy="548640"/>
          </a:xfrm>
          <a:prstGeom prst="rect">
            <a:avLst/>
          </a:prstGeom>
          <a:noFill/>
        </p:spPr>
        <p:txBody>
          <a:bodyPr wrap="square">
            <a:spAutoFit/>
          </a:bodyPr>
          <a:lstStyle/>
          <a:p>
            <a:pPr algn="l">
              <a:defRPr sz="2800" b="1">
                <a:solidFill>
                  <a:srgbClr val="2563EB"/>
                </a:solidFill>
                <a:latin typeface="Calibri"/>
              </a:defRPr>
            </a:pPr>
            <a:r>
              <a:t>Business Plan — Projections sur 3 Ans</a:t>
            </a:r>
          </a:p>
        </p:txBody>
      </p:sp>
      <p:sp>
        <p:nvSpPr>
          <p:cNvPr id="6" name="Rectangle 5"/>
          <p:cNvSpPr/>
          <p:nvPr/>
        </p:nvSpPr>
        <p:spPr>
          <a:xfrm>
            <a:off x="731520" y="1188720"/>
            <a:ext cx="2926080" cy="4114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234440"/>
            <a:ext cx="2743200" cy="320040"/>
          </a:xfrm>
          <a:prstGeom prst="rect">
            <a:avLst/>
          </a:prstGeom>
          <a:noFill/>
        </p:spPr>
        <p:txBody>
          <a:bodyPr wrap="square">
            <a:spAutoFit/>
          </a:bodyPr>
          <a:lstStyle/>
          <a:p>
            <a:pPr algn="ctr">
              <a:defRPr sz="1300" b="1">
                <a:solidFill>
                  <a:srgbClr val="FFFFFF"/>
                </a:solidFill>
                <a:latin typeface="Calibri"/>
              </a:defRPr>
            </a:pPr>
            <a:r>
              <a:t>Indicateur</a:t>
            </a:r>
          </a:p>
        </p:txBody>
      </p:sp>
      <p:sp>
        <p:nvSpPr>
          <p:cNvPr id="8" name="Rectangle 7"/>
          <p:cNvSpPr/>
          <p:nvPr/>
        </p:nvSpPr>
        <p:spPr>
          <a:xfrm>
            <a:off x="3840480" y="1188720"/>
            <a:ext cx="2286000" cy="4114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931920" y="1234440"/>
            <a:ext cx="2103120" cy="320040"/>
          </a:xfrm>
          <a:prstGeom prst="rect">
            <a:avLst/>
          </a:prstGeom>
          <a:noFill/>
        </p:spPr>
        <p:txBody>
          <a:bodyPr wrap="square">
            <a:spAutoFit/>
          </a:bodyPr>
          <a:lstStyle/>
          <a:p>
            <a:pPr algn="ctr">
              <a:defRPr sz="1300" b="1">
                <a:solidFill>
                  <a:srgbClr val="FFFFFF"/>
                </a:solidFill>
                <a:latin typeface="Calibri"/>
              </a:defRPr>
            </a:pPr>
            <a:r>
              <a:t>Année 1</a:t>
            </a:r>
          </a:p>
        </p:txBody>
      </p:sp>
      <p:sp>
        <p:nvSpPr>
          <p:cNvPr id="10" name="Rectangle 9"/>
          <p:cNvSpPr/>
          <p:nvPr/>
        </p:nvSpPr>
        <p:spPr>
          <a:xfrm>
            <a:off x="6309360" y="1188720"/>
            <a:ext cx="2286000" cy="4114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234440"/>
            <a:ext cx="2103120" cy="320040"/>
          </a:xfrm>
          <a:prstGeom prst="rect">
            <a:avLst/>
          </a:prstGeom>
          <a:noFill/>
        </p:spPr>
        <p:txBody>
          <a:bodyPr wrap="square">
            <a:spAutoFit/>
          </a:bodyPr>
          <a:lstStyle/>
          <a:p>
            <a:pPr algn="ctr">
              <a:defRPr sz="1300" b="1">
                <a:solidFill>
                  <a:srgbClr val="FFFFFF"/>
                </a:solidFill>
                <a:latin typeface="Calibri"/>
              </a:defRPr>
            </a:pPr>
            <a:r>
              <a:t>Année 2</a:t>
            </a:r>
          </a:p>
        </p:txBody>
      </p:sp>
      <p:sp>
        <p:nvSpPr>
          <p:cNvPr id="12" name="Rectangle 11"/>
          <p:cNvSpPr/>
          <p:nvPr/>
        </p:nvSpPr>
        <p:spPr>
          <a:xfrm>
            <a:off x="8778240" y="1188720"/>
            <a:ext cx="2286000" cy="4114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69680" y="1234440"/>
            <a:ext cx="2103120" cy="320040"/>
          </a:xfrm>
          <a:prstGeom prst="rect">
            <a:avLst/>
          </a:prstGeom>
          <a:noFill/>
        </p:spPr>
        <p:txBody>
          <a:bodyPr wrap="square">
            <a:spAutoFit/>
          </a:bodyPr>
          <a:lstStyle/>
          <a:p>
            <a:pPr algn="ctr">
              <a:defRPr sz="1300" b="1">
                <a:solidFill>
                  <a:srgbClr val="FFFFFF"/>
                </a:solidFill>
                <a:latin typeface="Calibri"/>
              </a:defRPr>
            </a:pPr>
            <a:r>
              <a:t>Année 3</a:t>
            </a:r>
          </a:p>
        </p:txBody>
      </p:sp>
      <p:sp>
        <p:nvSpPr>
          <p:cNvPr id="14" name="Rectangle 13"/>
          <p:cNvSpPr/>
          <p:nvPr/>
        </p:nvSpPr>
        <p:spPr>
          <a:xfrm>
            <a:off x="731520" y="1691640"/>
            <a:ext cx="2926080" cy="4114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1755648"/>
            <a:ext cx="2743200" cy="320040"/>
          </a:xfrm>
          <a:prstGeom prst="rect">
            <a:avLst/>
          </a:prstGeom>
          <a:noFill/>
        </p:spPr>
        <p:txBody>
          <a:bodyPr wrap="square">
            <a:spAutoFit/>
          </a:bodyPr>
          <a:lstStyle/>
          <a:p>
            <a:pPr algn="l">
              <a:defRPr sz="1200" b="0">
                <a:solidFill>
                  <a:srgbClr val="1E293B"/>
                </a:solidFill>
                <a:latin typeface="Calibri"/>
              </a:defRPr>
            </a:pPr>
            <a:r>
              <a:t>Infirmiers partenaires</a:t>
            </a:r>
          </a:p>
        </p:txBody>
      </p:sp>
      <p:sp>
        <p:nvSpPr>
          <p:cNvPr id="16" name="Rectangle 15"/>
          <p:cNvSpPr/>
          <p:nvPr/>
        </p:nvSpPr>
        <p:spPr>
          <a:xfrm>
            <a:off x="3840480" y="1691640"/>
            <a:ext cx="2286000" cy="4114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31920" y="1755648"/>
            <a:ext cx="2103120" cy="320040"/>
          </a:xfrm>
          <a:prstGeom prst="rect">
            <a:avLst/>
          </a:prstGeom>
          <a:noFill/>
        </p:spPr>
        <p:txBody>
          <a:bodyPr wrap="square">
            <a:spAutoFit/>
          </a:bodyPr>
          <a:lstStyle/>
          <a:p>
            <a:pPr algn="ctr">
              <a:defRPr sz="1200" b="1">
                <a:solidFill>
                  <a:srgbClr val="1E293B"/>
                </a:solidFill>
                <a:latin typeface="Calibri"/>
              </a:defRPr>
            </a:pPr>
            <a:r>
              <a:t>50</a:t>
            </a:r>
          </a:p>
        </p:txBody>
      </p:sp>
      <p:sp>
        <p:nvSpPr>
          <p:cNvPr id="18" name="Rectangle 17"/>
          <p:cNvSpPr/>
          <p:nvPr/>
        </p:nvSpPr>
        <p:spPr>
          <a:xfrm>
            <a:off x="6309360" y="1691640"/>
            <a:ext cx="2286000" cy="4114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1755648"/>
            <a:ext cx="2103120" cy="320040"/>
          </a:xfrm>
          <a:prstGeom prst="rect">
            <a:avLst/>
          </a:prstGeom>
          <a:noFill/>
        </p:spPr>
        <p:txBody>
          <a:bodyPr wrap="square">
            <a:spAutoFit/>
          </a:bodyPr>
          <a:lstStyle/>
          <a:p>
            <a:pPr algn="ctr">
              <a:defRPr sz="1200" b="1">
                <a:solidFill>
                  <a:srgbClr val="1E293B"/>
                </a:solidFill>
                <a:latin typeface="Calibri"/>
              </a:defRPr>
            </a:pPr>
            <a:r>
              <a:t>200</a:t>
            </a:r>
          </a:p>
        </p:txBody>
      </p:sp>
      <p:sp>
        <p:nvSpPr>
          <p:cNvPr id="20" name="Rectangle 19"/>
          <p:cNvSpPr/>
          <p:nvPr/>
        </p:nvSpPr>
        <p:spPr>
          <a:xfrm>
            <a:off x="8778240" y="1691640"/>
            <a:ext cx="2286000" cy="4114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69680" y="1755648"/>
            <a:ext cx="2103120" cy="320040"/>
          </a:xfrm>
          <a:prstGeom prst="rect">
            <a:avLst/>
          </a:prstGeom>
          <a:noFill/>
        </p:spPr>
        <p:txBody>
          <a:bodyPr wrap="square">
            <a:spAutoFit/>
          </a:bodyPr>
          <a:lstStyle/>
          <a:p>
            <a:pPr algn="ctr">
              <a:defRPr sz="1200" b="1">
                <a:solidFill>
                  <a:srgbClr val="1E293B"/>
                </a:solidFill>
                <a:latin typeface="Calibri"/>
              </a:defRPr>
            </a:pPr>
            <a:r>
              <a:t>500</a:t>
            </a:r>
          </a:p>
        </p:txBody>
      </p:sp>
      <p:sp>
        <p:nvSpPr>
          <p:cNvPr id="22" name="Rectangle 21"/>
          <p:cNvSpPr/>
          <p:nvPr/>
        </p:nvSpPr>
        <p:spPr>
          <a:xfrm>
            <a:off x="731520" y="2130552"/>
            <a:ext cx="2926080" cy="411480"/>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2194560"/>
            <a:ext cx="2743200" cy="320040"/>
          </a:xfrm>
          <a:prstGeom prst="rect">
            <a:avLst/>
          </a:prstGeom>
          <a:noFill/>
        </p:spPr>
        <p:txBody>
          <a:bodyPr wrap="square">
            <a:spAutoFit/>
          </a:bodyPr>
          <a:lstStyle/>
          <a:p>
            <a:pPr algn="l">
              <a:defRPr sz="1200" b="0">
                <a:solidFill>
                  <a:srgbClr val="1E293B"/>
                </a:solidFill>
                <a:latin typeface="Calibri"/>
              </a:defRPr>
            </a:pPr>
            <a:r>
              <a:t>Interventions / mois</a:t>
            </a:r>
          </a:p>
        </p:txBody>
      </p:sp>
      <p:sp>
        <p:nvSpPr>
          <p:cNvPr id="24" name="Rectangle 23"/>
          <p:cNvSpPr/>
          <p:nvPr/>
        </p:nvSpPr>
        <p:spPr>
          <a:xfrm>
            <a:off x="3840480" y="2130552"/>
            <a:ext cx="2286000" cy="411480"/>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31920" y="2194560"/>
            <a:ext cx="2103120" cy="320040"/>
          </a:xfrm>
          <a:prstGeom prst="rect">
            <a:avLst/>
          </a:prstGeom>
          <a:noFill/>
        </p:spPr>
        <p:txBody>
          <a:bodyPr wrap="square">
            <a:spAutoFit/>
          </a:bodyPr>
          <a:lstStyle/>
          <a:p>
            <a:pPr algn="ctr">
              <a:defRPr sz="1200" b="1">
                <a:solidFill>
                  <a:srgbClr val="1E293B"/>
                </a:solidFill>
                <a:latin typeface="Calibri"/>
              </a:defRPr>
            </a:pPr>
            <a:r>
              <a:t>300</a:t>
            </a:r>
          </a:p>
        </p:txBody>
      </p:sp>
      <p:sp>
        <p:nvSpPr>
          <p:cNvPr id="26" name="Rectangle 25"/>
          <p:cNvSpPr/>
          <p:nvPr/>
        </p:nvSpPr>
        <p:spPr>
          <a:xfrm>
            <a:off x="6309360" y="2130552"/>
            <a:ext cx="2286000" cy="411480"/>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2194560"/>
            <a:ext cx="2103120" cy="320040"/>
          </a:xfrm>
          <a:prstGeom prst="rect">
            <a:avLst/>
          </a:prstGeom>
          <a:noFill/>
        </p:spPr>
        <p:txBody>
          <a:bodyPr wrap="square">
            <a:spAutoFit/>
          </a:bodyPr>
          <a:lstStyle/>
          <a:p>
            <a:pPr algn="ctr">
              <a:defRPr sz="1200" b="1">
                <a:solidFill>
                  <a:srgbClr val="1E293B"/>
                </a:solidFill>
                <a:latin typeface="Calibri"/>
              </a:defRPr>
            </a:pPr>
            <a:r>
              <a:t>1 500</a:t>
            </a:r>
          </a:p>
        </p:txBody>
      </p:sp>
      <p:sp>
        <p:nvSpPr>
          <p:cNvPr id="28" name="Rectangle 27"/>
          <p:cNvSpPr/>
          <p:nvPr/>
        </p:nvSpPr>
        <p:spPr>
          <a:xfrm>
            <a:off x="8778240" y="2130552"/>
            <a:ext cx="2286000" cy="411480"/>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0" y="2194560"/>
            <a:ext cx="2103120" cy="320040"/>
          </a:xfrm>
          <a:prstGeom prst="rect">
            <a:avLst/>
          </a:prstGeom>
          <a:noFill/>
        </p:spPr>
        <p:txBody>
          <a:bodyPr wrap="square">
            <a:spAutoFit/>
          </a:bodyPr>
          <a:lstStyle/>
          <a:p>
            <a:pPr algn="ctr">
              <a:defRPr sz="1200" b="1">
                <a:solidFill>
                  <a:srgbClr val="1E293B"/>
                </a:solidFill>
                <a:latin typeface="Calibri"/>
              </a:defRPr>
            </a:pPr>
            <a:r>
              <a:t>5 000</a:t>
            </a:r>
          </a:p>
        </p:txBody>
      </p:sp>
      <p:sp>
        <p:nvSpPr>
          <p:cNvPr id="30" name="Rectangle 29"/>
          <p:cNvSpPr/>
          <p:nvPr/>
        </p:nvSpPr>
        <p:spPr>
          <a:xfrm>
            <a:off x="731520" y="2569464"/>
            <a:ext cx="2926080" cy="4114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2633472"/>
            <a:ext cx="2743200" cy="320040"/>
          </a:xfrm>
          <a:prstGeom prst="rect">
            <a:avLst/>
          </a:prstGeom>
          <a:noFill/>
        </p:spPr>
        <p:txBody>
          <a:bodyPr wrap="square">
            <a:spAutoFit/>
          </a:bodyPr>
          <a:lstStyle/>
          <a:p>
            <a:pPr algn="l">
              <a:defRPr sz="1200" b="0">
                <a:solidFill>
                  <a:srgbClr val="1E293B"/>
                </a:solidFill>
                <a:latin typeface="Calibri"/>
              </a:defRPr>
            </a:pPr>
            <a:r>
              <a:t>Chiffre d'affaires (MAD)</a:t>
            </a:r>
          </a:p>
        </p:txBody>
      </p:sp>
      <p:sp>
        <p:nvSpPr>
          <p:cNvPr id="32" name="Rectangle 31"/>
          <p:cNvSpPr/>
          <p:nvPr/>
        </p:nvSpPr>
        <p:spPr>
          <a:xfrm>
            <a:off x="3840480" y="2569464"/>
            <a:ext cx="2286000" cy="4114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931920" y="2633472"/>
            <a:ext cx="2103120" cy="320040"/>
          </a:xfrm>
          <a:prstGeom prst="rect">
            <a:avLst/>
          </a:prstGeom>
          <a:noFill/>
        </p:spPr>
        <p:txBody>
          <a:bodyPr wrap="square">
            <a:spAutoFit/>
          </a:bodyPr>
          <a:lstStyle/>
          <a:p>
            <a:pPr algn="ctr">
              <a:defRPr sz="1200" b="1">
                <a:solidFill>
                  <a:srgbClr val="1E293B"/>
                </a:solidFill>
                <a:latin typeface="Calibri"/>
              </a:defRPr>
            </a:pPr>
            <a:r>
              <a:t>180 000</a:t>
            </a:r>
          </a:p>
        </p:txBody>
      </p:sp>
      <p:sp>
        <p:nvSpPr>
          <p:cNvPr id="34" name="Rectangle 33"/>
          <p:cNvSpPr/>
          <p:nvPr/>
        </p:nvSpPr>
        <p:spPr>
          <a:xfrm>
            <a:off x="6309360" y="2569464"/>
            <a:ext cx="2286000" cy="4114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2633472"/>
            <a:ext cx="2103120" cy="320040"/>
          </a:xfrm>
          <a:prstGeom prst="rect">
            <a:avLst/>
          </a:prstGeom>
          <a:noFill/>
        </p:spPr>
        <p:txBody>
          <a:bodyPr wrap="square">
            <a:spAutoFit/>
          </a:bodyPr>
          <a:lstStyle/>
          <a:p>
            <a:pPr algn="ctr">
              <a:defRPr sz="1200" b="1">
                <a:solidFill>
                  <a:srgbClr val="1E293B"/>
                </a:solidFill>
                <a:latin typeface="Calibri"/>
              </a:defRPr>
            </a:pPr>
            <a:r>
              <a:t>1 080 000</a:t>
            </a:r>
          </a:p>
        </p:txBody>
      </p:sp>
      <p:sp>
        <p:nvSpPr>
          <p:cNvPr id="36" name="Rectangle 35"/>
          <p:cNvSpPr/>
          <p:nvPr/>
        </p:nvSpPr>
        <p:spPr>
          <a:xfrm>
            <a:off x="8778240" y="2569464"/>
            <a:ext cx="2286000" cy="4114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69680" y="2633472"/>
            <a:ext cx="2103120" cy="320040"/>
          </a:xfrm>
          <a:prstGeom prst="rect">
            <a:avLst/>
          </a:prstGeom>
          <a:noFill/>
        </p:spPr>
        <p:txBody>
          <a:bodyPr wrap="square">
            <a:spAutoFit/>
          </a:bodyPr>
          <a:lstStyle/>
          <a:p>
            <a:pPr algn="ctr">
              <a:defRPr sz="1200" b="1">
                <a:solidFill>
                  <a:srgbClr val="1E293B"/>
                </a:solidFill>
                <a:latin typeface="Calibri"/>
              </a:defRPr>
            </a:pPr>
            <a:r>
              <a:t>4 500 000</a:t>
            </a:r>
          </a:p>
        </p:txBody>
      </p:sp>
      <p:sp>
        <p:nvSpPr>
          <p:cNvPr id="38" name="Rectangle 37"/>
          <p:cNvSpPr/>
          <p:nvPr/>
        </p:nvSpPr>
        <p:spPr>
          <a:xfrm>
            <a:off x="731520" y="3008376"/>
            <a:ext cx="2926080" cy="411480"/>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960" y="3072384"/>
            <a:ext cx="2743200" cy="320040"/>
          </a:xfrm>
          <a:prstGeom prst="rect">
            <a:avLst/>
          </a:prstGeom>
          <a:noFill/>
        </p:spPr>
        <p:txBody>
          <a:bodyPr wrap="square">
            <a:spAutoFit/>
          </a:bodyPr>
          <a:lstStyle/>
          <a:p>
            <a:pPr algn="l">
              <a:defRPr sz="1200" b="0">
                <a:solidFill>
                  <a:srgbClr val="1E293B"/>
                </a:solidFill>
                <a:latin typeface="Calibri"/>
              </a:defRPr>
            </a:pPr>
            <a:r>
              <a:t>Coûts fixes annuels (MAD)</a:t>
            </a:r>
          </a:p>
        </p:txBody>
      </p:sp>
      <p:sp>
        <p:nvSpPr>
          <p:cNvPr id="40" name="Rectangle 39"/>
          <p:cNvSpPr/>
          <p:nvPr/>
        </p:nvSpPr>
        <p:spPr>
          <a:xfrm>
            <a:off x="3840480" y="3008376"/>
            <a:ext cx="2286000" cy="411480"/>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931920" y="3072384"/>
            <a:ext cx="2103120" cy="320040"/>
          </a:xfrm>
          <a:prstGeom prst="rect">
            <a:avLst/>
          </a:prstGeom>
          <a:noFill/>
        </p:spPr>
        <p:txBody>
          <a:bodyPr wrap="square">
            <a:spAutoFit/>
          </a:bodyPr>
          <a:lstStyle/>
          <a:p>
            <a:pPr algn="ctr">
              <a:defRPr sz="1200" b="1">
                <a:solidFill>
                  <a:srgbClr val="1E293B"/>
                </a:solidFill>
                <a:latin typeface="Calibri"/>
              </a:defRPr>
            </a:pPr>
            <a:r>
              <a:t>240 000</a:t>
            </a:r>
          </a:p>
        </p:txBody>
      </p:sp>
      <p:sp>
        <p:nvSpPr>
          <p:cNvPr id="42" name="Rectangle 41"/>
          <p:cNvSpPr/>
          <p:nvPr/>
        </p:nvSpPr>
        <p:spPr>
          <a:xfrm>
            <a:off x="6309360" y="3008376"/>
            <a:ext cx="2286000" cy="411480"/>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00800" y="3072384"/>
            <a:ext cx="2103120" cy="320040"/>
          </a:xfrm>
          <a:prstGeom prst="rect">
            <a:avLst/>
          </a:prstGeom>
          <a:noFill/>
        </p:spPr>
        <p:txBody>
          <a:bodyPr wrap="square">
            <a:spAutoFit/>
          </a:bodyPr>
          <a:lstStyle/>
          <a:p>
            <a:pPr algn="ctr">
              <a:defRPr sz="1200" b="1">
                <a:solidFill>
                  <a:srgbClr val="1E293B"/>
                </a:solidFill>
                <a:latin typeface="Calibri"/>
              </a:defRPr>
            </a:pPr>
            <a:r>
              <a:t>420 000</a:t>
            </a:r>
          </a:p>
        </p:txBody>
      </p:sp>
      <p:sp>
        <p:nvSpPr>
          <p:cNvPr id="44" name="Rectangle 43"/>
          <p:cNvSpPr/>
          <p:nvPr/>
        </p:nvSpPr>
        <p:spPr>
          <a:xfrm>
            <a:off x="8778240" y="3008376"/>
            <a:ext cx="2286000" cy="411480"/>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869680" y="3072384"/>
            <a:ext cx="2103120" cy="320040"/>
          </a:xfrm>
          <a:prstGeom prst="rect">
            <a:avLst/>
          </a:prstGeom>
          <a:noFill/>
        </p:spPr>
        <p:txBody>
          <a:bodyPr wrap="square">
            <a:spAutoFit/>
          </a:bodyPr>
          <a:lstStyle/>
          <a:p>
            <a:pPr algn="ctr">
              <a:defRPr sz="1200" b="1">
                <a:solidFill>
                  <a:srgbClr val="1E293B"/>
                </a:solidFill>
                <a:latin typeface="Calibri"/>
              </a:defRPr>
            </a:pPr>
            <a:r>
              <a:t>720 000</a:t>
            </a:r>
          </a:p>
        </p:txBody>
      </p:sp>
      <p:sp>
        <p:nvSpPr>
          <p:cNvPr id="46" name="Rectangle 45"/>
          <p:cNvSpPr/>
          <p:nvPr/>
        </p:nvSpPr>
        <p:spPr>
          <a:xfrm>
            <a:off x="731520" y="3447288"/>
            <a:ext cx="2926080" cy="4114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2960" y="3511296"/>
            <a:ext cx="2743200" cy="320040"/>
          </a:xfrm>
          <a:prstGeom prst="rect">
            <a:avLst/>
          </a:prstGeom>
          <a:noFill/>
        </p:spPr>
        <p:txBody>
          <a:bodyPr wrap="square">
            <a:spAutoFit/>
          </a:bodyPr>
          <a:lstStyle/>
          <a:p>
            <a:pPr algn="l">
              <a:defRPr sz="1200" b="0">
                <a:solidFill>
                  <a:srgbClr val="1E293B"/>
                </a:solidFill>
                <a:latin typeface="Calibri"/>
              </a:defRPr>
            </a:pPr>
            <a:r>
              <a:t>Résultat net (MAD)</a:t>
            </a:r>
          </a:p>
        </p:txBody>
      </p:sp>
      <p:sp>
        <p:nvSpPr>
          <p:cNvPr id="48" name="Rectangle 47"/>
          <p:cNvSpPr/>
          <p:nvPr/>
        </p:nvSpPr>
        <p:spPr>
          <a:xfrm>
            <a:off x="3840480" y="3447288"/>
            <a:ext cx="2286000" cy="4114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931920" y="3511296"/>
            <a:ext cx="2103120" cy="320040"/>
          </a:xfrm>
          <a:prstGeom prst="rect">
            <a:avLst/>
          </a:prstGeom>
          <a:noFill/>
        </p:spPr>
        <p:txBody>
          <a:bodyPr wrap="square">
            <a:spAutoFit/>
          </a:bodyPr>
          <a:lstStyle/>
          <a:p>
            <a:pPr algn="ctr">
              <a:defRPr sz="1200" b="1">
                <a:solidFill>
                  <a:srgbClr val="EF4444"/>
                </a:solidFill>
                <a:latin typeface="Calibri"/>
              </a:defRPr>
            </a:pPr>
            <a:r>
              <a:t>−60 000</a:t>
            </a:r>
          </a:p>
        </p:txBody>
      </p:sp>
      <p:sp>
        <p:nvSpPr>
          <p:cNvPr id="50" name="Rectangle 49"/>
          <p:cNvSpPr/>
          <p:nvPr/>
        </p:nvSpPr>
        <p:spPr>
          <a:xfrm>
            <a:off x="6309360" y="3447288"/>
            <a:ext cx="2286000" cy="4114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00800" y="3511296"/>
            <a:ext cx="2103120" cy="320040"/>
          </a:xfrm>
          <a:prstGeom prst="rect">
            <a:avLst/>
          </a:prstGeom>
          <a:noFill/>
        </p:spPr>
        <p:txBody>
          <a:bodyPr wrap="square">
            <a:spAutoFit/>
          </a:bodyPr>
          <a:lstStyle/>
          <a:p>
            <a:pPr algn="ctr">
              <a:defRPr sz="1200" b="1">
                <a:solidFill>
                  <a:srgbClr val="059669"/>
                </a:solidFill>
                <a:latin typeface="Calibri"/>
              </a:defRPr>
            </a:pPr>
            <a:r>
              <a:t>+660 000</a:t>
            </a:r>
          </a:p>
        </p:txBody>
      </p:sp>
      <p:sp>
        <p:nvSpPr>
          <p:cNvPr id="52" name="Rectangle 51"/>
          <p:cNvSpPr/>
          <p:nvPr/>
        </p:nvSpPr>
        <p:spPr>
          <a:xfrm>
            <a:off x="8778240" y="3447288"/>
            <a:ext cx="2286000" cy="4114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869680" y="3511296"/>
            <a:ext cx="2103120" cy="320040"/>
          </a:xfrm>
          <a:prstGeom prst="rect">
            <a:avLst/>
          </a:prstGeom>
          <a:noFill/>
        </p:spPr>
        <p:txBody>
          <a:bodyPr wrap="square">
            <a:spAutoFit/>
          </a:bodyPr>
          <a:lstStyle/>
          <a:p>
            <a:pPr algn="ctr">
              <a:defRPr sz="1200" b="1">
                <a:solidFill>
                  <a:srgbClr val="059669"/>
                </a:solidFill>
                <a:latin typeface="Calibri"/>
              </a:defRPr>
            </a:pPr>
            <a:r>
              <a:t>+3 780 000</a:t>
            </a:r>
          </a:p>
        </p:txBody>
      </p:sp>
      <p:sp>
        <p:nvSpPr>
          <p:cNvPr id="54" name="Rectangle 53"/>
          <p:cNvSpPr/>
          <p:nvPr/>
        </p:nvSpPr>
        <p:spPr>
          <a:xfrm>
            <a:off x="731520" y="3886200"/>
            <a:ext cx="2926080" cy="411480"/>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22960" y="3950208"/>
            <a:ext cx="2743200" cy="320040"/>
          </a:xfrm>
          <a:prstGeom prst="rect">
            <a:avLst/>
          </a:prstGeom>
          <a:noFill/>
        </p:spPr>
        <p:txBody>
          <a:bodyPr wrap="square">
            <a:spAutoFit/>
          </a:bodyPr>
          <a:lstStyle/>
          <a:p>
            <a:pPr algn="l">
              <a:defRPr sz="1200" b="0">
                <a:solidFill>
                  <a:srgbClr val="1E293B"/>
                </a:solidFill>
                <a:latin typeface="Calibri"/>
              </a:defRPr>
            </a:pPr>
            <a:r>
              <a:t>Point mort</a:t>
            </a:r>
          </a:p>
        </p:txBody>
      </p:sp>
      <p:sp>
        <p:nvSpPr>
          <p:cNvPr id="56" name="Rectangle 55"/>
          <p:cNvSpPr/>
          <p:nvPr/>
        </p:nvSpPr>
        <p:spPr>
          <a:xfrm>
            <a:off x="3840480" y="3886200"/>
            <a:ext cx="2286000" cy="411480"/>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931920" y="3950208"/>
            <a:ext cx="2103120" cy="320040"/>
          </a:xfrm>
          <a:prstGeom prst="rect">
            <a:avLst/>
          </a:prstGeom>
          <a:noFill/>
        </p:spPr>
        <p:txBody>
          <a:bodyPr wrap="square">
            <a:spAutoFit/>
          </a:bodyPr>
          <a:lstStyle/>
          <a:p>
            <a:pPr algn="ctr">
              <a:defRPr sz="1200" b="1">
                <a:solidFill>
                  <a:srgbClr val="1E293B"/>
                </a:solidFill>
                <a:latin typeface="Calibri"/>
              </a:defRPr>
            </a:pPr>
            <a:r>
              <a:t>Mois 14</a:t>
            </a:r>
          </a:p>
        </p:txBody>
      </p:sp>
      <p:sp>
        <p:nvSpPr>
          <p:cNvPr id="58" name="Rectangle 57"/>
          <p:cNvSpPr/>
          <p:nvPr/>
        </p:nvSpPr>
        <p:spPr>
          <a:xfrm>
            <a:off x="6309360" y="3886200"/>
            <a:ext cx="2286000" cy="411480"/>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400800" y="3950208"/>
            <a:ext cx="2103120" cy="320040"/>
          </a:xfrm>
          <a:prstGeom prst="rect">
            <a:avLst/>
          </a:prstGeom>
          <a:noFill/>
        </p:spPr>
        <p:txBody>
          <a:bodyPr wrap="square">
            <a:spAutoFit/>
          </a:bodyPr>
          <a:lstStyle/>
          <a:p>
            <a:pPr algn="ctr">
              <a:defRPr sz="1200" b="1">
                <a:solidFill>
                  <a:srgbClr val="1E293B"/>
                </a:solidFill>
                <a:latin typeface="Calibri"/>
              </a:defRPr>
            </a:pPr>
            <a:r>
              <a:t>—</a:t>
            </a:r>
          </a:p>
        </p:txBody>
      </p:sp>
      <p:sp>
        <p:nvSpPr>
          <p:cNvPr id="60" name="Rectangle 59"/>
          <p:cNvSpPr/>
          <p:nvPr/>
        </p:nvSpPr>
        <p:spPr>
          <a:xfrm>
            <a:off x="8778240" y="3886200"/>
            <a:ext cx="2286000" cy="411480"/>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869680" y="3950208"/>
            <a:ext cx="2103120" cy="320040"/>
          </a:xfrm>
          <a:prstGeom prst="rect">
            <a:avLst/>
          </a:prstGeom>
          <a:noFill/>
        </p:spPr>
        <p:txBody>
          <a:bodyPr wrap="square">
            <a:spAutoFit/>
          </a:bodyPr>
          <a:lstStyle/>
          <a:p>
            <a:pPr algn="ctr">
              <a:defRPr sz="1200" b="1">
                <a:solidFill>
                  <a:srgbClr val="1E293B"/>
                </a:solidFill>
                <a:latin typeface="Calibri"/>
              </a:defRPr>
            </a:pPr>
            <a:r>
              <a:t>—</a:t>
            </a:r>
          </a:p>
        </p:txBody>
      </p:sp>
      <p:sp>
        <p:nvSpPr>
          <p:cNvPr id="62" name="TextBox 61"/>
          <p:cNvSpPr txBox="1"/>
          <p:nvPr/>
        </p:nvSpPr>
        <p:spPr>
          <a:xfrm>
            <a:off x="731520" y="4572000"/>
            <a:ext cx="10058400" cy="365760"/>
          </a:xfrm>
          <a:prstGeom prst="rect">
            <a:avLst/>
          </a:prstGeom>
          <a:noFill/>
        </p:spPr>
        <p:txBody>
          <a:bodyPr wrap="square">
            <a:spAutoFit/>
          </a:bodyPr>
          <a:lstStyle/>
          <a:p>
            <a:pPr algn="l">
              <a:defRPr sz="1800" b="1">
                <a:solidFill>
                  <a:srgbClr val="2563EB"/>
                </a:solidFill>
                <a:latin typeface="Calibri"/>
              </a:defRPr>
            </a:pPr>
            <a:r>
              <a:t>Investissement Initial Estimé</a:t>
            </a:r>
          </a:p>
        </p:txBody>
      </p:sp>
      <p:sp>
        <p:nvSpPr>
          <p:cNvPr id="63" name="TextBox 62"/>
          <p:cNvSpPr txBox="1"/>
          <p:nvPr/>
        </p:nvSpPr>
        <p:spPr>
          <a:xfrm>
            <a:off x="731520" y="5029200"/>
            <a:ext cx="3657600" cy="320040"/>
          </a:xfrm>
          <a:prstGeom prst="rect">
            <a:avLst/>
          </a:prstGeom>
          <a:noFill/>
        </p:spPr>
        <p:txBody>
          <a:bodyPr wrap="square">
            <a:spAutoFit/>
          </a:bodyPr>
          <a:lstStyle/>
          <a:p>
            <a:pPr algn="l">
              <a:defRPr sz="1300" b="0">
                <a:solidFill>
                  <a:srgbClr val="1E293B"/>
                </a:solidFill>
                <a:latin typeface="Calibri"/>
              </a:defRPr>
            </a:pPr>
            <a:r>
              <a:t>▸  Développement &amp; Design</a:t>
            </a:r>
          </a:p>
        </p:txBody>
      </p:sp>
      <p:sp>
        <p:nvSpPr>
          <p:cNvPr id="64" name="TextBox 63"/>
          <p:cNvSpPr txBox="1"/>
          <p:nvPr/>
        </p:nvSpPr>
        <p:spPr>
          <a:xfrm>
            <a:off x="4572000" y="5029200"/>
            <a:ext cx="1645920" cy="320040"/>
          </a:xfrm>
          <a:prstGeom prst="rect">
            <a:avLst/>
          </a:prstGeom>
          <a:noFill/>
        </p:spPr>
        <p:txBody>
          <a:bodyPr wrap="square">
            <a:spAutoFit/>
          </a:bodyPr>
          <a:lstStyle/>
          <a:p>
            <a:pPr algn="r">
              <a:defRPr sz="1300" b="1">
                <a:solidFill>
                  <a:srgbClr val="2563EB"/>
                </a:solidFill>
                <a:latin typeface="Calibri"/>
              </a:defRPr>
            </a:pPr>
            <a:r>
              <a:t>80 000 MAD</a:t>
            </a:r>
          </a:p>
        </p:txBody>
      </p:sp>
      <p:sp>
        <p:nvSpPr>
          <p:cNvPr id="65" name="TextBox 64"/>
          <p:cNvSpPr txBox="1"/>
          <p:nvPr/>
        </p:nvSpPr>
        <p:spPr>
          <a:xfrm>
            <a:off x="6400800" y="5029200"/>
            <a:ext cx="3657600" cy="320040"/>
          </a:xfrm>
          <a:prstGeom prst="rect">
            <a:avLst/>
          </a:prstGeom>
          <a:noFill/>
        </p:spPr>
        <p:txBody>
          <a:bodyPr wrap="square">
            <a:spAutoFit/>
          </a:bodyPr>
          <a:lstStyle/>
          <a:p>
            <a:pPr algn="l">
              <a:defRPr sz="1300" b="0">
                <a:solidFill>
                  <a:srgbClr val="1E293B"/>
                </a:solidFill>
                <a:latin typeface="Calibri"/>
              </a:defRPr>
            </a:pPr>
            <a:r>
              <a:t>▸  Hébergement Cloud (1 an)</a:t>
            </a:r>
          </a:p>
        </p:txBody>
      </p:sp>
      <p:sp>
        <p:nvSpPr>
          <p:cNvPr id="66" name="TextBox 65"/>
          <p:cNvSpPr txBox="1"/>
          <p:nvPr/>
        </p:nvSpPr>
        <p:spPr>
          <a:xfrm>
            <a:off x="10241280" y="5029200"/>
            <a:ext cx="1645920" cy="320040"/>
          </a:xfrm>
          <a:prstGeom prst="rect">
            <a:avLst/>
          </a:prstGeom>
          <a:noFill/>
        </p:spPr>
        <p:txBody>
          <a:bodyPr wrap="square">
            <a:spAutoFit/>
          </a:bodyPr>
          <a:lstStyle/>
          <a:p>
            <a:pPr algn="r">
              <a:defRPr sz="1300" b="1">
                <a:solidFill>
                  <a:srgbClr val="2563EB"/>
                </a:solidFill>
                <a:latin typeface="Calibri"/>
              </a:defRPr>
            </a:pPr>
            <a:r>
              <a:t>24 000 MAD</a:t>
            </a:r>
          </a:p>
        </p:txBody>
      </p:sp>
      <p:sp>
        <p:nvSpPr>
          <p:cNvPr id="67" name="TextBox 66"/>
          <p:cNvSpPr txBox="1"/>
          <p:nvPr/>
        </p:nvSpPr>
        <p:spPr>
          <a:xfrm>
            <a:off x="731520" y="5440680"/>
            <a:ext cx="3657600" cy="320040"/>
          </a:xfrm>
          <a:prstGeom prst="rect">
            <a:avLst/>
          </a:prstGeom>
          <a:noFill/>
        </p:spPr>
        <p:txBody>
          <a:bodyPr wrap="square">
            <a:spAutoFit/>
          </a:bodyPr>
          <a:lstStyle/>
          <a:p>
            <a:pPr algn="l">
              <a:defRPr sz="1300" b="0">
                <a:solidFill>
                  <a:srgbClr val="1E293B"/>
                </a:solidFill>
                <a:latin typeface="Calibri"/>
              </a:defRPr>
            </a:pPr>
            <a:r>
              <a:t>▸  Marketing Lancement</a:t>
            </a:r>
          </a:p>
        </p:txBody>
      </p:sp>
      <p:sp>
        <p:nvSpPr>
          <p:cNvPr id="68" name="TextBox 67"/>
          <p:cNvSpPr txBox="1"/>
          <p:nvPr/>
        </p:nvSpPr>
        <p:spPr>
          <a:xfrm>
            <a:off x="4572000" y="5440680"/>
            <a:ext cx="1645920" cy="320040"/>
          </a:xfrm>
          <a:prstGeom prst="rect">
            <a:avLst/>
          </a:prstGeom>
          <a:noFill/>
        </p:spPr>
        <p:txBody>
          <a:bodyPr wrap="square">
            <a:spAutoFit/>
          </a:bodyPr>
          <a:lstStyle/>
          <a:p>
            <a:pPr algn="r">
              <a:defRPr sz="1300" b="1">
                <a:solidFill>
                  <a:srgbClr val="2563EB"/>
                </a:solidFill>
                <a:latin typeface="Calibri"/>
              </a:defRPr>
            </a:pPr>
            <a:r>
              <a:t>50 000 MAD</a:t>
            </a:r>
          </a:p>
        </p:txBody>
      </p:sp>
      <p:sp>
        <p:nvSpPr>
          <p:cNvPr id="69" name="TextBox 68"/>
          <p:cNvSpPr txBox="1"/>
          <p:nvPr/>
        </p:nvSpPr>
        <p:spPr>
          <a:xfrm>
            <a:off x="6400800" y="5440680"/>
            <a:ext cx="3657600" cy="320040"/>
          </a:xfrm>
          <a:prstGeom prst="rect">
            <a:avLst/>
          </a:prstGeom>
          <a:noFill/>
        </p:spPr>
        <p:txBody>
          <a:bodyPr wrap="square">
            <a:spAutoFit/>
          </a:bodyPr>
          <a:lstStyle/>
          <a:p>
            <a:pPr algn="l">
              <a:defRPr sz="1300" b="0">
                <a:solidFill>
                  <a:srgbClr val="1E293B"/>
                </a:solidFill>
                <a:latin typeface="Calibri"/>
              </a:defRPr>
            </a:pPr>
            <a:r>
              <a:t>▸  Frais juridiques &amp; RC</a:t>
            </a:r>
          </a:p>
        </p:txBody>
      </p:sp>
      <p:sp>
        <p:nvSpPr>
          <p:cNvPr id="70" name="TextBox 69"/>
          <p:cNvSpPr txBox="1"/>
          <p:nvPr/>
        </p:nvSpPr>
        <p:spPr>
          <a:xfrm>
            <a:off x="10241280" y="5440680"/>
            <a:ext cx="1645920" cy="320040"/>
          </a:xfrm>
          <a:prstGeom prst="rect">
            <a:avLst/>
          </a:prstGeom>
          <a:noFill/>
        </p:spPr>
        <p:txBody>
          <a:bodyPr wrap="square">
            <a:spAutoFit/>
          </a:bodyPr>
          <a:lstStyle/>
          <a:p>
            <a:pPr algn="r">
              <a:defRPr sz="1300" b="1">
                <a:solidFill>
                  <a:srgbClr val="2563EB"/>
                </a:solidFill>
                <a:latin typeface="Calibri"/>
              </a:defRPr>
            </a:pPr>
            <a:r>
              <a:t>15 000 MAD</a:t>
            </a:r>
          </a:p>
        </p:txBody>
      </p:sp>
      <p:sp>
        <p:nvSpPr>
          <p:cNvPr id="71" name="TextBox 70"/>
          <p:cNvSpPr txBox="1"/>
          <p:nvPr/>
        </p:nvSpPr>
        <p:spPr>
          <a:xfrm>
            <a:off x="731520" y="5943600"/>
            <a:ext cx="10058400" cy="365760"/>
          </a:xfrm>
          <a:prstGeom prst="rect">
            <a:avLst/>
          </a:prstGeom>
          <a:noFill/>
        </p:spPr>
        <p:txBody>
          <a:bodyPr wrap="square">
            <a:spAutoFit/>
          </a:bodyPr>
          <a:lstStyle/>
          <a:p>
            <a:pPr algn="ctr">
              <a:defRPr sz="1500" b="1">
                <a:solidFill>
                  <a:srgbClr val="10B981"/>
                </a:solidFill>
                <a:latin typeface="Calibri"/>
              </a:defRPr>
            </a:pPr>
            <a:r>
              <a:t>Total Investissement : 169 000 MAD  ·  ROI estimé : Mois 14</a:t>
            </a:r>
          </a:p>
        </p:txBody>
      </p:sp>
      <p:sp>
        <p:nvSpPr>
          <p:cNvPr id="72" name="TextBox 71"/>
          <p:cNvSpPr txBox="1"/>
          <p:nvPr/>
        </p:nvSpPr>
        <p:spPr>
          <a:xfrm>
            <a:off x="457200" y="6309360"/>
            <a:ext cx="10972800" cy="365760"/>
          </a:xfrm>
          <a:prstGeom prst="rect">
            <a:avLst/>
          </a:prstGeom>
          <a:noFill/>
        </p:spPr>
        <p:txBody>
          <a:bodyPr wrap="none">
            <a:spAutoFit/>
          </a:bodyPr>
          <a:lstStyle/>
          <a:p>
            <a:pPr algn="ctr">
              <a:defRPr sz="900">
                <a:solidFill>
                  <a:srgbClr val="94A3B8"/>
                </a:solidFill>
              </a:defRPr>
            </a:pPr>
            <a:r>
              <a:t>Dar-Soins — PFE Licence Pro IFIAG 2025/2026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563E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V. Cahier des Charges Fonctionnel</a:t>
            </a:r>
          </a:p>
        </p:txBody>
      </p:sp>
      <p:sp>
        <p:nvSpPr>
          <p:cNvPr id="5" name="TextBox 4"/>
          <p:cNvSpPr txBox="1"/>
          <p:nvPr/>
        </p:nvSpPr>
        <p:spPr>
          <a:xfrm>
            <a:off x="914400" y="3657600"/>
            <a:ext cx="10058400" cy="914400"/>
          </a:xfrm>
          <a:prstGeom prst="rect">
            <a:avLst/>
          </a:prstGeom>
          <a:noFill/>
        </p:spPr>
        <p:txBody>
          <a:bodyPr wrap="square">
            <a:spAutoFit/>
          </a:bodyPr>
          <a:lstStyle/>
          <a:p>
            <a:pPr algn="ctr">
              <a:defRPr sz="2000" b="0">
                <a:solidFill>
                  <a:srgbClr val="BFDBFE"/>
                </a:solidFill>
                <a:latin typeface="Calibri"/>
              </a:defRPr>
            </a:pPr>
            <a:r>
              <a:t>Exigences fonctionnelles et non-fonctionnelles</a:t>
            </a:r>
          </a:p>
        </p:txBody>
      </p:sp>
      <p:sp>
        <p:nvSpPr>
          <p:cNvPr id="6" name="TextBox 5"/>
          <p:cNvSpPr txBox="1"/>
          <p:nvPr/>
        </p:nvSpPr>
        <p:spPr>
          <a:xfrm>
            <a:off x="457200" y="6309360"/>
            <a:ext cx="10972800" cy="365760"/>
          </a:xfrm>
          <a:prstGeom prst="rect">
            <a:avLst/>
          </a:prstGeom>
          <a:noFill/>
        </p:spPr>
        <p:txBody>
          <a:bodyPr wrap="none">
            <a:spAutoFit/>
          </a:bodyPr>
          <a:lstStyle/>
          <a:p>
            <a:pPr algn="ctr">
              <a:defRPr sz="900">
                <a:solidFill>
                  <a:srgbClr val="94A3B8"/>
                </a:solidFill>
              </a:defRPr>
            </a:pPr>
            <a:r>
              <a:t>Dar-Soins — PFE Licence Pro IFIAG 2025/2026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548640" y="228600"/>
            <a:ext cx="731520" cy="731520"/>
          </a:xfrm>
          <a:prstGeom prst="rect">
            <a:avLst/>
          </a:prstGeom>
        </p:spPr>
      </p:pic>
      <p:sp>
        <p:nvSpPr>
          <p:cNvPr id="5" name="TextBox 4"/>
          <p:cNvSpPr txBox="1"/>
          <p:nvPr/>
        </p:nvSpPr>
        <p:spPr>
          <a:xfrm>
            <a:off x="1463040" y="274320"/>
            <a:ext cx="9144000" cy="548640"/>
          </a:xfrm>
          <a:prstGeom prst="rect">
            <a:avLst/>
          </a:prstGeom>
          <a:noFill/>
        </p:spPr>
        <p:txBody>
          <a:bodyPr wrap="square">
            <a:spAutoFit/>
          </a:bodyPr>
          <a:lstStyle/>
          <a:p>
            <a:pPr algn="l">
              <a:defRPr sz="2800" b="1">
                <a:solidFill>
                  <a:srgbClr val="2563EB"/>
                </a:solidFill>
                <a:latin typeface="Calibri"/>
              </a:defRPr>
            </a:pPr>
            <a:r>
              <a:t>Exigences Fonctionnelles</a:t>
            </a:r>
          </a:p>
        </p:txBody>
      </p:sp>
      <p:sp>
        <p:nvSpPr>
          <p:cNvPr id="6" name="Rounded Rectangle 5"/>
          <p:cNvSpPr/>
          <p:nvPr/>
        </p:nvSpPr>
        <p:spPr>
          <a:xfrm>
            <a:off x="731520" y="1097280"/>
            <a:ext cx="3474720" cy="4114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124712"/>
            <a:ext cx="3291840" cy="365760"/>
          </a:xfrm>
          <a:prstGeom prst="rect">
            <a:avLst/>
          </a:prstGeom>
          <a:noFill/>
        </p:spPr>
        <p:txBody>
          <a:bodyPr wrap="square">
            <a:spAutoFit/>
          </a:bodyPr>
          <a:lstStyle/>
          <a:p>
            <a:pPr algn="ctr">
              <a:defRPr sz="1400" b="1">
                <a:solidFill>
                  <a:srgbClr val="FFFFFF"/>
                </a:solidFill>
                <a:latin typeface="Calibri"/>
              </a:defRPr>
            </a:pPr>
            <a:r>
              <a:t>👤 Patient (Client)</a:t>
            </a:r>
          </a:p>
        </p:txBody>
      </p:sp>
      <p:sp>
        <p:nvSpPr>
          <p:cNvPr id="8" name="Rounded Rectangle 7"/>
          <p:cNvSpPr/>
          <p:nvPr/>
        </p:nvSpPr>
        <p:spPr>
          <a:xfrm>
            <a:off x="731520" y="1691640"/>
            <a:ext cx="3474720" cy="411480"/>
          </a:xfrm>
          <a:prstGeom prst="round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46504"/>
            <a:ext cx="3200400" cy="320040"/>
          </a:xfrm>
          <a:prstGeom prst="rect">
            <a:avLst/>
          </a:prstGeom>
          <a:noFill/>
        </p:spPr>
        <p:txBody>
          <a:bodyPr wrap="square">
            <a:spAutoFit/>
          </a:bodyPr>
          <a:lstStyle/>
          <a:p>
            <a:pPr algn="l">
              <a:defRPr sz="1100" b="0">
                <a:solidFill>
                  <a:srgbClr val="1E293B"/>
                </a:solidFill>
                <a:latin typeface="Calibri"/>
              </a:defRPr>
            </a:pPr>
            <a:r>
              <a:t>▸ Inscription / Authentification</a:t>
            </a:r>
          </a:p>
        </p:txBody>
      </p:sp>
      <p:sp>
        <p:nvSpPr>
          <p:cNvPr id="10" name="Rounded Rectangle 9"/>
          <p:cNvSpPr/>
          <p:nvPr/>
        </p:nvSpPr>
        <p:spPr>
          <a:xfrm>
            <a:off x="731520" y="2167128"/>
            <a:ext cx="3474720" cy="411480"/>
          </a:xfrm>
          <a:prstGeom prst="round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21992"/>
            <a:ext cx="3200400" cy="320040"/>
          </a:xfrm>
          <a:prstGeom prst="rect">
            <a:avLst/>
          </a:prstGeom>
          <a:noFill/>
        </p:spPr>
        <p:txBody>
          <a:bodyPr wrap="square">
            <a:spAutoFit/>
          </a:bodyPr>
          <a:lstStyle/>
          <a:p>
            <a:pPr algn="l">
              <a:defRPr sz="1100" b="0">
                <a:solidFill>
                  <a:srgbClr val="1E293B"/>
                </a:solidFill>
                <a:latin typeface="Calibri"/>
              </a:defRPr>
            </a:pPr>
            <a:r>
              <a:t>▸ Commander un soin</a:t>
            </a:r>
          </a:p>
        </p:txBody>
      </p:sp>
      <p:sp>
        <p:nvSpPr>
          <p:cNvPr id="12" name="Rounded Rectangle 11"/>
          <p:cNvSpPr/>
          <p:nvPr/>
        </p:nvSpPr>
        <p:spPr>
          <a:xfrm>
            <a:off x="731520" y="2642616"/>
            <a:ext cx="3474720" cy="411480"/>
          </a:xfrm>
          <a:prstGeom prst="round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697480"/>
            <a:ext cx="3200400" cy="320040"/>
          </a:xfrm>
          <a:prstGeom prst="rect">
            <a:avLst/>
          </a:prstGeom>
          <a:noFill/>
        </p:spPr>
        <p:txBody>
          <a:bodyPr wrap="square">
            <a:spAutoFit/>
          </a:bodyPr>
          <a:lstStyle/>
          <a:p>
            <a:pPr algn="l">
              <a:defRPr sz="1100" b="0">
                <a:solidFill>
                  <a:srgbClr val="1E293B"/>
                </a:solidFill>
                <a:latin typeface="Calibri"/>
              </a:defRPr>
            </a:pPr>
            <a:r>
              <a:t>▸ Consulter le devis PDF</a:t>
            </a:r>
          </a:p>
        </p:txBody>
      </p:sp>
      <p:sp>
        <p:nvSpPr>
          <p:cNvPr id="14" name="Rounded Rectangle 13"/>
          <p:cNvSpPr/>
          <p:nvPr/>
        </p:nvSpPr>
        <p:spPr>
          <a:xfrm>
            <a:off x="731520" y="3118104"/>
            <a:ext cx="3474720" cy="411480"/>
          </a:xfrm>
          <a:prstGeom prst="round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172968"/>
            <a:ext cx="3200400" cy="320040"/>
          </a:xfrm>
          <a:prstGeom prst="rect">
            <a:avLst/>
          </a:prstGeom>
          <a:noFill/>
        </p:spPr>
        <p:txBody>
          <a:bodyPr wrap="square">
            <a:spAutoFit/>
          </a:bodyPr>
          <a:lstStyle/>
          <a:p>
            <a:pPr algn="l">
              <a:defRPr sz="1100" b="0">
                <a:solidFill>
                  <a:srgbClr val="1E293B"/>
                </a:solidFill>
                <a:latin typeface="Calibri"/>
              </a:defRPr>
            </a:pPr>
            <a:r>
              <a:t>▸ Accepter / Refuser le devis</a:t>
            </a:r>
          </a:p>
        </p:txBody>
      </p:sp>
      <p:sp>
        <p:nvSpPr>
          <p:cNvPr id="16" name="Rounded Rectangle 15"/>
          <p:cNvSpPr/>
          <p:nvPr/>
        </p:nvSpPr>
        <p:spPr>
          <a:xfrm>
            <a:off x="731520" y="3593592"/>
            <a:ext cx="3474720" cy="411480"/>
          </a:xfrm>
          <a:prstGeom prst="round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648456"/>
            <a:ext cx="3200400" cy="320040"/>
          </a:xfrm>
          <a:prstGeom prst="rect">
            <a:avLst/>
          </a:prstGeom>
          <a:noFill/>
        </p:spPr>
        <p:txBody>
          <a:bodyPr wrap="square">
            <a:spAutoFit/>
          </a:bodyPr>
          <a:lstStyle/>
          <a:p>
            <a:pPr algn="l">
              <a:defRPr sz="1100" b="0">
                <a:solidFill>
                  <a:srgbClr val="1E293B"/>
                </a:solidFill>
                <a:latin typeface="Calibri"/>
              </a:defRPr>
            </a:pPr>
            <a:r>
              <a:t>▸ Suivre l'intervention</a:t>
            </a:r>
          </a:p>
        </p:txBody>
      </p:sp>
      <p:sp>
        <p:nvSpPr>
          <p:cNvPr id="18" name="Rounded Rectangle 17"/>
          <p:cNvSpPr/>
          <p:nvPr/>
        </p:nvSpPr>
        <p:spPr>
          <a:xfrm>
            <a:off x="731520" y="4069080"/>
            <a:ext cx="3474720" cy="411480"/>
          </a:xfrm>
          <a:prstGeom prst="round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123944"/>
            <a:ext cx="3200400" cy="320040"/>
          </a:xfrm>
          <a:prstGeom prst="rect">
            <a:avLst/>
          </a:prstGeom>
          <a:noFill/>
        </p:spPr>
        <p:txBody>
          <a:bodyPr wrap="square">
            <a:spAutoFit/>
          </a:bodyPr>
          <a:lstStyle/>
          <a:p>
            <a:pPr algn="l">
              <a:defRPr sz="1100" b="0">
                <a:solidFill>
                  <a:srgbClr val="1E293B"/>
                </a:solidFill>
                <a:latin typeface="Calibri"/>
              </a:defRPr>
            </a:pPr>
            <a:r>
              <a:t>▸ Consulter ses factures PDF</a:t>
            </a:r>
          </a:p>
        </p:txBody>
      </p:sp>
      <p:sp>
        <p:nvSpPr>
          <p:cNvPr id="20" name="Rounded Rectangle 19"/>
          <p:cNvSpPr/>
          <p:nvPr/>
        </p:nvSpPr>
        <p:spPr>
          <a:xfrm>
            <a:off x="731520" y="4544568"/>
            <a:ext cx="3474720" cy="411480"/>
          </a:xfrm>
          <a:prstGeom prst="round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599432"/>
            <a:ext cx="3200400" cy="320040"/>
          </a:xfrm>
          <a:prstGeom prst="rect">
            <a:avLst/>
          </a:prstGeom>
          <a:noFill/>
        </p:spPr>
        <p:txBody>
          <a:bodyPr wrap="square">
            <a:spAutoFit/>
          </a:bodyPr>
          <a:lstStyle/>
          <a:p>
            <a:pPr algn="l">
              <a:defRPr sz="1100" b="0">
                <a:solidFill>
                  <a:srgbClr val="1E293B"/>
                </a:solidFill>
                <a:latin typeface="Calibri"/>
              </a:defRPr>
            </a:pPr>
            <a:r>
              <a:t>▸ Signer numériquement</a:t>
            </a:r>
          </a:p>
        </p:txBody>
      </p:sp>
      <p:sp>
        <p:nvSpPr>
          <p:cNvPr id="22" name="Rounded Rectangle 21"/>
          <p:cNvSpPr/>
          <p:nvPr/>
        </p:nvSpPr>
        <p:spPr>
          <a:xfrm>
            <a:off x="731520" y="5020056"/>
            <a:ext cx="3474720" cy="411480"/>
          </a:xfrm>
          <a:prstGeom prst="round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5074920"/>
            <a:ext cx="3200400" cy="320040"/>
          </a:xfrm>
          <a:prstGeom prst="rect">
            <a:avLst/>
          </a:prstGeom>
          <a:noFill/>
        </p:spPr>
        <p:txBody>
          <a:bodyPr wrap="square">
            <a:spAutoFit/>
          </a:bodyPr>
          <a:lstStyle/>
          <a:p>
            <a:pPr algn="l">
              <a:defRPr sz="1100" b="0">
                <a:solidFill>
                  <a:srgbClr val="1E293B"/>
                </a:solidFill>
                <a:latin typeface="Calibri"/>
              </a:defRPr>
            </a:pPr>
            <a:r>
              <a:t>▸ Historique des interventions</a:t>
            </a:r>
          </a:p>
        </p:txBody>
      </p:sp>
      <p:sp>
        <p:nvSpPr>
          <p:cNvPr id="24" name="Rounded Rectangle 23"/>
          <p:cNvSpPr/>
          <p:nvPr/>
        </p:nvSpPr>
        <p:spPr>
          <a:xfrm>
            <a:off x="4480559" y="1097280"/>
            <a:ext cx="3474720" cy="4114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1999" y="1124712"/>
            <a:ext cx="3291840" cy="365760"/>
          </a:xfrm>
          <a:prstGeom prst="rect">
            <a:avLst/>
          </a:prstGeom>
          <a:noFill/>
        </p:spPr>
        <p:txBody>
          <a:bodyPr wrap="square">
            <a:spAutoFit/>
          </a:bodyPr>
          <a:lstStyle/>
          <a:p>
            <a:pPr algn="ctr">
              <a:defRPr sz="1400" b="1">
                <a:solidFill>
                  <a:srgbClr val="FFFFFF"/>
                </a:solidFill>
                <a:latin typeface="Calibri"/>
              </a:defRPr>
            </a:pPr>
            <a:r>
              <a:t>🩺 Infirmier</a:t>
            </a:r>
          </a:p>
        </p:txBody>
      </p:sp>
      <p:sp>
        <p:nvSpPr>
          <p:cNvPr id="26" name="Rounded Rectangle 25"/>
          <p:cNvSpPr/>
          <p:nvPr/>
        </p:nvSpPr>
        <p:spPr>
          <a:xfrm>
            <a:off x="4480559" y="1691640"/>
            <a:ext cx="3474720" cy="411480"/>
          </a:xfrm>
          <a:prstGeom prst="round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17719" y="1746504"/>
            <a:ext cx="3200400" cy="320040"/>
          </a:xfrm>
          <a:prstGeom prst="rect">
            <a:avLst/>
          </a:prstGeom>
          <a:noFill/>
        </p:spPr>
        <p:txBody>
          <a:bodyPr wrap="square">
            <a:spAutoFit/>
          </a:bodyPr>
          <a:lstStyle/>
          <a:p>
            <a:pPr algn="l">
              <a:defRPr sz="1100" b="0">
                <a:solidFill>
                  <a:srgbClr val="1E293B"/>
                </a:solidFill>
                <a:latin typeface="Calibri"/>
              </a:defRPr>
            </a:pPr>
            <a:r>
              <a:t>▸ Authentification sécurisée</a:t>
            </a:r>
          </a:p>
        </p:txBody>
      </p:sp>
      <p:sp>
        <p:nvSpPr>
          <p:cNvPr id="28" name="Rounded Rectangle 27"/>
          <p:cNvSpPr/>
          <p:nvPr/>
        </p:nvSpPr>
        <p:spPr>
          <a:xfrm>
            <a:off x="4480559" y="2167128"/>
            <a:ext cx="3474720" cy="411480"/>
          </a:xfrm>
          <a:prstGeom prst="round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17719" y="2221992"/>
            <a:ext cx="3200400" cy="320040"/>
          </a:xfrm>
          <a:prstGeom prst="rect">
            <a:avLst/>
          </a:prstGeom>
          <a:noFill/>
        </p:spPr>
        <p:txBody>
          <a:bodyPr wrap="square">
            <a:spAutoFit/>
          </a:bodyPr>
          <a:lstStyle/>
          <a:p>
            <a:pPr algn="l">
              <a:defRPr sz="1100" b="0">
                <a:solidFill>
                  <a:srgbClr val="1E293B"/>
                </a:solidFill>
                <a:latin typeface="Calibri"/>
              </a:defRPr>
            </a:pPr>
            <a:r>
              <a:t>▸ Réceptionner les missions</a:t>
            </a:r>
          </a:p>
        </p:txBody>
      </p:sp>
      <p:sp>
        <p:nvSpPr>
          <p:cNvPr id="30" name="Rounded Rectangle 29"/>
          <p:cNvSpPr/>
          <p:nvPr/>
        </p:nvSpPr>
        <p:spPr>
          <a:xfrm>
            <a:off x="4480559" y="2642616"/>
            <a:ext cx="3474720" cy="411480"/>
          </a:xfrm>
          <a:prstGeom prst="round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19" y="2697480"/>
            <a:ext cx="3200400" cy="320040"/>
          </a:xfrm>
          <a:prstGeom prst="rect">
            <a:avLst/>
          </a:prstGeom>
          <a:noFill/>
        </p:spPr>
        <p:txBody>
          <a:bodyPr wrap="square">
            <a:spAutoFit/>
          </a:bodyPr>
          <a:lstStyle/>
          <a:p>
            <a:pPr algn="l">
              <a:defRPr sz="1100" b="0">
                <a:solidFill>
                  <a:srgbClr val="1E293B"/>
                </a:solidFill>
                <a:latin typeface="Calibri"/>
              </a:defRPr>
            </a:pPr>
            <a:r>
              <a:t>▸ Accepter / Refuser une mission</a:t>
            </a:r>
          </a:p>
        </p:txBody>
      </p:sp>
      <p:sp>
        <p:nvSpPr>
          <p:cNvPr id="32" name="Rounded Rectangle 31"/>
          <p:cNvSpPr/>
          <p:nvPr/>
        </p:nvSpPr>
        <p:spPr>
          <a:xfrm>
            <a:off x="4480559" y="3118104"/>
            <a:ext cx="3474720" cy="411480"/>
          </a:xfrm>
          <a:prstGeom prst="round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17719" y="3172968"/>
            <a:ext cx="3200400" cy="320040"/>
          </a:xfrm>
          <a:prstGeom prst="rect">
            <a:avLst/>
          </a:prstGeom>
          <a:noFill/>
        </p:spPr>
        <p:txBody>
          <a:bodyPr wrap="square">
            <a:spAutoFit/>
          </a:bodyPr>
          <a:lstStyle/>
          <a:p>
            <a:pPr algn="l">
              <a:defRPr sz="1100" b="0">
                <a:solidFill>
                  <a:srgbClr val="1E293B"/>
                </a:solidFill>
                <a:latin typeface="Calibri"/>
              </a:defRPr>
            </a:pPr>
            <a:r>
              <a:t>▸ Saisir constantes médicales</a:t>
            </a:r>
          </a:p>
        </p:txBody>
      </p:sp>
      <p:sp>
        <p:nvSpPr>
          <p:cNvPr id="34" name="Rounded Rectangle 33"/>
          <p:cNvSpPr/>
          <p:nvPr/>
        </p:nvSpPr>
        <p:spPr>
          <a:xfrm>
            <a:off x="4480559" y="3593592"/>
            <a:ext cx="3474720" cy="411480"/>
          </a:xfrm>
          <a:prstGeom prst="round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17719" y="3648456"/>
            <a:ext cx="3200400" cy="320040"/>
          </a:xfrm>
          <a:prstGeom prst="rect">
            <a:avLst/>
          </a:prstGeom>
          <a:noFill/>
        </p:spPr>
        <p:txBody>
          <a:bodyPr wrap="square">
            <a:spAutoFit/>
          </a:bodyPr>
          <a:lstStyle/>
          <a:p>
            <a:pPr algn="l">
              <a:defRPr sz="1100" b="0">
                <a:solidFill>
                  <a:srgbClr val="1E293B"/>
                </a:solidFill>
                <a:latin typeface="Calibri"/>
              </a:defRPr>
            </a:pPr>
            <a:r>
              <a:t>▸ Enregistrer consommables</a:t>
            </a:r>
          </a:p>
        </p:txBody>
      </p:sp>
      <p:sp>
        <p:nvSpPr>
          <p:cNvPr id="36" name="Rounded Rectangle 35"/>
          <p:cNvSpPr/>
          <p:nvPr/>
        </p:nvSpPr>
        <p:spPr>
          <a:xfrm>
            <a:off x="4480559" y="4069080"/>
            <a:ext cx="3474720" cy="411480"/>
          </a:xfrm>
          <a:prstGeom prst="round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17719" y="4123944"/>
            <a:ext cx="3200400" cy="320040"/>
          </a:xfrm>
          <a:prstGeom prst="rect">
            <a:avLst/>
          </a:prstGeom>
          <a:noFill/>
        </p:spPr>
        <p:txBody>
          <a:bodyPr wrap="square">
            <a:spAutoFit/>
          </a:bodyPr>
          <a:lstStyle/>
          <a:p>
            <a:pPr algn="l">
              <a:defRPr sz="1100" b="0">
                <a:solidFill>
                  <a:srgbClr val="1E293B"/>
                </a:solidFill>
                <a:latin typeface="Calibri"/>
              </a:defRPr>
            </a:pPr>
            <a:r>
              <a:t>▸ Clôturer l'intervention</a:t>
            </a:r>
          </a:p>
        </p:txBody>
      </p:sp>
      <p:sp>
        <p:nvSpPr>
          <p:cNvPr id="38" name="Rounded Rectangle 37"/>
          <p:cNvSpPr/>
          <p:nvPr/>
        </p:nvSpPr>
        <p:spPr>
          <a:xfrm>
            <a:off x="4480559" y="4544568"/>
            <a:ext cx="3474720" cy="411480"/>
          </a:xfrm>
          <a:prstGeom prst="round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17719" y="4599432"/>
            <a:ext cx="3200400" cy="320040"/>
          </a:xfrm>
          <a:prstGeom prst="rect">
            <a:avLst/>
          </a:prstGeom>
          <a:noFill/>
        </p:spPr>
        <p:txBody>
          <a:bodyPr wrap="square">
            <a:spAutoFit/>
          </a:bodyPr>
          <a:lstStyle/>
          <a:p>
            <a:pPr algn="l">
              <a:defRPr sz="1100" b="0">
                <a:solidFill>
                  <a:srgbClr val="1E293B"/>
                </a:solidFill>
                <a:latin typeface="Calibri"/>
              </a:defRPr>
            </a:pPr>
            <a:r>
              <a:t>▸ Consulter ses commissions</a:t>
            </a:r>
          </a:p>
        </p:txBody>
      </p:sp>
      <p:sp>
        <p:nvSpPr>
          <p:cNvPr id="40" name="Rounded Rectangle 39"/>
          <p:cNvSpPr/>
          <p:nvPr/>
        </p:nvSpPr>
        <p:spPr>
          <a:xfrm>
            <a:off x="4480559" y="5020056"/>
            <a:ext cx="3474720" cy="411480"/>
          </a:xfrm>
          <a:prstGeom prst="round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617719" y="5074920"/>
            <a:ext cx="3200400" cy="320040"/>
          </a:xfrm>
          <a:prstGeom prst="rect">
            <a:avLst/>
          </a:prstGeom>
          <a:noFill/>
        </p:spPr>
        <p:txBody>
          <a:bodyPr wrap="square">
            <a:spAutoFit/>
          </a:bodyPr>
          <a:lstStyle/>
          <a:p>
            <a:pPr algn="l">
              <a:defRPr sz="1100" b="0">
                <a:solidFill>
                  <a:srgbClr val="1E293B"/>
                </a:solidFill>
                <a:latin typeface="Calibri"/>
              </a:defRPr>
            </a:pPr>
            <a:r>
              <a:t>▸ Historique complet</a:t>
            </a:r>
          </a:p>
        </p:txBody>
      </p:sp>
      <p:sp>
        <p:nvSpPr>
          <p:cNvPr id="42" name="Rounded Rectangle 41"/>
          <p:cNvSpPr/>
          <p:nvPr/>
        </p:nvSpPr>
        <p:spPr>
          <a:xfrm>
            <a:off x="8229600" y="1097280"/>
            <a:ext cx="3474720" cy="4114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21040" y="1124712"/>
            <a:ext cx="3291840" cy="365760"/>
          </a:xfrm>
          <a:prstGeom prst="rect">
            <a:avLst/>
          </a:prstGeom>
          <a:noFill/>
        </p:spPr>
        <p:txBody>
          <a:bodyPr wrap="square">
            <a:spAutoFit/>
          </a:bodyPr>
          <a:lstStyle/>
          <a:p>
            <a:pPr algn="ctr">
              <a:defRPr sz="1400" b="1">
                <a:solidFill>
                  <a:srgbClr val="FFFFFF"/>
                </a:solidFill>
                <a:latin typeface="Calibri"/>
              </a:defRPr>
            </a:pPr>
            <a:r>
              <a:t>⚙️ Gestionnaire (ERP)</a:t>
            </a:r>
          </a:p>
        </p:txBody>
      </p:sp>
      <p:sp>
        <p:nvSpPr>
          <p:cNvPr id="44" name="Rounded Rectangle 43"/>
          <p:cNvSpPr/>
          <p:nvPr/>
        </p:nvSpPr>
        <p:spPr>
          <a:xfrm>
            <a:off x="8229600" y="1691640"/>
            <a:ext cx="3474720" cy="411480"/>
          </a:xfrm>
          <a:prstGeom prst="round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66760" y="1746504"/>
            <a:ext cx="3200400" cy="320040"/>
          </a:xfrm>
          <a:prstGeom prst="rect">
            <a:avLst/>
          </a:prstGeom>
          <a:noFill/>
        </p:spPr>
        <p:txBody>
          <a:bodyPr wrap="square">
            <a:spAutoFit/>
          </a:bodyPr>
          <a:lstStyle/>
          <a:p>
            <a:pPr algn="l">
              <a:defRPr sz="1100" b="0">
                <a:solidFill>
                  <a:srgbClr val="1E293B"/>
                </a:solidFill>
                <a:latin typeface="Calibri"/>
              </a:defRPr>
            </a:pPr>
            <a:r>
              <a:t>▸ Tableau de bord analytique</a:t>
            </a:r>
          </a:p>
        </p:txBody>
      </p:sp>
      <p:sp>
        <p:nvSpPr>
          <p:cNvPr id="46" name="Rounded Rectangle 45"/>
          <p:cNvSpPr/>
          <p:nvPr/>
        </p:nvSpPr>
        <p:spPr>
          <a:xfrm>
            <a:off x="8229600" y="2167128"/>
            <a:ext cx="3474720" cy="411480"/>
          </a:xfrm>
          <a:prstGeom prst="round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366760" y="2221992"/>
            <a:ext cx="3200400" cy="320040"/>
          </a:xfrm>
          <a:prstGeom prst="rect">
            <a:avLst/>
          </a:prstGeom>
          <a:noFill/>
        </p:spPr>
        <p:txBody>
          <a:bodyPr wrap="square">
            <a:spAutoFit/>
          </a:bodyPr>
          <a:lstStyle/>
          <a:p>
            <a:pPr algn="l">
              <a:defRPr sz="1100" b="0">
                <a:solidFill>
                  <a:srgbClr val="1E293B"/>
                </a:solidFill>
                <a:latin typeface="Calibri"/>
              </a:defRPr>
            </a:pPr>
            <a:r>
              <a:t>▸ CRUD Produits &amp; Services</a:t>
            </a:r>
          </a:p>
        </p:txBody>
      </p:sp>
      <p:sp>
        <p:nvSpPr>
          <p:cNvPr id="48" name="Rounded Rectangle 47"/>
          <p:cNvSpPr/>
          <p:nvPr/>
        </p:nvSpPr>
        <p:spPr>
          <a:xfrm>
            <a:off x="8229600" y="2642616"/>
            <a:ext cx="3474720" cy="411480"/>
          </a:xfrm>
          <a:prstGeom prst="round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366760" y="2697480"/>
            <a:ext cx="3200400" cy="320040"/>
          </a:xfrm>
          <a:prstGeom prst="rect">
            <a:avLst/>
          </a:prstGeom>
          <a:noFill/>
        </p:spPr>
        <p:txBody>
          <a:bodyPr wrap="square">
            <a:spAutoFit/>
          </a:bodyPr>
          <a:lstStyle/>
          <a:p>
            <a:pPr algn="l">
              <a:defRPr sz="1100" b="0">
                <a:solidFill>
                  <a:srgbClr val="1E293B"/>
                </a:solidFill>
                <a:latin typeface="Calibri"/>
              </a:defRPr>
            </a:pPr>
            <a:r>
              <a:t>▸ Gestion des achats &amp; stocks</a:t>
            </a:r>
          </a:p>
        </p:txBody>
      </p:sp>
      <p:sp>
        <p:nvSpPr>
          <p:cNvPr id="50" name="Rounded Rectangle 49"/>
          <p:cNvSpPr/>
          <p:nvPr/>
        </p:nvSpPr>
        <p:spPr>
          <a:xfrm>
            <a:off x="8229600" y="3118104"/>
            <a:ext cx="3474720" cy="411480"/>
          </a:xfrm>
          <a:prstGeom prst="round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366760" y="3172968"/>
            <a:ext cx="3200400" cy="320040"/>
          </a:xfrm>
          <a:prstGeom prst="rect">
            <a:avLst/>
          </a:prstGeom>
          <a:noFill/>
        </p:spPr>
        <p:txBody>
          <a:bodyPr wrap="square">
            <a:spAutoFit/>
          </a:bodyPr>
          <a:lstStyle/>
          <a:p>
            <a:pPr algn="l">
              <a:defRPr sz="1100" b="0">
                <a:solidFill>
                  <a:srgbClr val="1E293B"/>
                </a:solidFill>
                <a:latin typeface="Calibri"/>
              </a:defRPr>
            </a:pPr>
            <a:r>
              <a:t>▸ Gestion utilisateurs &amp; rôles</a:t>
            </a:r>
          </a:p>
        </p:txBody>
      </p:sp>
      <p:sp>
        <p:nvSpPr>
          <p:cNvPr id="52" name="Rounded Rectangle 51"/>
          <p:cNvSpPr/>
          <p:nvPr/>
        </p:nvSpPr>
        <p:spPr>
          <a:xfrm>
            <a:off x="8229600" y="3593592"/>
            <a:ext cx="3474720" cy="411480"/>
          </a:xfrm>
          <a:prstGeom prst="round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366760" y="3648456"/>
            <a:ext cx="3200400" cy="320040"/>
          </a:xfrm>
          <a:prstGeom prst="rect">
            <a:avLst/>
          </a:prstGeom>
          <a:noFill/>
        </p:spPr>
        <p:txBody>
          <a:bodyPr wrap="square">
            <a:spAutoFit/>
          </a:bodyPr>
          <a:lstStyle/>
          <a:p>
            <a:pPr algn="l">
              <a:defRPr sz="1100" b="0">
                <a:solidFill>
                  <a:srgbClr val="1E293B"/>
                </a:solidFill>
                <a:latin typeface="Calibri"/>
              </a:defRPr>
            </a:pPr>
            <a:r>
              <a:t>▸ Facturation &amp; numérotation</a:t>
            </a:r>
          </a:p>
        </p:txBody>
      </p:sp>
      <p:sp>
        <p:nvSpPr>
          <p:cNvPr id="54" name="Rounded Rectangle 53"/>
          <p:cNvSpPr/>
          <p:nvPr/>
        </p:nvSpPr>
        <p:spPr>
          <a:xfrm>
            <a:off x="8229600" y="4069080"/>
            <a:ext cx="3474720" cy="411480"/>
          </a:xfrm>
          <a:prstGeom prst="round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366760" y="4123944"/>
            <a:ext cx="3200400" cy="320040"/>
          </a:xfrm>
          <a:prstGeom prst="rect">
            <a:avLst/>
          </a:prstGeom>
          <a:noFill/>
        </p:spPr>
        <p:txBody>
          <a:bodyPr wrap="square">
            <a:spAutoFit/>
          </a:bodyPr>
          <a:lstStyle/>
          <a:p>
            <a:pPr algn="l">
              <a:defRPr sz="1100" b="0">
                <a:solidFill>
                  <a:srgbClr val="1E293B"/>
                </a:solidFill>
                <a:latin typeface="Calibri"/>
              </a:defRPr>
            </a:pPr>
            <a:r>
              <a:t>▸ Paramètres système</a:t>
            </a:r>
          </a:p>
        </p:txBody>
      </p:sp>
      <p:sp>
        <p:nvSpPr>
          <p:cNvPr id="56" name="Rounded Rectangle 55"/>
          <p:cNvSpPr/>
          <p:nvPr/>
        </p:nvSpPr>
        <p:spPr>
          <a:xfrm>
            <a:off x="8229600" y="4544568"/>
            <a:ext cx="3474720" cy="411480"/>
          </a:xfrm>
          <a:prstGeom prst="round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366760" y="4599432"/>
            <a:ext cx="3200400" cy="320040"/>
          </a:xfrm>
          <a:prstGeom prst="rect">
            <a:avLst/>
          </a:prstGeom>
          <a:noFill/>
        </p:spPr>
        <p:txBody>
          <a:bodyPr wrap="square">
            <a:spAutoFit/>
          </a:bodyPr>
          <a:lstStyle/>
          <a:p>
            <a:pPr algn="l">
              <a:defRPr sz="1100" b="0">
                <a:solidFill>
                  <a:srgbClr val="1E293B"/>
                </a:solidFill>
                <a:latin typeface="Calibri"/>
              </a:defRPr>
            </a:pPr>
            <a:r>
              <a:t>▸ Devises &amp; taxes</a:t>
            </a:r>
          </a:p>
        </p:txBody>
      </p:sp>
      <p:sp>
        <p:nvSpPr>
          <p:cNvPr id="58" name="Rounded Rectangle 57"/>
          <p:cNvSpPr/>
          <p:nvPr/>
        </p:nvSpPr>
        <p:spPr>
          <a:xfrm>
            <a:off x="8229600" y="5020056"/>
            <a:ext cx="3474720" cy="411480"/>
          </a:xfrm>
          <a:prstGeom prst="round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366760" y="5074920"/>
            <a:ext cx="3200400" cy="320040"/>
          </a:xfrm>
          <a:prstGeom prst="rect">
            <a:avLst/>
          </a:prstGeom>
          <a:noFill/>
        </p:spPr>
        <p:txBody>
          <a:bodyPr wrap="square">
            <a:spAutoFit/>
          </a:bodyPr>
          <a:lstStyle/>
          <a:p>
            <a:pPr algn="l">
              <a:defRPr sz="1100" b="0">
                <a:solidFill>
                  <a:srgbClr val="1E293B"/>
                </a:solidFill>
                <a:latin typeface="Calibri"/>
              </a:defRPr>
            </a:pPr>
            <a:r>
              <a:t>▸ Imports / exports de données</a:t>
            </a:r>
          </a:p>
        </p:txBody>
      </p:sp>
      <p:sp>
        <p:nvSpPr>
          <p:cNvPr id="60" name="TextBox 59"/>
          <p:cNvSpPr txBox="1"/>
          <p:nvPr/>
        </p:nvSpPr>
        <p:spPr>
          <a:xfrm>
            <a:off x="731520" y="5577840"/>
            <a:ext cx="10058400" cy="365760"/>
          </a:xfrm>
          <a:prstGeom prst="rect">
            <a:avLst/>
          </a:prstGeom>
          <a:noFill/>
        </p:spPr>
        <p:txBody>
          <a:bodyPr wrap="square">
            <a:spAutoFit/>
          </a:bodyPr>
          <a:lstStyle/>
          <a:p>
            <a:pPr algn="ctr">
              <a:defRPr sz="1200" b="0">
                <a:solidFill>
                  <a:srgbClr val="94A3B8"/>
                </a:solidFill>
                <a:latin typeface="Calibri"/>
              </a:defRPr>
            </a:pPr>
            <a:r>
              <a:t>Exigences Non-Fonctionnelles : Sécurité (OWASP) · Performance (&lt; 200ms API) · Responsive · Accessibilité · Maintenabilité</a:t>
            </a:r>
          </a:p>
        </p:txBody>
      </p:sp>
      <p:sp>
        <p:nvSpPr>
          <p:cNvPr id="61" name="TextBox 60"/>
          <p:cNvSpPr txBox="1"/>
          <p:nvPr/>
        </p:nvSpPr>
        <p:spPr>
          <a:xfrm>
            <a:off x="457200" y="6309360"/>
            <a:ext cx="10972800" cy="365760"/>
          </a:xfrm>
          <a:prstGeom prst="rect">
            <a:avLst/>
          </a:prstGeom>
          <a:noFill/>
        </p:spPr>
        <p:txBody>
          <a:bodyPr wrap="none">
            <a:spAutoFit/>
          </a:bodyPr>
          <a:lstStyle/>
          <a:p>
            <a:pPr algn="ctr">
              <a:defRPr sz="900">
                <a:solidFill>
                  <a:srgbClr val="94A3B8"/>
                </a:solidFill>
              </a:defRPr>
            </a:pPr>
            <a:r>
              <a:t>Dar-Soins — PFE Licence Pro IFIAG 2025/2026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563E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VI. Conception UML &amp; Modélisation</a:t>
            </a:r>
          </a:p>
        </p:txBody>
      </p:sp>
      <p:sp>
        <p:nvSpPr>
          <p:cNvPr id="5" name="TextBox 4"/>
          <p:cNvSpPr txBox="1"/>
          <p:nvPr/>
        </p:nvSpPr>
        <p:spPr>
          <a:xfrm>
            <a:off x="914400" y="3657600"/>
            <a:ext cx="10058400" cy="914400"/>
          </a:xfrm>
          <a:prstGeom prst="rect">
            <a:avLst/>
          </a:prstGeom>
          <a:noFill/>
        </p:spPr>
        <p:txBody>
          <a:bodyPr wrap="square">
            <a:spAutoFit/>
          </a:bodyPr>
          <a:lstStyle/>
          <a:p>
            <a:pPr algn="ctr">
              <a:defRPr sz="2000" b="0">
                <a:solidFill>
                  <a:srgbClr val="BFDBFE"/>
                </a:solidFill>
                <a:latin typeface="Calibri"/>
              </a:defRPr>
            </a:pPr>
            <a:r>
              <a:t>Diagrammes de cas d'utilisation, classes et séquence</a:t>
            </a:r>
          </a:p>
        </p:txBody>
      </p:sp>
      <p:sp>
        <p:nvSpPr>
          <p:cNvPr id="6" name="TextBox 5"/>
          <p:cNvSpPr txBox="1"/>
          <p:nvPr/>
        </p:nvSpPr>
        <p:spPr>
          <a:xfrm>
            <a:off x="457200" y="6309360"/>
            <a:ext cx="10972800" cy="365760"/>
          </a:xfrm>
          <a:prstGeom prst="rect">
            <a:avLst/>
          </a:prstGeom>
          <a:noFill/>
        </p:spPr>
        <p:txBody>
          <a:bodyPr wrap="none">
            <a:spAutoFit/>
          </a:bodyPr>
          <a:lstStyle/>
          <a:p>
            <a:pPr algn="ctr">
              <a:defRPr sz="900">
                <a:solidFill>
                  <a:srgbClr val="94A3B8"/>
                </a:solidFill>
              </a:defRPr>
            </a:pPr>
            <a:r>
              <a:t>Dar-Soins — PFE Licence Pro IFIAG 2025/2026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548640" y="228600"/>
            <a:ext cx="731520" cy="731520"/>
          </a:xfrm>
          <a:prstGeom prst="rect">
            <a:avLst/>
          </a:prstGeom>
        </p:spPr>
      </p:pic>
      <p:sp>
        <p:nvSpPr>
          <p:cNvPr id="5" name="TextBox 4"/>
          <p:cNvSpPr txBox="1"/>
          <p:nvPr/>
        </p:nvSpPr>
        <p:spPr>
          <a:xfrm>
            <a:off x="1463040" y="274320"/>
            <a:ext cx="9144000" cy="548640"/>
          </a:xfrm>
          <a:prstGeom prst="rect">
            <a:avLst/>
          </a:prstGeom>
          <a:noFill/>
        </p:spPr>
        <p:txBody>
          <a:bodyPr wrap="square">
            <a:spAutoFit/>
          </a:bodyPr>
          <a:lstStyle/>
          <a:p>
            <a:pPr algn="l">
              <a:defRPr sz="2800" b="1">
                <a:solidFill>
                  <a:srgbClr val="2563EB"/>
                </a:solidFill>
                <a:latin typeface="Calibri"/>
              </a:defRPr>
            </a:pPr>
            <a:r>
              <a:t>Diagramme de Cas d'Utilisation</a:t>
            </a:r>
          </a:p>
        </p:txBody>
      </p:sp>
      <p:sp>
        <p:nvSpPr>
          <p:cNvPr id="6" name="Rounded Rectangle 5"/>
          <p:cNvSpPr/>
          <p:nvPr/>
        </p:nvSpPr>
        <p:spPr>
          <a:xfrm>
            <a:off x="731520" y="1097280"/>
            <a:ext cx="3474720" cy="4572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143000"/>
            <a:ext cx="3291840" cy="365760"/>
          </a:xfrm>
          <a:prstGeom prst="rect">
            <a:avLst/>
          </a:prstGeom>
          <a:noFill/>
        </p:spPr>
        <p:txBody>
          <a:bodyPr wrap="square">
            <a:spAutoFit/>
          </a:bodyPr>
          <a:lstStyle/>
          <a:p>
            <a:pPr algn="ctr">
              <a:defRPr sz="1500" b="1">
                <a:solidFill>
                  <a:srgbClr val="FFFFFF"/>
                </a:solidFill>
                <a:latin typeface="Calibri"/>
              </a:defRPr>
            </a:pPr>
            <a:r>
              <a:t>🔹 Patient</a:t>
            </a:r>
          </a:p>
        </p:txBody>
      </p:sp>
      <p:sp>
        <p:nvSpPr>
          <p:cNvPr id="8" name="Oval 7"/>
          <p:cNvSpPr/>
          <p:nvPr/>
        </p:nvSpPr>
        <p:spPr>
          <a:xfrm>
            <a:off x="914400" y="1737360"/>
            <a:ext cx="3108960" cy="438912"/>
          </a:xfrm>
          <a:prstGeom prst="ellipse">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792224"/>
            <a:ext cx="2926080" cy="320040"/>
          </a:xfrm>
          <a:prstGeom prst="rect">
            <a:avLst/>
          </a:prstGeom>
          <a:noFill/>
        </p:spPr>
        <p:txBody>
          <a:bodyPr wrap="square">
            <a:spAutoFit/>
          </a:bodyPr>
          <a:lstStyle/>
          <a:p>
            <a:pPr algn="ctr">
              <a:defRPr sz="1100" b="0">
                <a:solidFill>
                  <a:srgbClr val="1E293B"/>
                </a:solidFill>
                <a:latin typeface="Calibri"/>
              </a:defRPr>
            </a:pPr>
            <a:r>
              <a:t>S'inscrire</a:t>
            </a:r>
          </a:p>
        </p:txBody>
      </p:sp>
      <p:sp>
        <p:nvSpPr>
          <p:cNvPr id="10" name="Oval 9"/>
          <p:cNvSpPr/>
          <p:nvPr/>
        </p:nvSpPr>
        <p:spPr>
          <a:xfrm>
            <a:off x="914400" y="2286000"/>
            <a:ext cx="3108960" cy="438912"/>
          </a:xfrm>
          <a:prstGeom prst="ellipse">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340864"/>
            <a:ext cx="2926080" cy="320040"/>
          </a:xfrm>
          <a:prstGeom prst="rect">
            <a:avLst/>
          </a:prstGeom>
          <a:noFill/>
        </p:spPr>
        <p:txBody>
          <a:bodyPr wrap="square">
            <a:spAutoFit/>
          </a:bodyPr>
          <a:lstStyle/>
          <a:p>
            <a:pPr algn="ctr">
              <a:defRPr sz="1100" b="0">
                <a:solidFill>
                  <a:srgbClr val="1E293B"/>
                </a:solidFill>
                <a:latin typeface="Calibri"/>
              </a:defRPr>
            </a:pPr>
            <a:r>
              <a:t>S'authentifier</a:t>
            </a:r>
          </a:p>
        </p:txBody>
      </p:sp>
      <p:sp>
        <p:nvSpPr>
          <p:cNvPr id="12" name="Oval 11"/>
          <p:cNvSpPr/>
          <p:nvPr/>
        </p:nvSpPr>
        <p:spPr>
          <a:xfrm>
            <a:off x="914400" y="2834639"/>
            <a:ext cx="3108960" cy="438912"/>
          </a:xfrm>
          <a:prstGeom prst="ellipse">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889503"/>
            <a:ext cx="2926080" cy="320040"/>
          </a:xfrm>
          <a:prstGeom prst="rect">
            <a:avLst/>
          </a:prstGeom>
          <a:noFill/>
        </p:spPr>
        <p:txBody>
          <a:bodyPr wrap="square">
            <a:spAutoFit/>
          </a:bodyPr>
          <a:lstStyle/>
          <a:p>
            <a:pPr algn="ctr">
              <a:defRPr sz="1100" b="0">
                <a:solidFill>
                  <a:srgbClr val="1E293B"/>
                </a:solidFill>
                <a:latin typeface="Calibri"/>
              </a:defRPr>
            </a:pPr>
            <a:r>
              <a:t>Commander un soin</a:t>
            </a:r>
          </a:p>
        </p:txBody>
      </p:sp>
      <p:sp>
        <p:nvSpPr>
          <p:cNvPr id="14" name="Oval 13"/>
          <p:cNvSpPr/>
          <p:nvPr/>
        </p:nvSpPr>
        <p:spPr>
          <a:xfrm>
            <a:off x="914400" y="3383279"/>
            <a:ext cx="3108960" cy="438912"/>
          </a:xfrm>
          <a:prstGeom prst="ellipse">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438143"/>
            <a:ext cx="2926080" cy="320040"/>
          </a:xfrm>
          <a:prstGeom prst="rect">
            <a:avLst/>
          </a:prstGeom>
          <a:noFill/>
        </p:spPr>
        <p:txBody>
          <a:bodyPr wrap="square">
            <a:spAutoFit/>
          </a:bodyPr>
          <a:lstStyle/>
          <a:p>
            <a:pPr algn="ctr">
              <a:defRPr sz="1100" b="0">
                <a:solidFill>
                  <a:srgbClr val="1E293B"/>
                </a:solidFill>
                <a:latin typeface="Calibri"/>
              </a:defRPr>
            </a:pPr>
            <a:r>
              <a:t>Consulter le devis</a:t>
            </a:r>
          </a:p>
        </p:txBody>
      </p:sp>
      <p:sp>
        <p:nvSpPr>
          <p:cNvPr id="16" name="Oval 15"/>
          <p:cNvSpPr/>
          <p:nvPr/>
        </p:nvSpPr>
        <p:spPr>
          <a:xfrm>
            <a:off x="914400" y="3931920"/>
            <a:ext cx="3108960" cy="438912"/>
          </a:xfrm>
          <a:prstGeom prst="ellipse">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986784"/>
            <a:ext cx="2926080" cy="320040"/>
          </a:xfrm>
          <a:prstGeom prst="rect">
            <a:avLst/>
          </a:prstGeom>
          <a:noFill/>
        </p:spPr>
        <p:txBody>
          <a:bodyPr wrap="square">
            <a:spAutoFit/>
          </a:bodyPr>
          <a:lstStyle/>
          <a:p>
            <a:pPr algn="ctr">
              <a:defRPr sz="1100" b="0">
                <a:solidFill>
                  <a:srgbClr val="1E293B"/>
                </a:solidFill>
                <a:latin typeface="Calibri"/>
              </a:defRPr>
            </a:pPr>
            <a:r>
              <a:t>Accepter le devis</a:t>
            </a:r>
          </a:p>
        </p:txBody>
      </p:sp>
      <p:sp>
        <p:nvSpPr>
          <p:cNvPr id="18" name="Oval 17"/>
          <p:cNvSpPr/>
          <p:nvPr/>
        </p:nvSpPr>
        <p:spPr>
          <a:xfrm>
            <a:off x="914400" y="4480560"/>
            <a:ext cx="3108960" cy="438912"/>
          </a:xfrm>
          <a:prstGeom prst="ellipse">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535424"/>
            <a:ext cx="2926080" cy="320040"/>
          </a:xfrm>
          <a:prstGeom prst="rect">
            <a:avLst/>
          </a:prstGeom>
          <a:noFill/>
        </p:spPr>
        <p:txBody>
          <a:bodyPr wrap="square">
            <a:spAutoFit/>
          </a:bodyPr>
          <a:lstStyle/>
          <a:p>
            <a:pPr algn="ctr">
              <a:defRPr sz="1100" b="0">
                <a:solidFill>
                  <a:srgbClr val="1E293B"/>
                </a:solidFill>
                <a:latin typeface="Calibri"/>
              </a:defRPr>
            </a:pPr>
            <a:r>
              <a:t>Suivre l'intervention</a:t>
            </a:r>
          </a:p>
        </p:txBody>
      </p:sp>
      <p:sp>
        <p:nvSpPr>
          <p:cNvPr id="20" name="Oval 19"/>
          <p:cNvSpPr/>
          <p:nvPr/>
        </p:nvSpPr>
        <p:spPr>
          <a:xfrm>
            <a:off x="914400" y="5029200"/>
            <a:ext cx="3108960" cy="438912"/>
          </a:xfrm>
          <a:prstGeom prst="ellipse">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5084064"/>
            <a:ext cx="2926080" cy="320040"/>
          </a:xfrm>
          <a:prstGeom prst="rect">
            <a:avLst/>
          </a:prstGeom>
          <a:noFill/>
        </p:spPr>
        <p:txBody>
          <a:bodyPr wrap="square">
            <a:spAutoFit/>
          </a:bodyPr>
          <a:lstStyle/>
          <a:p>
            <a:pPr algn="ctr">
              <a:defRPr sz="1100" b="0">
                <a:solidFill>
                  <a:srgbClr val="1E293B"/>
                </a:solidFill>
                <a:latin typeface="Calibri"/>
              </a:defRPr>
            </a:pPr>
            <a:r>
              <a:t>Consulter les factures</a:t>
            </a:r>
          </a:p>
        </p:txBody>
      </p:sp>
      <p:sp>
        <p:nvSpPr>
          <p:cNvPr id="22" name="Oval 21"/>
          <p:cNvSpPr/>
          <p:nvPr/>
        </p:nvSpPr>
        <p:spPr>
          <a:xfrm>
            <a:off x="914400" y="5577840"/>
            <a:ext cx="3108960" cy="438912"/>
          </a:xfrm>
          <a:prstGeom prst="ellipse">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5632704"/>
            <a:ext cx="2926080" cy="320040"/>
          </a:xfrm>
          <a:prstGeom prst="rect">
            <a:avLst/>
          </a:prstGeom>
          <a:noFill/>
        </p:spPr>
        <p:txBody>
          <a:bodyPr wrap="square">
            <a:spAutoFit/>
          </a:bodyPr>
          <a:lstStyle/>
          <a:p>
            <a:pPr algn="ctr">
              <a:defRPr sz="1100" b="0">
                <a:solidFill>
                  <a:srgbClr val="1E293B"/>
                </a:solidFill>
                <a:latin typeface="Calibri"/>
              </a:defRPr>
            </a:pPr>
            <a:r>
              <a:t>Signer numériquement</a:t>
            </a:r>
          </a:p>
        </p:txBody>
      </p:sp>
      <p:sp>
        <p:nvSpPr>
          <p:cNvPr id="24" name="Rounded Rectangle 23"/>
          <p:cNvSpPr/>
          <p:nvPr/>
        </p:nvSpPr>
        <p:spPr>
          <a:xfrm>
            <a:off x="4480559" y="1097280"/>
            <a:ext cx="3474720" cy="4572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1999" y="1143000"/>
            <a:ext cx="3291840" cy="365760"/>
          </a:xfrm>
          <a:prstGeom prst="rect">
            <a:avLst/>
          </a:prstGeom>
          <a:noFill/>
        </p:spPr>
        <p:txBody>
          <a:bodyPr wrap="square">
            <a:spAutoFit/>
          </a:bodyPr>
          <a:lstStyle/>
          <a:p>
            <a:pPr algn="ctr">
              <a:defRPr sz="1500" b="1">
                <a:solidFill>
                  <a:srgbClr val="FFFFFF"/>
                </a:solidFill>
                <a:latin typeface="Calibri"/>
              </a:defRPr>
            </a:pPr>
            <a:r>
              <a:t>🔹 Infirmier</a:t>
            </a:r>
          </a:p>
        </p:txBody>
      </p:sp>
      <p:sp>
        <p:nvSpPr>
          <p:cNvPr id="26" name="Oval 25"/>
          <p:cNvSpPr/>
          <p:nvPr/>
        </p:nvSpPr>
        <p:spPr>
          <a:xfrm>
            <a:off x="4663439" y="1737360"/>
            <a:ext cx="3108960" cy="438912"/>
          </a:xfrm>
          <a:prstGeom prst="ellipse">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54879" y="1792224"/>
            <a:ext cx="2926080" cy="320040"/>
          </a:xfrm>
          <a:prstGeom prst="rect">
            <a:avLst/>
          </a:prstGeom>
          <a:noFill/>
        </p:spPr>
        <p:txBody>
          <a:bodyPr wrap="square">
            <a:spAutoFit/>
          </a:bodyPr>
          <a:lstStyle/>
          <a:p>
            <a:pPr algn="ctr">
              <a:defRPr sz="1100" b="0">
                <a:solidFill>
                  <a:srgbClr val="1E293B"/>
                </a:solidFill>
                <a:latin typeface="Calibri"/>
              </a:defRPr>
            </a:pPr>
            <a:r>
              <a:t>S'authentifier</a:t>
            </a:r>
          </a:p>
        </p:txBody>
      </p:sp>
      <p:sp>
        <p:nvSpPr>
          <p:cNvPr id="28" name="Oval 27"/>
          <p:cNvSpPr/>
          <p:nvPr/>
        </p:nvSpPr>
        <p:spPr>
          <a:xfrm>
            <a:off x="4663439" y="2286000"/>
            <a:ext cx="3108960" cy="438912"/>
          </a:xfrm>
          <a:prstGeom prst="ellipse">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54879" y="2340864"/>
            <a:ext cx="2926080" cy="320040"/>
          </a:xfrm>
          <a:prstGeom prst="rect">
            <a:avLst/>
          </a:prstGeom>
          <a:noFill/>
        </p:spPr>
        <p:txBody>
          <a:bodyPr wrap="square">
            <a:spAutoFit/>
          </a:bodyPr>
          <a:lstStyle/>
          <a:p>
            <a:pPr algn="ctr">
              <a:defRPr sz="1100" b="0">
                <a:solidFill>
                  <a:srgbClr val="1E293B"/>
                </a:solidFill>
                <a:latin typeface="Calibri"/>
              </a:defRPr>
            </a:pPr>
            <a:r>
              <a:t>Consulter les missions</a:t>
            </a:r>
          </a:p>
        </p:txBody>
      </p:sp>
      <p:sp>
        <p:nvSpPr>
          <p:cNvPr id="30" name="Oval 29"/>
          <p:cNvSpPr/>
          <p:nvPr/>
        </p:nvSpPr>
        <p:spPr>
          <a:xfrm>
            <a:off x="4663439" y="2834639"/>
            <a:ext cx="3108960" cy="438912"/>
          </a:xfrm>
          <a:prstGeom prst="ellipse">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4879" y="2889503"/>
            <a:ext cx="2926080" cy="320040"/>
          </a:xfrm>
          <a:prstGeom prst="rect">
            <a:avLst/>
          </a:prstGeom>
          <a:noFill/>
        </p:spPr>
        <p:txBody>
          <a:bodyPr wrap="square">
            <a:spAutoFit/>
          </a:bodyPr>
          <a:lstStyle/>
          <a:p>
            <a:pPr algn="ctr">
              <a:defRPr sz="1100" b="0">
                <a:solidFill>
                  <a:srgbClr val="1E293B"/>
                </a:solidFill>
                <a:latin typeface="Calibri"/>
              </a:defRPr>
            </a:pPr>
            <a:r>
              <a:t>Accepter/Refuser mission</a:t>
            </a:r>
          </a:p>
        </p:txBody>
      </p:sp>
      <p:sp>
        <p:nvSpPr>
          <p:cNvPr id="32" name="Oval 31"/>
          <p:cNvSpPr/>
          <p:nvPr/>
        </p:nvSpPr>
        <p:spPr>
          <a:xfrm>
            <a:off x="4663439" y="3383279"/>
            <a:ext cx="3108960" cy="438912"/>
          </a:xfrm>
          <a:prstGeom prst="ellipse">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54879" y="3438143"/>
            <a:ext cx="2926080" cy="320040"/>
          </a:xfrm>
          <a:prstGeom prst="rect">
            <a:avLst/>
          </a:prstGeom>
          <a:noFill/>
        </p:spPr>
        <p:txBody>
          <a:bodyPr wrap="square">
            <a:spAutoFit/>
          </a:bodyPr>
          <a:lstStyle/>
          <a:p>
            <a:pPr algn="ctr">
              <a:defRPr sz="1100" b="0">
                <a:solidFill>
                  <a:srgbClr val="1E293B"/>
                </a:solidFill>
                <a:latin typeface="Calibri"/>
              </a:defRPr>
            </a:pPr>
            <a:r>
              <a:t>Saisir constantes médicales</a:t>
            </a:r>
          </a:p>
        </p:txBody>
      </p:sp>
      <p:sp>
        <p:nvSpPr>
          <p:cNvPr id="34" name="Oval 33"/>
          <p:cNvSpPr/>
          <p:nvPr/>
        </p:nvSpPr>
        <p:spPr>
          <a:xfrm>
            <a:off x="4663439" y="3931920"/>
            <a:ext cx="3108960" cy="438912"/>
          </a:xfrm>
          <a:prstGeom prst="ellipse">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54879" y="3986784"/>
            <a:ext cx="2926080" cy="320040"/>
          </a:xfrm>
          <a:prstGeom prst="rect">
            <a:avLst/>
          </a:prstGeom>
          <a:noFill/>
        </p:spPr>
        <p:txBody>
          <a:bodyPr wrap="square">
            <a:spAutoFit/>
          </a:bodyPr>
          <a:lstStyle/>
          <a:p>
            <a:pPr algn="ctr">
              <a:defRPr sz="1100" b="0">
                <a:solidFill>
                  <a:srgbClr val="1E293B"/>
                </a:solidFill>
                <a:latin typeface="Calibri"/>
              </a:defRPr>
            </a:pPr>
            <a:r>
              <a:t>Enregistrer consommables</a:t>
            </a:r>
          </a:p>
        </p:txBody>
      </p:sp>
      <p:sp>
        <p:nvSpPr>
          <p:cNvPr id="36" name="Oval 35"/>
          <p:cNvSpPr/>
          <p:nvPr/>
        </p:nvSpPr>
        <p:spPr>
          <a:xfrm>
            <a:off x="4663439" y="4480560"/>
            <a:ext cx="3108960" cy="438912"/>
          </a:xfrm>
          <a:prstGeom prst="ellipse">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54879" y="4535424"/>
            <a:ext cx="2926080" cy="320040"/>
          </a:xfrm>
          <a:prstGeom prst="rect">
            <a:avLst/>
          </a:prstGeom>
          <a:noFill/>
        </p:spPr>
        <p:txBody>
          <a:bodyPr wrap="square">
            <a:spAutoFit/>
          </a:bodyPr>
          <a:lstStyle/>
          <a:p>
            <a:pPr algn="ctr">
              <a:defRPr sz="1100" b="0">
                <a:solidFill>
                  <a:srgbClr val="1E293B"/>
                </a:solidFill>
                <a:latin typeface="Calibri"/>
              </a:defRPr>
            </a:pPr>
            <a:r>
              <a:t>Clôturer intervention</a:t>
            </a:r>
          </a:p>
        </p:txBody>
      </p:sp>
      <p:sp>
        <p:nvSpPr>
          <p:cNvPr id="38" name="Oval 37"/>
          <p:cNvSpPr/>
          <p:nvPr/>
        </p:nvSpPr>
        <p:spPr>
          <a:xfrm>
            <a:off x="4663439" y="5029200"/>
            <a:ext cx="3108960" cy="438912"/>
          </a:xfrm>
          <a:prstGeom prst="ellipse">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54879" y="5084064"/>
            <a:ext cx="2926080" cy="320040"/>
          </a:xfrm>
          <a:prstGeom prst="rect">
            <a:avLst/>
          </a:prstGeom>
          <a:noFill/>
        </p:spPr>
        <p:txBody>
          <a:bodyPr wrap="square">
            <a:spAutoFit/>
          </a:bodyPr>
          <a:lstStyle/>
          <a:p>
            <a:pPr algn="ctr">
              <a:defRPr sz="1100" b="0">
                <a:solidFill>
                  <a:srgbClr val="1E293B"/>
                </a:solidFill>
                <a:latin typeface="Calibri"/>
              </a:defRPr>
            </a:pPr>
            <a:r>
              <a:t>Consulter commissions</a:t>
            </a:r>
          </a:p>
        </p:txBody>
      </p:sp>
      <p:sp>
        <p:nvSpPr>
          <p:cNvPr id="40" name="Rounded Rectangle 39"/>
          <p:cNvSpPr/>
          <p:nvPr/>
        </p:nvSpPr>
        <p:spPr>
          <a:xfrm>
            <a:off x="8229600" y="1097280"/>
            <a:ext cx="3474720" cy="4572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21040" y="1143000"/>
            <a:ext cx="3291840" cy="365760"/>
          </a:xfrm>
          <a:prstGeom prst="rect">
            <a:avLst/>
          </a:prstGeom>
          <a:noFill/>
        </p:spPr>
        <p:txBody>
          <a:bodyPr wrap="square">
            <a:spAutoFit/>
          </a:bodyPr>
          <a:lstStyle/>
          <a:p>
            <a:pPr algn="ctr">
              <a:defRPr sz="1500" b="1">
                <a:solidFill>
                  <a:srgbClr val="FFFFFF"/>
                </a:solidFill>
                <a:latin typeface="Calibri"/>
              </a:defRPr>
            </a:pPr>
            <a:r>
              <a:t>🔹 Gestionnaire</a:t>
            </a:r>
          </a:p>
        </p:txBody>
      </p:sp>
      <p:sp>
        <p:nvSpPr>
          <p:cNvPr id="42" name="Oval 41"/>
          <p:cNvSpPr/>
          <p:nvPr/>
        </p:nvSpPr>
        <p:spPr>
          <a:xfrm>
            <a:off x="8412480" y="1737360"/>
            <a:ext cx="3108960" cy="438912"/>
          </a:xfrm>
          <a:prstGeom prst="ellipse">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503920" y="1792224"/>
            <a:ext cx="2926080" cy="320040"/>
          </a:xfrm>
          <a:prstGeom prst="rect">
            <a:avLst/>
          </a:prstGeom>
          <a:noFill/>
        </p:spPr>
        <p:txBody>
          <a:bodyPr wrap="square">
            <a:spAutoFit/>
          </a:bodyPr>
          <a:lstStyle/>
          <a:p>
            <a:pPr algn="ctr">
              <a:defRPr sz="1100" b="0">
                <a:solidFill>
                  <a:srgbClr val="1E293B"/>
                </a:solidFill>
                <a:latin typeface="Calibri"/>
              </a:defRPr>
            </a:pPr>
            <a:r>
              <a:t>Gérer produits/services</a:t>
            </a:r>
          </a:p>
        </p:txBody>
      </p:sp>
      <p:sp>
        <p:nvSpPr>
          <p:cNvPr id="44" name="Oval 43"/>
          <p:cNvSpPr/>
          <p:nvPr/>
        </p:nvSpPr>
        <p:spPr>
          <a:xfrm>
            <a:off x="8412480" y="2286000"/>
            <a:ext cx="3108960" cy="438912"/>
          </a:xfrm>
          <a:prstGeom prst="ellipse">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503920" y="2340864"/>
            <a:ext cx="2926080" cy="320040"/>
          </a:xfrm>
          <a:prstGeom prst="rect">
            <a:avLst/>
          </a:prstGeom>
          <a:noFill/>
        </p:spPr>
        <p:txBody>
          <a:bodyPr wrap="square">
            <a:spAutoFit/>
          </a:bodyPr>
          <a:lstStyle/>
          <a:p>
            <a:pPr algn="ctr">
              <a:defRPr sz="1100" b="0">
                <a:solidFill>
                  <a:srgbClr val="1E293B"/>
                </a:solidFill>
                <a:latin typeface="Calibri"/>
              </a:defRPr>
            </a:pPr>
            <a:r>
              <a:t>Gérer utilisateurs</a:t>
            </a:r>
          </a:p>
        </p:txBody>
      </p:sp>
      <p:sp>
        <p:nvSpPr>
          <p:cNvPr id="46" name="Oval 45"/>
          <p:cNvSpPr/>
          <p:nvPr/>
        </p:nvSpPr>
        <p:spPr>
          <a:xfrm>
            <a:off x="8412480" y="2834639"/>
            <a:ext cx="3108960" cy="438912"/>
          </a:xfrm>
          <a:prstGeom prst="ellipse">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0" y="2889503"/>
            <a:ext cx="2926080" cy="320040"/>
          </a:xfrm>
          <a:prstGeom prst="rect">
            <a:avLst/>
          </a:prstGeom>
          <a:noFill/>
        </p:spPr>
        <p:txBody>
          <a:bodyPr wrap="square">
            <a:spAutoFit/>
          </a:bodyPr>
          <a:lstStyle/>
          <a:p>
            <a:pPr algn="ctr">
              <a:defRPr sz="1100" b="0">
                <a:solidFill>
                  <a:srgbClr val="1E293B"/>
                </a:solidFill>
                <a:latin typeface="Calibri"/>
              </a:defRPr>
            </a:pPr>
            <a:r>
              <a:t>Gérer les rôles (RBAC)</a:t>
            </a:r>
          </a:p>
        </p:txBody>
      </p:sp>
      <p:sp>
        <p:nvSpPr>
          <p:cNvPr id="48" name="Oval 47"/>
          <p:cNvSpPr/>
          <p:nvPr/>
        </p:nvSpPr>
        <p:spPr>
          <a:xfrm>
            <a:off x="8412480" y="3383279"/>
            <a:ext cx="3108960" cy="438912"/>
          </a:xfrm>
          <a:prstGeom prst="ellipse">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503920" y="3438143"/>
            <a:ext cx="2926080" cy="320040"/>
          </a:xfrm>
          <a:prstGeom prst="rect">
            <a:avLst/>
          </a:prstGeom>
          <a:noFill/>
        </p:spPr>
        <p:txBody>
          <a:bodyPr wrap="square">
            <a:spAutoFit/>
          </a:bodyPr>
          <a:lstStyle/>
          <a:p>
            <a:pPr algn="ctr">
              <a:defRPr sz="1100" b="0">
                <a:solidFill>
                  <a:srgbClr val="1E293B"/>
                </a:solidFill>
                <a:latin typeface="Calibri"/>
              </a:defRPr>
            </a:pPr>
            <a:r>
              <a:t>Administrer stocks/achats</a:t>
            </a:r>
          </a:p>
        </p:txBody>
      </p:sp>
      <p:sp>
        <p:nvSpPr>
          <p:cNvPr id="50" name="Oval 49"/>
          <p:cNvSpPr/>
          <p:nvPr/>
        </p:nvSpPr>
        <p:spPr>
          <a:xfrm>
            <a:off x="8412480" y="3931920"/>
            <a:ext cx="3108960" cy="438912"/>
          </a:xfrm>
          <a:prstGeom prst="ellipse">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503920" y="3986784"/>
            <a:ext cx="2926080" cy="320040"/>
          </a:xfrm>
          <a:prstGeom prst="rect">
            <a:avLst/>
          </a:prstGeom>
          <a:noFill/>
        </p:spPr>
        <p:txBody>
          <a:bodyPr wrap="square">
            <a:spAutoFit/>
          </a:bodyPr>
          <a:lstStyle/>
          <a:p>
            <a:pPr algn="ctr">
              <a:defRPr sz="1100" b="0">
                <a:solidFill>
                  <a:srgbClr val="1E293B"/>
                </a:solidFill>
                <a:latin typeface="Calibri"/>
              </a:defRPr>
            </a:pPr>
            <a:r>
              <a:t>Configurer paramètres</a:t>
            </a:r>
          </a:p>
        </p:txBody>
      </p:sp>
      <p:sp>
        <p:nvSpPr>
          <p:cNvPr id="52" name="Oval 51"/>
          <p:cNvSpPr/>
          <p:nvPr/>
        </p:nvSpPr>
        <p:spPr>
          <a:xfrm>
            <a:off x="8412480" y="4480560"/>
            <a:ext cx="3108960" cy="438912"/>
          </a:xfrm>
          <a:prstGeom prst="ellipse">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503920" y="4535424"/>
            <a:ext cx="2926080" cy="320040"/>
          </a:xfrm>
          <a:prstGeom prst="rect">
            <a:avLst/>
          </a:prstGeom>
          <a:noFill/>
        </p:spPr>
        <p:txBody>
          <a:bodyPr wrap="square">
            <a:spAutoFit/>
          </a:bodyPr>
          <a:lstStyle/>
          <a:p>
            <a:pPr algn="ctr">
              <a:defRPr sz="1100" b="0">
                <a:solidFill>
                  <a:srgbClr val="1E293B"/>
                </a:solidFill>
                <a:latin typeface="Calibri"/>
              </a:defRPr>
            </a:pPr>
            <a:r>
              <a:t>Consulter tableau de bord</a:t>
            </a:r>
          </a:p>
        </p:txBody>
      </p:sp>
      <p:sp>
        <p:nvSpPr>
          <p:cNvPr id="54" name="Oval 53"/>
          <p:cNvSpPr/>
          <p:nvPr/>
        </p:nvSpPr>
        <p:spPr>
          <a:xfrm>
            <a:off x="8412480" y="5029200"/>
            <a:ext cx="3108960" cy="438912"/>
          </a:xfrm>
          <a:prstGeom prst="ellipse">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503920" y="5084064"/>
            <a:ext cx="2926080" cy="320040"/>
          </a:xfrm>
          <a:prstGeom prst="rect">
            <a:avLst/>
          </a:prstGeom>
          <a:noFill/>
        </p:spPr>
        <p:txBody>
          <a:bodyPr wrap="square">
            <a:spAutoFit/>
          </a:bodyPr>
          <a:lstStyle/>
          <a:p>
            <a:pPr algn="ctr">
              <a:defRPr sz="1100" b="0">
                <a:solidFill>
                  <a:srgbClr val="1E293B"/>
                </a:solidFill>
                <a:latin typeface="Calibri"/>
              </a:defRPr>
            </a:pPr>
            <a:r>
              <a:t>Gérer facturation</a:t>
            </a:r>
          </a:p>
        </p:txBody>
      </p:sp>
      <p:sp>
        <p:nvSpPr>
          <p:cNvPr id="56" name="TextBox 55"/>
          <p:cNvSpPr txBox="1"/>
          <p:nvPr/>
        </p:nvSpPr>
        <p:spPr>
          <a:xfrm>
            <a:off x="457200" y="6309360"/>
            <a:ext cx="10972800" cy="365760"/>
          </a:xfrm>
          <a:prstGeom prst="rect">
            <a:avLst/>
          </a:prstGeom>
          <a:noFill/>
        </p:spPr>
        <p:txBody>
          <a:bodyPr wrap="none">
            <a:spAutoFit/>
          </a:bodyPr>
          <a:lstStyle/>
          <a:p>
            <a:pPr algn="ctr">
              <a:defRPr sz="900">
                <a:solidFill>
                  <a:srgbClr val="94A3B8"/>
                </a:solidFill>
              </a:defRPr>
            </a:pPr>
            <a:r>
              <a:t>Dar-Soins — PFE Licence Pro IFIAG 2025/2026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548640" y="228600"/>
            <a:ext cx="731520" cy="731520"/>
          </a:xfrm>
          <a:prstGeom prst="rect">
            <a:avLst/>
          </a:prstGeom>
        </p:spPr>
      </p:pic>
      <p:sp>
        <p:nvSpPr>
          <p:cNvPr id="5" name="TextBox 4"/>
          <p:cNvSpPr txBox="1"/>
          <p:nvPr/>
        </p:nvSpPr>
        <p:spPr>
          <a:xfrm>
            <a:off x="1463040" y="274320"/>
            <a:ext cx="9144000" cy="548640"/>
          </a:xfrm>
          <a:prstGeom prst="rect">
            <a:avLst/>
          </a:prstGeom>
          <a:noFill/>
        </p:spPr>
        <p:txBody>
          <a:bodyPr wrap="square">
            <a:spAutoFit/>
          </a:bodyPr>
          <a:lstStyle/>
          <a:p>
            <a:pPr algn="l">
              <a:defRPr sz="2800" b="1">
                <a:solidFill>
                  <a:srgbClr val="2563EB"/>
                </a:solidFill>
                <a:latin typeface="Calibri"/>
              </a:defRPr>
            </a:pPr>
            <a:r>
              <a:t>Diagramme de Classes — Modèle de Données</a:t>
            </a:r>
          </a:p>
        </p:txBody>
      </p:sp>
      <p:sp>
        <p:nvSpPr>
          <p:cNvPr id="6" name="Rounded Rectangle 5"/>
          <p:cNvSpPr/>
          <p:nvPr/>
        </p:nvSpPr>
        <p:spPr>
          <a:xfrm>
            <a:off x="4389120" y="1097280"/>
            <a:ext cx="2286000" cy="118872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0" y="1097280"/>
            <a:ext cx="2286000" cy="3200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34840" y="1115568"/>
            <a:ext cx="2194560" cy="274320"/>
          </a:xfrm>
          <a:prstGeom prst="rect">
            <a:avLst/>
          </a:prstGeom>
          <a:noFill/>
        </p:spPr>
        <p:txBody>
          <a:bodyPr wrap="square">
            <a:spAutoFit/>
          </a:bodyPr>
          <a:lstStyle/>
          <a:p>
            <a:pPr algn="ctr">
              <a:defRPr sz="1200" b="1">
                <a:solidFill>
                  <a:srgbClr val="FFFFFF"/>
                </a:solidFill>
                <a:latin typeface="Calibri"/>
              </a:defRPr>
            </a:pPr>
            <a:r>
              <a:t>User</a:t>
            </a:r>
          </a:p>
        </p:txBody>
      </p:sp>
      <p:sp>
        <p:nvSpPr>
          <p:cNvPr id="9" name="TextBox 8"/>
          <p:cNvSpPr txBox="1"/>
          <p:nvPr/>
        </p:nvSpPr>
        <p:spPr>
          <a:xfrm>
            <a:off x="4480560" y="1463040"/>
            <a:ext cx="2103120" cy="777240"/>
          </a:xfrm>
          <a:prstGeom prst="rect">
            <a:avLst/>
          </a:prstGeom>
          <a:noFill/>
        </p:spPr>
        <p:txBody>
          <a:bodyPr wrap="square">
            <a:spAutoFit/>
          </a:bodyPr>
          <a:lstStyle/>
          <a:p>
            <a:pPr algn="l">
              <a:defRPr sz="900" b="0">
                <a:solidFill>
                  <a:srgbClr val="1E293B"/>
                </a:solidFill>
                <a:latin typeface="Calibri"/>
              </a:defRPr>
            </a:pPr>
            <a:r>
              <a:t>id, name, prenom, email,</a:t>
            </a:r>
            <a:br/>
            <a:r>
              <a:t>password, role, telephone</a:t>
            </a:r>
          </a:p>
        </p:txBody>
      </p:sp>
      <p:sp>
        <p:nvSpPr>
          <p:cNvPr id="10" name="Rounded Rectangle 9"/>
          <p:cNvSpPr/>
          <p:nvPr/>
        </p:nvSpPr>
        <p:spPr>
          <a:xfrm>
            <a:off x="1371600" y="2560320"/>
            <a:ext cx="2286000" cy="118872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371600" y="2560320"/>
            <a:ext cx="2286000" cy="3200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17320" y="2578608"/>
            <a:ext cx="2194560" cy="274320"/>
          </a:xfrm>
          <a:prstGeom prst="rect">
            <a:avLst/>
          </a:prstGeom>
          <a:noFill/>
        </p:spPr>
        <p:txBody>
          <a:bodyPr wrap="square">
            <a:spAutoFit/>
          </a:bodyPr>
          <a:lstStyle/>
          <a:p>
            <a:pPr algn="ctr">
              <a:defRPr sz="1200" b="1">
                <a:solidFill>
                  <a:srgbClr val="FFFFFF"/>
                </a:solidFill>
                <a:latin typeface="Calibri"/>
              </a:defRPr>
            </a:pPr>
            <a:r>
              <a:t>Client</a:t>
            </a:r>
          </a:p>
        </p:txBody>
      </p:sp>
      <p:sp>
        <p:nvSpPr>
          <p:cNvPr id="13" name="TextBox 12"/>
          <p:cNvSpPr txBox="1"/>
          <p:nvPr/>
        </p:nvSpPr>
        <p:spPr>
          <a:xfrm>
            <a:off x="1463040" y="2926080"/>
            <a:ext cx="2103120" cy="777240"/>
          </a:xfrm>
          <a:prstGeom prst="rect">
            <a:avLst/>
          </a:prstGeom>
          <a:noFill/>
        </p:spPr>
        <p:txBody>
          <a:bodyPr wrap="square">
            <a:spAutoFit/>
          </a:bodyPr>
          <a:lstStyle/>
          <a:p>
            <a:pPr algn="l">
              <a:defRPr sz="900" b="0">
                <a:solidFill>
                  <a:srgbClr val="1E293B"/>
                </a:solidFill>
                <a:latin typeface="Calibri"/>
              </a:defRPr>
            </a:pPr>
            <a:r>
              <a:t>id, user_id, adresse,</a:t>
            </a:r>
            <a:br/>
            <a:r>
              <a:t>ville, cin</a:t>
            </a:r>
          </a:p>
        </p:txBody>
      </p:sp>
      <p:sp>
        <p:nvSpPr>
          <p:cNvPr id="14" name="Rounded Rectangle 13"/>
          <p:cNvSpPr/>
          <p:nvPr/>
        </p:nvSpPr>
        <p:spPr>
          <a:xfrm>
            <a:off x="4389120" y="2560320"/>
            <a:ext cx="2286000" cy="118872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2560320"/>
            <a:ext cx="2286000" cy="3200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4840" y="2578608"/>
            <a:ext cx="2194560" cy="274320"/>
          </a:xfrm>
          <a:prstGeom prst="rect">
            <a:avLst/>
          </a:prstGeom>
          <a:noFill/>
        </p:spPr>
        <p:txBody>
          <a:bodyPr wrap="square">
            <a:spAutoFit/>
          </a:bodyPr>
          <a:lstStyle/>
          <a:p>
            <a:pPr algn="ctr">
              <a:defRPr sz="1200" b="1">
                <a:solidFill>
                  <a:srgbClr val="FFFFFF"/>
                </a:solidFill>
                <a:latin typeface="Calibri"/>
              </a:defRPr>
            </a:pPr>
            <a:r>
              <a:t>Infirmier</a:t>
            </a:r>
          </a:p>
        </p:txBody>
      </p:sp>
      <p:sp>
        <p:nvSpPr>
          <p:cNvPr id="17" name="TextBox 16"/>
          <p:cNvSpPr txBox="1"/>
          <p:nvPr/>
        </p:nvSpPr>
        <p:spPr>
          <a:xfrm>
            <a:off x="4480560" y="2926080"/>
            <a:ext cx="2103120" cy="777240"/>
          </a:xfrm>
          <a:prstGeom prst="rect">
            <a:avLst/>
          </a:prstGeom>
          <a:noFill/>
        </p:spPr>
        <p:txBody>
          <a:bodyPr wrap="square">
            <a:spAutoFit/>
          </a:bodyPr>
          <a:lstStyle/>
          <a:p>
            <a:pPr algn="l">
              <a:defRPr sz="900" b="0">
                <a:solidFill>
                  <a:srgbClr val="1E293B"/>
                </a:solidFill>
                <a:latin typeface="Calibri"/>
              </a:defRPr>
            </a:pPr>
            <a:r>
              <a:t>id, user_id, specialite,</a:t>
            </a:r>
            <a:br/>
            <a:r>
              <a:t>lat, lng, disponible</a:t>
            </a:r>
          </a:p>
        </p:txBody>
      </p:sp>
      <p:sp>
        <p:nvSpPr>
          <p:cNvPr id="18" name="Rounded Rectangle 17"/>
          <p:cNvSpPr/>
          <p:nvPr/>
        </p:nvSpPr>
        <p:spPr>
          <a:xfrm>
            <a:off x="7498079" y="2560320"/>
            <a:ext cx="2286000" cy="118872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98079" y="2560320"/>
            <a:ext cx="2286000" cy="3200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43799" y="2578608"/>
            <a:ext cx="2194560" cy="274320"/>
          </a:xfrm>
          <a:prstGeom prst="rect">
            <a:avLst/>
          </a:prstGeom>
          <a:noFill/>
        </p:spPr>
        <p:txBody>
          <a:bodyPr wrap="square">
            <a:spAutoFit/>
          </a:bodyPr>
          <a:lstStyle/>
          <a:p>
            <a:pPr algn="ctr">
              <a:defRPr sz="1200" b="1">
                <a:solidFill>
                  <a:srgbClr val="FFFFFF"/>
                </a:solidFill>
                <a:latin typeface="Calibri"/>
              </a:defRPr>
            </a:pPr>
            <a:r>
              <a:t>Gestionnaire</a:t>
            </a:r>
          </a:p>
        </p:txBody>
      </p:sp>
      <p:sp>
        <p:nvSpPr>
          <p:cNvPr id="21" name="TextBox 20"/>
          <p:cNvSpPr txBox="1"/>
          <p:nvPr/>
        </p:nvSpPr>
        <p:spPr>
          <a:xfrm>
            <a:off x="7589519" y="2926080"/>
            <a:ext cx="2103120" cy="777240"/>
          </a:xfrm>
          <a:prstGeom prst="rect">
            <a:avLst/>
          </a:prstGeom>
          <a:noFill/>
        </p:spPr>
        <p:txBody>
          <a:bodyPr wrap="square">
            <a:spAutoFit/>
          </a:bodyPr>
          <a:lstStyle/>
          <a:p>
            <a:pPr algn="l">
              <a:defRPr sz="900" b="0">
                <a:solidFill>
                  <a:srgbClr val="1E293B"/>
                </a:solidFill>
                <a:latin typeface="Calibri"/>
              </a:defRPr>
            </a:pPr>
            <a:r>
              <a:t>id, user_id, departement</a:t>
            </a:r>
          </a:p>
        </p:txBody>
      </p:sp>
      <p:sp>
        <p:nvSpPr>
          <p:cNvPr id="22" name="Rounded Rectangle 21"/>
          <p:cNvSpPr/>
          <p:nvPr/>
        </p:nvSpPr>
        <p:spPr>
          <a:xfrm>
            <a:off x="1371600" y="4206240"/>
            <a:ext cx="2286000" cy="118872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371600" y="4206240"/>
            <a:ext cx="2286000" cy="3200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417320" y="4224528"/>
            <a:ext cx="2194560" cy="274320"/>
          </a:xfrm>
          <a:prstGeom prst="rect">
            <a:avLst/>
          </a:prstGeom>
          <a:noFill/>
        </p:spPr>
        <p:txBody>
          <a:bodyPr wrap="square">
            <a:spAutoFit/>
          </a:bodyPr>
          <a:lstStyle/>
          <a:p>
            <a:pPr algn="ctr">
              <a:defRPr sz="1200" b="1">
                <a:solidFill>
                  <a:srgbClr val="FFFFFF"/>
                </a:solidFill>
                <a:latin typeface="Calibri"/>
              </a:defRPr>
            </a:pPr>
            <a:r>
              <a:t>Intervention</a:t>
            </a:r>
          </a:p>
        </p:txBody>
      </p:sp>
      <p:sp>
        <p:nvSpPr>
          <p:cNvPr id="25" name="TextBox 24"/>
          <p:cNvSpPr txBox="1"/>
          <p:nvPr/>
        </p:nvSpPr>
        <p:spPr>
          <a:xfrm>
            <a:off x="1463040" y="4572000"/>
            <a:ext cx="2103120" cy="777240"/>
          </a:xfrm>
          <a:prstGeom prst="rect">
            <a:avLst/>
          </a:prstGeom>
          <a:noFill/>
        </p:spPr>
        <p:txBody>
          <a:bodyPr wrap="square">
            <a:spAutoFit/>
          </a:bodyPr>
          <a:lstStyle/>
          <a:p>
            <a:pPr algn="l">
              <a:defRPr sz="900" b="0">
                <a:solidFill>
                  <a:srgbClr val="1E293B"/>
                </a:solidFill>
                <a:latin typeface="Calibri"/>
              </a:defRPr>
            </a:pPr>
            <a:r>
              <a:t>id, client_id, infirmier_id,</a:t>
            </a:r>
            <a:br/>
            <a:r>
              <a:t>produit_id, type, statut,</a:t>
            </a:r>
            <a:br/>
            <a:r>
              <a:t>date_prevue, montant</a:t>
            </a:r>
          </a:p>
        </p:txBody>
      </p:sp>
      <p:sp>
        <p:nvSpPr>
          <p:cNvPr id="26" name="Rounded Rectangle 25"/>
          <p:cNvSpPr/>
          <p:nvPr/>
        </p:nvSpPr>
        <p:spPr>
          <a:xfrm>
            <a:off x="4389120" y="4206240"/>
            <a:ext cx="2286000" cy="118872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89120" y="4206240"/>
            <a:ext cx="2286000" cy="3200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4840" y="4224528"/>
            <a:ext cx="2194560" cy="274320"/>
          </a:xfrm>
          <a:prstGeom prst="rect">
            <a:avLst/>
          </a:prstGeom>
          <a:noFill/>
        </p:spPr>
        <p:txBody>
          <a:bodyPr wrap="square">
            <a:spAutoFit/>
          </a:bodyPr>
          <a:lstStyle/>
          <a:p>
            <a:pPr algn="ctr">
              <a:defRPr sz="1200" b="1">
                <a:solidFill>
                  <a:srgbClr val="FFFFFF"/>
                </a:solidFill>
                <a:latin typeface="Calibri"/>
              </a:defRPr>
            </a:pPr>
            <a:r>
              <a:t>Produit</a:t>
            </a:r>
          </a:p>
        </p:txBody>
      </p:sp>
      <p:sp>
        <p:nvSpPr>
          <p:cNvPr id="29" name="TextBox 28"/>
          <p:cNvSpPr txBox="1"/>
          <p:nvPr/>
        </p:nvSpPr>
        <p:spPr>
          <a:xfrm>
            <a:off x="4480560" y="4572000"/>
            <a:ext cx="2103120" cy="777240"/>
          </a:xfrm>
          <a:prstGeom prst="rect">
            <a:avLst/>
          </a:prstGeom>
          <a:noFill/>
        </p:spPr>
        <p:txBody>
          <a:bodyPr wrap="square">
            <a:spAutoFit/>
          </a:bodyPr>
          <a:lstStyle/>
          <a:p>
            <a:pPr algn="l">
              <a:defRPr sz="900" b="0">
                <a:solidFill>
                  <a:srgbClr val="1E293B"/>
                </a:solidFill>
                <a:latin typeface="Calibri"/>
              </a:defRPr>
            </a:pPr>
            <a:r>
              <a:t>id, nom, prix_client,</a:t>
            </a:r>
            <a:br/>
            <a:r>
              <a:t>categorie, type_remise,</a:t>
            </a:r>
            <a:br/>
            <a:r>
              <a:t>stock_quantite</a:t>
            </a:r>
          </a:p>
        </p:txBody>
      </p:sp>
      <p:sp>
        <p:nvSpPr>
          <p:cNvPr id="30" name="Rounded Rectangle 29"/>
          <p:cNvSpPr/>
          <p:nvPr/>
        </p:nvSpPr>
        <p:spPr>
          <a:xfrm>
            <a:off x="7498079" y="4206240"/>
            <a:ext cx="2286000" cy="118872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498079" y="4206240"/>
            <a:ext cx="2286000" cy="3200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43799" y="4224528"/>
            <a:ext cx="2194560" cy="274320"/>
          </a:xfrm>
          <a:prstGeom prst="rect">
            <a:avLst/>
          </a:prstGeom>
          <a:noFill/>
        </p:spPr>
        <p:txBody>
          <a:bodyPr wrap="square">
            <a:spAutoFit/>
          </a:bodyPr>
          <a:lstStyle/>
          <a:p>
            <a:pPr algn="ctr">
              <a:defRPr sz="1200" b="1">
                <a:solidFill>
                  <a:srgbClr val="FFFFFF"/>
                </a:solidFill>
                <a:latin typeface="Calibri"/>
              </a:defRPr>
            </a:pPr>
            <a:r>
              <a:t>Devis</a:t>
            </a:r>
          </a:p>
        </p:txBody>
      </p:sp>
      <p:sp>
        <p:nvSpPr>
          <p:cNvPr id="33" name="TextBox 32"/>
          <p:cNvSpPr txBox="1"/>
          <p:nvPr/>
        </p:nvSpPr>
        <p:spPr>
          <a:xfrm>
            <a:off x="7589519" y="4572000"/>
            <a:ext cx="2103120" cy="777240"/>
          </a:xfrm>
          <a:prstGeom prst="rect">
            <a:avLst/>
          </a:prstGeom>
          <a:noFill/>
        </p:spPr>
        <p:txBody>
          <a:bodyPr wrap="square">
            <a:spAutoFit/>
          </a:bodyPr>
          <a:lstStyle/>
          <a:p>
            <a:pPr algn="l">
              <a:defRPr sz="900" b="0">
                <a:solidFill>
                  <a:srgbClr val="1E293B"/>
                </a:solidFill>
                <a:latin typeface="Calibri"/>
              </a:defRPr>
            </a:pPr>
            <a:r>
              <a:t>id, intervention_id,</a:t>
            </a:r>
            <a:br/>
            <a:r>
              <a:t>montant_estime, statut,</a:t>
            </a:r>
            <a:br/>
            <a:r>
              <a:t>frais_deplacement</a:t>
            </a:r>
          </a:p>
        </p:txBody>
      </p:sp>
      <p:sp>
        <p:nvSpPr>
          <p:cNvPr id="34" name="Rounded Rectangle 33"/>
          <p:cNvSpPr/>
          <p:nvPr/>
        </p:nvSpPr>
        <p:spPr>
          <a:xfrm>
            <a:off x="9601200" y="4206240"/>
            <a:ext cx="2286000" cy="118872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601200" y="4206240"/>
            <a:ext cx="2286000" cy="3200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46920" y="4224528"/>
            <a:ext cx="2194560" cy="274320"/>
          </a:xfrm>
          <a:prstGeom prst="rect">
            <a:avLst/>
          </a:prstGeom>
          <a:noFill/>
        </p:spPr>
        <p:txBody>
          <a:bodyPr wrap="square">
            <a:spAutoFit/>
          </a:bodyPr>
          <a:lstStyle/>
          <a:p>
            <a:pPr algn="ctr">
              <a:defRPr sz="1200" b="1">
                <a:solidFill>
                  <a:srgbClr val="FFFFFF"/>
                </a:solidFill>
                <a:latin typeface="Calibri"/>
              </a:defRPr>
            </a:pPr>
            <a:r>
              <a:t>Facture</a:t>
            </a:r>
          </a:p>
        </p:txBody>
      </p:sp>
      <p:sp>
        <p:nvSpPr>
          <p:cNvPr id="37" name="TextBox 36"/>
          <p:cNvSpPr txBox="1"/>
          <p:nvPr/>
        </p:nvSpPr>
        <p:spPr>
          <a:xfrm>
            <a:off x="9692640" y="4572000"/>
            <a:ext cx="2103120" cy="777240"/>
          </a:xfrm>
          <a:prstGeom prst="rect">
            <a:avLst/>
          </a:prstGeom>
          <a:noFill/>
        </p:spPr>
        <p:txBody>
          <a:bodyPr wrap="square">
            <a:spAutoFit/>
          </a:bodyPr>
          <a:lstStyle/>
          <a:p>
            <a:pPr algn="l">
              <a:defRPr sz="900" b="0">
                <a:solidFill>
                  <a:srgbClr val="1E293B"/>
                </a:solidFill>
                <a:latin typeface="Calibri"/>
              </a:defRPr>
            </a:pPr>
            <a:r>
              <a:t>id, intervention_id,</a:t>
            </a:r>
            <a:br/>
            <a:r>
              <a:t>reference, montant_total,</a:t>
            </a:r>
            <a:br/>
            <a:r>
              <a:t>date</a:t>
            </a:r>
          </a:p>
        </p:txBody>
      </p:sp>
      <p:sp>
        <p:nvSpPr>
          <p:cNvPr id="38" name="TextBox 37"/>
          <p:cNvSpPr txBox="1"/>
          <p:nvPr/>
        </p:nvSpPr>
        <p:spPr>
          <a:xfrm>
            <a:off x="731520" y="5760720"/>
            <a:ext cx="10972800" cy="365760"/>
          </a:xfrm>
          <a:prstGeom prst="rect">
            <a:avLst/>
          </a:prstGeom>
          <a:noFill/>
        </p:spPr>
        <p:txBody>
          <a:bodyPr wrap="square">
            <a:spAutoFit/>
          </a:bodyPr>
          <a:lstStyle/>
          <a:p>
            <a:pPr algn="ctr">
              <a:defRPr sz="1200" b="0">
                <a:solidFill>
                  <a:srgbClr val="94A3B8"/>
                </a:solidFill>
                <a:latin typeface="Calibri"/>
              </a:defRPr>
            </a:pPr>
            <a:r>
              <a:t>34 modèles Eloquent  ·  44 migrations  ·  Relations : belongsTo, hasMany, morphMany  ·  Soft Deletes</a:t>
            </a:r>
          </a:p>
        </p:txBody>
      </p:sp>
      <p:sp>
        <p:nvSpPr>
          <p:cNvPr id="39" name="TextBox 38"/>
          <p:cNvSpPr txBox="1"/>
          <p:nvPr/>
        </p:nvSpPr>
        <p:spPr>
          <a:xfrm>
            <a:off x="457200" y="6309360"/>
            <a:ext cx="10972800" cy="365760"/>
          </a:xfrm>
          <a:prstGeom prst="rect">
            <a:avLst/>
          </a:prstGeom>
          <a:noFill/>
        </p:spPr>
        <p:txBody>
          <a:bodyPr wrap="none">
            <a:spAutoFit/>
          </a:bodyPr>
          <a:lstStyle/>
          <a:p>
            <a:pPr algn="ctr">
              <a:defRPr sz="900">
                <a:solidFill>
                  <a:srgbClr val="94A3B8"/>
                </a:solidFill>
              </a:defRPr>
            </a:pPr>
            <a:r>
              <a:t>Dar-Soins — PFE Licence Pro IFIAG 2025/2026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563E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VII. Architecture Technique</a:t>
            </a:r>
          </a:p>
        </p:txBody>
      </p:sp>
      <p:sp>
        <p:nvSpPr>
          <p:cNvPr id="5" name="TextBox 4"/>
          <p:cNvSpPr txBox="1"/>
          <p:nvPr/>
        </p:nvSpPr>
        <p:spPr>
          <a:xfrm>
            <a:off x="914400" y="3657600"/>
            <a:ext cx="10058400" cy="914400"/>
          </a:xfrm>
          <a:prstGeom prst="rect">
            <a:avLst/>
          </a:prstGeom>
          <a:noFill/>
        </p:spPr>
        <p:txBody>
          <a:bodyPr wrap="square">
            <a:spAutoFit/>
          </a:bodyPr>
          <a:lstStyle/>
          <a:p>
            <a:pPr algn="ctr">
              <a:defRPr sz="2000" b="0">
                <a:solidFill>
                  <a:srgbClr val="BFDBFE"/>
                </a:solidFill>
                <a:latin typeface="Calibri"/>
              </a:defRPr>
            </a:pPr>
            <a:r>
              <a:t>Stack technologique et choix d'architecture</a:t>
            </a:r>
          </a:p>
        </p:txBody>
      </p:sp>
      <p:sp>
        <p:nvSpPr>
          <p:cNvPr id="6" name="TextBox 5"/>
          <p:cNvSpPr txBox="1"/>
          <p:nvPr/>
        </p:nvSpPr>
        <p:spPr>
          <a:xfrm>
            <a:off x="457200" y="6309360"/>
            <a:ext cx="10972800" cy="365760"/>
          </a:xfrm>
          <a:prstGeom prst="rect">
            <a:avLst/>
          </a:prstGeom>
          <a:noFill/>
        </p:spPr>
        <p:txBody>
          <a:bodyPr wrap="none">
            <a:spAutoFit/>
          </a:bodyPr>
          <a:lstStyle/>
          <a:p>
            <a:pPr algn="ctr">
              <a:defRPr sz="900">
                <a:solidFill>
                  <a:srgbClr val="94A3B8"/>
                </a:solidFill>
              </a:defRPr>
            </a:pPr>
            <a:r>
              <a:t>Dar-Soins — PFE Licence Pro IFIAG 2025/2026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548640" y="228600"/>
            <a:ext cx="731520" cy="731520"/>
          </a:xfrm>
          <a:prstGeom prst="rect">
            <a:avLst/>
          </a:prstGeom>
        </p:spPr>
      </p:pic>
      <p:sp>
        <p:nvSpPr>
          <p:cNvPr id="5" name="TextBox 4"/>
          <p:cNvSpPr txBox="1"/>
          <p:nvPr/>
        </p:nvSpPr>
        <p:spPr>
          <a:xfrm>
            <a:off x="1463040" y="274320"/>
            <a:ext cx="9144000" cy="548640"/>
          </a:xfrm>
          <a:prstGeom prst="rect">
            <a:avLst/>
          </a:prstGeom>
          <a:noFill/>
        </p:spPr>
        <p:txBody>
          <a:bodyPr wrap="square">
            <a:spAutoFit/>
          </a:bodyPr>
          <a:lstStyle/>
          <a:p>
            <a:pPr algn="l">
              <a:defRPr sz="2800" b="1">
                <a:solidFill>
                  <a:srgbClr val="2563EB"/>
                </a:solidFill>
                <a:latin typeface="Calibri"/>
              </a:defRPr>
            </a:pPr>
            <a:r>
              <a:t>Stack Technologique &amp; Architecture</a:t>
            </a:r>
          </a:p>
        </p:txBody>
      </p:sp>
      <p:sp>
        <p:nvSpPr>
          <p:cNvPr id="6" name="Rounded Rectangle 5"/>
          <p:cNvSpPr/>
          <p:nvPr/>
        </p:nvSpPr>
        <p:spPr>
          <a:xfrm>
            <a:off x="731520" y="1097280"/>
            <a:ext cx="10515600" cy="109728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170432"/>
            <a:ext cx="10058400" cy="320040"/>
          </a:xfrm>
          <a:prstGeom prst="rect">
            <a:avLst/>
          </a:prstGeom>
          <a:noFill/>
        </p:spPr>
        <p:txBody>
          <a:bodyPr wrap="square">
            <a:spAutoFit/>
          </a:bodyPr>
          <a:lstStyle/>
          <a:p>
            <a:pPr algn="l">
              <a:defRPr sz="1500" b="1">
                <a:solidFill>
                  <a:srgbClr val="2563EB"/>
                </a:solidFill>
                <a:latin typeface="Calibri"/>
              </a:defRPr>
            </a:pPr>
            <a:r>
              <a:t>🌐  FRONTEND (SPA)</a:t>
            </a:r>
          </a:p>
        </p:txBody>
      </p:sp>
      <p:sp>
        <p:nvSpPr>
          <p:cNvPr id="8" name="TextBox 7"/>
          <p:cNvSpPr txBox="1"/>
          <p:nvPr/>
        </p:nvSpPr>
        <p:spPr>
          <a:xfrm>
            <a:off x="914400" y="1481328"/>
            <a:ext cx="10058400" cy="640080"/>
          </a:xfrm>
          <a:prstGeom prst="rect">
            <a:avLst/>
          </a:prstGeom>
          <a:noFill/>
        </p:spPr>
        <p:txBody>
          <a:bodyPr wrap="square">
            <a:spAutoFit/>
          </a:bodyPr>
          <a:lstStyle/>
          <a:p>
            <a:pPr algn="l">
              <a:defRPr sz="1200" b="0">
                <a:solidFill>
                  <a:srgbClr val="1E293B"/>
                </a:solidFill>
                <a:latin typeface="Calibri"/>
              </a:defRPr>
            </a:pPr>
            <a:r>
              <a:t>React 19 · Vite 5 · React Router v6 · Axios · Tailwind CSS</a:t>
            </a:r>
            <a:br/>
            <a:r>
              <a:t>Design Glassmorphism · Composants réutilisables · Auto-refresh temps réel</a:t>
            </a:r>
          </a:p>
        </p:txBody>
      </p:sp>
      <p:sp>
        <p:nvSpPr>
          <p:cNvPr id="9" name="Rounded Rectangle 8"/>
          <p:cNvSpPr/>
          <p:nvPr/>
        </p:nvSpPr>
        <p:spPr>
          <a:xfrm>
            <a:off x="731520" y="2377440"/>
            <a:ext cx="10515600" cy="1097280"/>
          </a:xfrm>
          <a:prstGeom prst="roundRect">
            <a:avLst/>
          </a:prstGeom>
          <a:solidFill>
            <a:srgbClr val="FFFF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50592"/>
            <a:ext cx="10058400" cy="320040"/>
          </a:xfrm>
          <a:prstGeom prst="rect">
            <a:avLst/>
          </a:prstGeom>
          <a:noFill/>
        </p:spPr>
        <p:txBody>
          <a:bodyPr wrap="square">
            <a:spAutoFit/>
          </a:bodyPr>
          <a:lstStyle/>
          <a:p>
            <a:pPr algn="l">
              <a:defRPr sz="1500" b="1">
                <a:solidFill>
                  <a:srgbClr val="10B981"/>
                </a:solidFill>
                <a:latin typeface="Calibri"/>
              </a:defRPr>
            </a:pPr>
            <a:r>
              <a:t>🔗  API REST</a:t>
            </a:r>
          </a:p>
        </p:txBody>
      </p:sp>
      <p:sp>
        <p:nvSpPr>
          <p:cNvPr id="11" name="TextBox 10"/>
          <p:cNvSpPr txBox="1"/>
          <p:nvPr/>
        </p:nvSpPr>
        <p:spPr>
          <a:xfrm>
            <a:off x="914400" y="2761488"/>
            <a:ext cx="10058400" cy="640080"/>
          </a:xfrm>
          <a:prstGeom prst="rect">
            <a:avLst/>
          </a:prstGeom>
          <a:noFill/>
        </p:spPr>
        <p:txBody>
          <a:bodyPr wrap="square">
            <a:spAutoFit/>
          </a:bodyPr>
          <a:lstStyle/>
          <a:p>
            <a:pPr algn="l">
              <a:defRPr sz="1200" b="0">
                <a:solidFill>
                  <a:srgbClr val="1E293B"/>
                </a:solidFill>
                <a:latin typeface="Calibri"/>
              </a:defRPr>
            </a:pPr>
            <a:r>
              <a:t>HTTP/JSON · Bearer Token (Sanctum) · Rate Limiting 60 req/min</a:t>
            </a:r>
            <a:br/>
            <a:r>
              <a:t>API Resources · Validation FormRequest · CORS · Intercepteurs Axios</a:t>
            </a:r>
          </a:p>
        </p:txBody>
      </p:sp>
      <p:sp>
        <p:nvSpPr>
          <p:cNvPr id="12" name="Rounded Rectangle 11"/>
          <p:cNvSpPr/>
          <p:nvPr/>
        </p:nvSpPr>
        <p:spPr>
          <a:xfrm>
            <a:off x="731520" y="3657600"/>
            <a:ext cx="10515600" cy="1097280"/>
          </a:xfrm>
          <a:prstGeom prst="roundRect">
            <a:avLst/>
          </a:prstGeom>
          <a:solidFill>
            <a:srgbClr val="FFFFFF"/>
          </a:solidFill>
          <a:ln w="2540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730752"/>
            <a:ext cx="10058400" cy="320040"/>
          </a:xfrm>
          <a:prstGeom prst="rect">
            <a:avLst/>
          </a:prstGeom>
          <a:noFill/>
        </p:spPr>
        <p:txBody>
          <a:bodyPr wrap="square">
            <a:spAutoFit/>
          </a:bodyPr>
          <a:lstStyle/>
          <a:p>
            <a:pPr algn="l">
              <a:defRPr sz="1500" b="1">
                <a:solidFill>
                  <a:srgbClr val="1E40AF"/>
                </a:solidFill>
                <a:latin typeface="Calibri"/>
              </a:defRPr>
            </a:pPr>
            <a:r>
              <a:t>⚙️  BACKEND (API)</a:t>
            </a:r>
          </a:p>
        </p:txBody>
      </p:sp>
      <p:sp>
        <p:nvSpPr>
          <p:cNvPr id="14" name="TextBox 13"/>
          <p:cNvSpPr txBox="1"/>
          <p:nvPr/>
        </p:nvSpPr>
        <p:spPr>
          <a:xfrm>
            <a:off x="914400" y="4041648"/>
            <a:ext cx="10058400" cy="640080"/>
          </a:xfrm>
          <a:prstGeom prst="rect">
            <a:avLst/>
          </a:prstGeom>
          <a:noFill/>
        </p:spPr>
        <p:txBody>
          <a:bodyPr wrap="square">
            <a:spAutoFit/>
          </a:bodyPr>
          <a:lstStyle/>
          <a:p>
            <a:pPr algn="l">
              <a:defRPr sz="1200" b="0">
                <a:solidFill>
                  <a:srgbClr val="1E293B"/>
                </a:solidFill>
                <a:latin typeface="Calibri"/>
              </a:defRPr>
            </a:pPr>
            <a:r>
              <a:t>Laravel 12 · PHP 8.2+ · Services métier (Tarification, Affectation,</a:t>
            </a:r>
            <a:br/>
            <a:r>
              <a:t>Géolocalisation, Numérotation) · DomPDF · Spatie Permissions (RBAC)</a:t>
            </a:r>
          </a:p>
        </p:txBody>
      </p:sp>
      <p:sp>
        <p:nvSpPr>
          <p:cNvPr id="15" name="Rounded Rectangle 14"/>
          <p:cNvSpPr/>
          <p:nvPr/>
        </p:nvSpPr>
        <p:spPr>
          <a:xfrm>
            <a:off x="731520" y="4937760"/>
            <a:ext cx="10515600" cy="1097280"/>
          </a:xfrm>
          <a:prstGeom prst="roundRect">
            <a:avLst/>
          </a:prstGeom>
          <a:solidFill>
            <a:srgbClr val="FFFFFF"/>
          </a:solid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010912"/>
            <a:ext cx="10058400" cy="320040"/>
          </a:xfrm>
          <a:prstGeom prst="rect">
            <a:avLst/>
          </a:prstGeom>
          <a:noFill/>
        </p:spPr>
        <p:txBody>
          <a:bodyPr wrap="square">
            <a:spAutoFit/>
          </a:bodyPr>
          <a:lstStyle/>
          <a:p>
            <a:pPr algn="l">
              <a:defRPr sz="1500" b="1">
                <a:solidFill>
                  <a:srgbClr val="7C3AED"/>
                </a:solidFill>
                <a:latin typeface="Calibri"/>
              </a:defRPr>
            </a:pPr>
            <a:r>
              <a:t>💾  DONNÉES</a:t>
            </a:r>
          </a:p>
        </p:txBody>
      </p:sp>
      <p:sp>
        <p:nvSpPr>
          <p:cNvPr id="17" name="TextBox 16"/>
          <p:cNvSpPr txBox="1"/>
          <p:nvPr/>
        </p:nvSpPr>
        <p:spPr>
          <a:xfrm>
            <a:off x="914400" y="5321808"/>
            <a:ext cx="10058400" cy="640080"/>
          </a:xfrm>
          <a:prstGeom prst="rect">
            <a:avLst/>
          </a:prstGeom>
          <a:noFill/>
        </p:spPr>
        <p:txBody>
          <a:bodyPr wrap="square">
            <a:spAutoFit/>
          </a:bodyPr>
          <a:lstStyle/>
          <a:p>
            <a:pPr algn="l">
              <a:defRPr sz="1200" b="0">
                <a:solidFill>
                  <a:srgbClr val="1E293B"/>
                </a:solidFill>
                <a:latin typeface="Calibri"/>
              </a:defRPr>
            </a:pPr>
            <a:r>
              <a:t>PostgreSQL 15 (Prod) · SQLite (Dev) · Redis 7 (Cache &amp; Sessions)</a:t>
            </a:r>
            <a:br/>
            <a:r>
              <a:t>34 Modèles Eloquent · 44 Migrations · Soft Deletes</a:t>
            </a:r>
          </a:p>
        </p:txBody>
      </p:sp>
      <p:sp>
        <p:nvSpPr>
          <p:cNvPr id="18" name="TextBox 17"/>
          <p:cNvSpPr txBox="1"/>
          <p:nvPr/>
        </p:nvSpPr>
        <p:spPr>
          <a:xfrm>
            <a:off x="731520" y="6217920"/>
            <a:ext cx="10515600" cy="320040"/>
          </a:xfrm>
          <a:prstGeom prst="rect">
            <a:avLst/>
          </a:prstGeom>
          <a:noFill/>
        </p:spPr>
        <p:txBody>
          <a:bodyPr wrap="square">
            <a:spAutoFit/>
          </a:bodyPr>
          <a:lstStyle/>
          <a:p>
            <a:pPr algn="ctr">
              <a:defRPr sz="1200" b="0">
                <a:solidFill>
                  <a:srgbClr val="94A3B8"/>
                </a:solidFill>
                <a:latin typeface="Calibri"/>
              </a:defRPr>
            </a:pPr>
            <a:r>
              <a:t>DevOps : Docker &amp; Docker Compose · Nginx Reverse Proxy · CI/CD GitHub Actions · Playwright E2E Tests</a:t>
            </a:r>
          </a:p>
        </p:txBody>
      </p:sp>
      <p:sp>
        <p:nvSpPr>
          <p:cNvPr id="19" name="TextBox 18"/>
          <p:cNvSpPr txBox="1"/>
          <p:nvPr/>
        </p:nvSpPr>
        <p:spPr>
          <a:xfrm>
            <a:off x="457200" y="6309360"/>
            <a:ext cx="10972800" cy="365760"/>
          </a:xfrm>
          <a:prstGeom prst="rect">
            <a:avLst/>
          </a:prstGeom>
          <a:noFill/>
        </p:spPr>
        <p:txBody>
          <a:bodyPr wrap="none">
            <a:spAutoFit/>
          </a:bodyPr>
          <a:lstStyle/>
          <a:p>
            <a:pPr algn="ctr">
              <a:defRPr sz="900">
                <a:solidFill>
                  <a:srgbClr val="94A3B8"/>
                </a:solidFill>
              </a:defRPr>
            </a:pPr>
            <a:r>
              <a:t>Dar-Soins — PFE Licence Pro IFIAG 2025/2026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563E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VIII. Réalisation</a:t>
            </a:r>
          </a:p>
        </p:txBody>
      </p:sp>
      <p:sp>
        <p:nvSpPr>
          <p:cNvPr id="5" name="TextBox 4"/>
          <p:cNvSpPr txBox="1"/>
          <p:nvPr/>
        </p:nvSpPr>
        <p:spPr>
          <a:xfrm>
            <a:off x="914400" y="3657600"/>
            <a:ext cx="10058400" cy="914400"/>
          </a:xfrm>
          <a:prstGeom prst="rect">
            <a:avLst/>
          </a:prstGeom>
          <a:noFill/>
        </p:spPr>
        <p:txBody>
          <a:bodyPr wrap="square">
            <a:spAutoFit/>
          </a:bodyPr>
          <a:lstStyle/>
          <a:p>
            <a:pPr algn="ctr">
              <a:defRPr sz="2000" b="0">
                <a:solidFill>
                  <a:srgbClr val="BFDBFE"/>
                </a:solidFill>
                <a:latin typeface="Calibri"/>
              </a:defRPr>
            </a:pPr>
            <a:r>
              <a:t>Site vitrine, espaces utilisateurs &amp; ERP</a:t>
            </a:r>
          </a:p>
        </p:txBody>
      </p:sp>
      <p:sp>
        <p:nvSpPr>
          <p:cNvPr id="6" name="TextBox 5"/>
          <p:cNvSpPr txBox="1"/>
          <p:nvPr/>
        </p:nvSpPr>
        <p:spPr>
          <a:xfrm>
            <a:off x="457200" y="6309360"/>
            <a:ext cx="10972800" cy="365760"/>
          </a:xfrm>
          <a:prstGeom prst="rect">
            <a:avLst/>
          </a:prstGeom>
          <a:noFill/>
        </p:spPr>
        <p:txBody>
          <a:bodyPr wrap="none">
            <a:spAutoFit/>
          </a:bodyPr>
          <a:lstStyle/>
          <a:p>
            <a:pPr algn="ctr">
              <a:defRPr sz="900">
                <a:solidFill>
                  <a:srgbClr val="94A3B8"/>
                </a:solidFill>
              </a:defRPr>
            </a:pPr>
            <a:r>
              <a:t>Dar-Soins — PFE Licence Pro IFIAG 2025/2026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548640" y="228600"/>
            <a:ext cx="731520" cy="731520"/>
          </a:xfrm>
          <a:prstGeom prst="rect">
            <a:avLst/>
          </a:prstGeom>
        </p:spPr>
      </p:pic>
      <p:sp>
        <p:nvSpPr>
          <p:cNvPr id="5" name="TextBox 4"/>
          <p:cNvSpPr txBox="1"/>
          <p:nvPr/>
        </p:nvSpPr>
        <p:spPr>
          <a:xfrm>
            <a:off x="1463040" y="274320"/>
            <a:ext cx="9144000" cy="548640"/>
          </a:xfrm>
          <a:prstGeom prst="rect">
            <a:avLst/>
          </a:prstGeom>
          <a:noFill/>
        </p:spPr>
        <p:txBody>
          <a:bodyPr wrap="square">
            <a:spAutoFit/>
          </a:bodyPr>
          <a:lstStyle/>
          <a:p>
            <a:pPr algn="l">
              <a:defRPr sz="2800" b="1">
                <a:solidFill>
                  <a:srgbClr val="2563EB"/>
                </a:solidFill>
                <a:latin typeface="Calibri"/>
              </a:defRPr>
            </a:pPr>
            <a:r>
              <a:t>Site Vitrine &amp; Pages Publiques</a:t>
            </a:r>
          </a:p>
        </p:txBody>
      </p:sp>
      <p:sp>
        <p:nvSpPr>
          <p:cNvPr id="6" name="Rounded Rectangle 5"/>
          <p:cNvSpPr/>
          <p:nvPr/>
        </p:nvSpPr>
        <p:spPr>
          <a:xfrm>
            <a:off x="731520" y="1097280"/>
            <a:ext cx="530352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188720"/>
            <a:ext cx="4937760" cy="320040"/>
          </a:xfrm>
          <a:prstGeom prst="rect">
            <a:avLst/>
          </a:prstGeom>
          <a:noFill/>
        </p:spPr>
        <p:txBody>
          <a:bodyPr wrap="square">
            <a:spAutoFit/>
          </a:bodyPr>
          <a:lstStyle/>
          <a:p>
            <a:pPr algn="l">
              <a:defRPr sz="1400" b="1">
                <a:solidFill>
                  <a:srgbClr val="2563EB"/>
                </a:solidFill>
                <a:latin typeface="Calibri"/>
              </a:defRPr>
            </a:pPr>
            <a:r>
              <a:t>🏠 Page d'Accueil (Home.jsx)</a:t>
            </a:r>
          </a:p>
        </p:txBody>
      </p:sp>
      <p:sp>
        <p:nvSpPr>
          <p:cNvPr id="8" name="TextBox 7"/>
          <p:cNvSpPr txBox="1"/>
          <p:nvPr/>
        </p:nvSpPr>
        <p:spPr>
          <a:xfrm>
            <a:off x="914400" y="1554480"/>
            <a:ext cx="4937760" cy="640080"/>
          </a:xfrm>
          <a:prstGeom prst="rect">
            <a:avLst/>
          </a:prstGeom>
          <a:noFill/>
        </p:spPr>
        <p:txBody>
          <a:bodyPr wrap="square">
            <a:spAutoFit/>
          </a:bodyPr>
          <a:lstStyle/>
          <a:p>
            <a:pPr algn="l">
              <a:defRPr sz="1100" b="0">
                <a:solidFill>
                  <a:srgbClr val="1E293B"/>
                </a:solidFill>
                <a:latin typeface="Calibri"/>
              </a:defRPr>
            </a:pPr>
            <a:r>
              <a:t>Hero section avec CTA · Présentation des services</a:t>
            </a:r>
            <a:br/>
            <a:r>
              <a:t>Statistiques animées · Témoignages · Footer complet</a:t>
            </a:r>
          </a:p>
        </p:txBody>
      </p:sp>
      <p:sp>
        <p:nvSpPr>
          <p:cNvPr id="9" name="TextBox 8"/>
          <p:cNvSpPr txBox="1"/>
          <p:nvPr/>
        </p:nvSpPr>
        <p:spPr>
          <a:xfrm>
            <a:off x="914400" y="2148840"/>
            <a:ext cx="4937760" cy="228600"/>
          </a:xfrm>
          <a:prstGeom prst="rect">
            <a:avLst/>
          </a:prstGeom>
          <a:noFill/>
        </p:spPr>
        <p:txBody>
          <a:bodyPr wrap="square">
            <a:spAutoFit/>
          </a:bodyPr>
          <a:lstStyle/>
          <a:p>
            <a:pPr algn="l">
              <a:defRPr sz="900" b="0">
                <a:solidFill>
                  <a:srgbClr val="94A3B8"/>
                </a:solidFill>
                <a:latin typeface="Calibri"/>
              </a:defRPr>
            </a:pPr>
            <a:r>
              <a:t>21 524 octets de code</a:t>
            </a:r>
          </a:p>
        </p:txBody>
      </p:sp>
      <p:sp>
        <p:nvSpPr>
          <p:cNvPr id="10" name="Rounded Rectangle 9"/>
          <p:cNvSpPr/>
          <p:nvPr/>
        </p:nvSpPr>
        <p:spPr>
          <a:xfrm>
            <a:off x="6400800" y="1097280"/>
            <a:ext cx="530352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1188720"/>
            <a:ext cx="4937760" cy="320040"/>
          </a:xfrm>
          <a:prstGeom prst="rect">
            <a:avLst/>
          </a:prstGeom>
          <a:noFill/>
        </p:spPr>
        <p:txBody>
          <a:bodyPr wrap="square">
            <a:spAutoFit/>
          </a:bodyPr>
          <a:lstStyle/>
          <a:p>
            <a:pPr algn="l">
              <a:defRPr sz="1400" b="1">
                <a:solidFill>
                  <a:srgbClr val="2563EB"/>
                </a:solidFill>
                <a:latin typeface="Calibri"/>
              </a:defRPr>
            </a:pPr>
            <a:r>
              <a:t>💊 Page Services</a:t>
            </a:r>
          </a:p>
        </p:txBody>
      </p:sp>
      <p:sp>
        <p:nvSpPr>
          <p:cNvPr id="12" name="TextBox 11"/>
          <p:cNvSpPr txBox="1"/>
          <p:nvPr/>
        </p:nvSpPr>
        <p:spPr>
          <a:xfrm>
            <a:off x="6583680" y="1554480"/>
            <a:ext cx="4937760" cy="640080"/>
          </a:xfrm>
          <a:prstGeom prst="rect">
            <a:avLst/>
          </a:prstGeom>
          <a:noFill/>
        </p:spPr>
        <p:txBody>
          <a:bodyPr wrap="square">
            <a:spAutoFit/>
          </a:bodyPr>
          <a:lstStyle/>
          <a:p>
            <a:pPr algn="l">
              <a:defRPr sz="1100" b="0">
                <a:solidFill>
                  <a:srgbClr val="1E293B"/>
                </a:solidFill>
                <a:latin typeface="Calibri"/>
              </a:defRPr>
            </a:pPr>
            <a:r>
              <a:t>Catalogue de soins avec descriptions détaillées</a:t>
            </a:r>
            <a:br/>
            <a:r>
              <a:t>Catégories de prestations · Tarifs indicatifs</a:t>
            </a:r>
          </a:p>
        </p:txBody>
      </p:sp>
      <p:sp>
        <p:nvSpPr>
          <p:cNvPr id="13" name="TextBox 12"/>
          <p:cNvSpPr txBox="1"/>
          <p:nvPr/>
        </p:nvSpPr>
        <p:spPr>
          <a:xfrm>
            <a:off x="6583680" y="2148840"/>
            <a:ext cx="4937760" cy="228600"/>
          </a:xfrm>
          <a:prstGeom prst="rect">
            <a:avLst/>
          </a:prstGeom>
          <a:noFill/>
        </p:spPr>
        <p:txBody>
          <a:bodyPr wrap="square">
            <a:spAutoFit/>
          </a:bodyPr>
          <a:lstStyle/>
          <a:p>
            <a:pPr algn="l">
              <a:defRPr sz="900" b="0">
                <a:solidFill>
                  <a:srgbClr val="94A3B8"/>
                </a:solidFill>
                <a:latin typeface="Calibri"/>
              </a:defRPr>
            </a:pPr>
            <a:r>
              <a:t>9 358 octets de code</a:t>
            </a:r>
          </a:p>
        </p:txBody>
      </p:sp>
      <p:sp>
        <p:nvSpPr>
          <p:cNvPr id="14" name="Rounded Rectangle 13"/>
          <p:cNvSpPr/>
          <p:nvPr/>
        </p:nvSpPr>
        <p:spPr>
          <a:xfrm>
            <a:off x="731520" y="2743200"/>
            <a:ext cx="530352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834640"/>
            <a:ext cx="4937760" cy="320040"/>
          </a:xfrm>
          <a:prstGeom prst="rect">
            <a:avLst/>
          </a:prstGeom>
          <a:noFill/>
        </p:spPr>
        <p:txBody>
          <a:bodyPr wrap="square">
            <a:spAutoFit/>
          </a:bodyPr>
          <a:lstStyle/>
          <a:p>
            <a:pPr algn="l">
              <a:defRPr sz="1400" b="1">
                <a:solidFill>
                  <a:srgbClr val="2563EB"/>
                </a:solidFill>
                <a:latin typeface="Calibri"/>
              </a:defRPr>
            </a:pPr>
            <a:r>
              <a:t>ℹ️ Page À Propos</a:t>
            </a:r>
          </a:p>
        </p:txBody>
      </p:sp>
      <p:sp>
        <p:nvSpPr>
          <p:cNvPr id="16" name="TextBox 15"/>
          <p:cNvSpPr txBox="1"/>
          <p:nvPr/>
        </p:nvSpPr>
        <p:spPr>
          <a:xfrm>
            <a:off x="914400" y="3200400"/>
            <a:ext cx="4937760" cy="640080"/>
          </a:xfrm>
          <a:prstGeom prst="rect">
            <a:avLst/>
          </a:prstGeom>
          <a:noFill/>
        </p:spPr>
        <p:txBody>
          <a:bodyPr wrap="square">
            <a:spAutoFit/>
          </a:bodyPr>
          <a:lstStyle/>
          <a:p>
            <a:pPr algn="l">
              <a:defRPr sz="1100" b="0">
                <a:solidFill>
                  <a:srgbClr val="1E293B"/>
                </a:solidFill>
                <a:latin typeface="Calibri"/>
              </a:defRPr>
            </a:pPr>
            <a:r>
              <a:t>Mission et vision · Équipe · Valeurs</a:t>
            </a:r>
            <a:br/>
            <a:r>
              <a:t>Histoire de Dar-Soins</a:t>
            </a:r>
          </a:p>
        </p:txBody>
      </p:sp>
      <p:sp>
        <p:nvSpPr>
          <p:cNvPr id="17" name="TextBox 16"/>
          <p:cNvSpPr txBox="1"/>
          <p:nvPr/>
        </p:nvSpPr>
        <p:spPr>
          <a:xfrm>
            <a:off x="914400" y="3794760"/>
            <a:ext cx="4937760" cy="228600"/>
          </a:xfrm>
          <a:prstGeom prst="rect">
            <a:avLst/>
          </a:prstGeom>
          <a:noFill/>
        </p:spPr>
        <p:txBody>
          <a:bodyPr wrap="square">
            <a:spAutoFit/>
          </a:bodyPr>
          <a:lstStyle/>
          <a:p>
            <a:pPr algn="l">
              <a:defRPr sz="900" b="0">
                <a:solidFill>
                  <a:srgbClr val="94A3B8"/>
                </a:solidFill>
                <a:latin typeface="Calibri"/>
              </a:defRPr>
            </a:pPr>
            <a:r>
              <a:t>6 101 octets de code</a:t>
            </a:r>
          </a:p>
        </p:txBody>
      </p:sp>
      <p:sp>
        <p:nvSpPr>
          <p:cNvPr id="18" name="Rounded Rectangle 17"/>
          <p:cNvSpPr/>
          <p:nvPr/>
        </p:nvSpPr>
        <p:spPr>
          <a:xfrm>
            <a:off x="6400800" y="2743200"/>
            <a:ext cx="530352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0" y="2834640"/>
            <a:ext cx="4937760" cy="320040"/>
          </a:xfrm>
          <a:prstGeom prst="rect">
            <a:avLst/>
          </a:prstGeom>
          <a:noFill/>
        </p:spPr>
        <p:txBody>
          <a:bodyPr wrap="square">
            <a:spAutoFit/>
          </a:bodyPr>
          <a:lstStyle/>
          <a:p>
            <a:pPr algn="l">
              <a:defRPr sz="1400" b="1">
                <a:solidFill>
                  <a:srgbClr val="2563EB"/>
                </a:solidFill>
                <a:latin typeface="Calibri"/>
              </a:defRPr>
            </a:pPr>
            <a:r>
              <a:t>❓ FAQ</a:t>
            </a:r>
          </a:p>
        </p:txBody>
      </p:sp>
      <p:sp>
        <p:nvSpPr>
          <p:cNvPr id="20" name="TextBox 19"/>
          <p:cNvSpPr txBox="1"/>
          <p:nvPr/>
        </p:nvSpPr>
        <p:spPr>
          <a:xfrm>
            <a:off x="6583680" y="3200400"/>
            <a:ext cx="4937760" cy="640080"/>
          </a:xfrm>
          <a:prstGeom prst="rect">
            <a:avLst/>
          </a:prstGeom>
          <a:noFill/>
        </p:spPr>
        <p:txBody>
          <a:bodyPr wrap="square">
            <a:spAutoFit/>
          </a:bodyPr>
          <a:lstStyle/>
          <a:p>
            <a:pPr algn="l">
              <a:defRPr sz="1100" b="0">
                <a:solidFill>
                  <a:srgbClr val="1E293B"/>
                </a:solidFill>
                <a:latin typeface="Calibri"/>
              </a:defRPr>
            </a:pPr>
            <a:r>
              <a:t>Questions fréquentes avec accordéon interactif</a:t>
            </a:r>
            <a:br/>
            <a:r>
              <a:t>Réponses détaillées par catégorie</a:t>
            </a:r>
          </a:p>
        </p:txBody>
      </p:sp>
      <p:sp>
        <p:nvSpPr>
          <p:cNvPr id="21" name="TextBox 20"/>
          <p:cNvSpPr txBox="1"/>
          <p:nvPr/>
        </p:nvSpPr>
        <p:spPr>
          <a:xfrm>
            <a:off x="6583680" y="3794760"/>
            <a:ext cx="4937760" cy="228600"/>
          </a:xfrm>
          <a:prstGeom prst="rect">
            <a:avLst/>
          </a:prstGeom>
          <a:noFill/>
        </p:spPr>
        <p:txBody>
          <a:bodyPr wrap="square">
            <a:spAutoFit/>
          </a:bodyPr>
          <a:lstStyle/>
          <a:p>
            <a:pPr algn="l">
              <a:defRPr sz="900" b="0">
                <a:solidFill>
                  <a:srgbClr val="94A3B8"/>
                </a:solidFill>
                <a:latin typeface="Calibri"/>
              </a:defRPr>
            </a:pPr>
            <a:r>
              <a:t>5 195 octets de code</a:t>
            </a:r>
          </a:p>
        </p:txBody>
      </p:sp>
      <p:sp>
        <p:nvSpPr>
          <p:cNvPr id="22" name="Rounded Rectangle 21"/>
          <p:cNvSpPr/>
          <p:nvPr/>
        </p:nvSpPr>
        <p:spPr>
          <a:xfrm>
            <a:off x="731520" y="4389120"/>
            <a:ext cx="530352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480560"/>
            <a:ext cx="4937760" cy="320040"/>
          </a:xfrm>
          <a:prstGeom prst="rect">
            <a:avLst/>
          </a:prstGeom>
          <a:noFill/>
        </p:spPr>
        <p:txBody>
          <a:bodyPr wrap="square">
            <a:spAutoFit/>
          </a:bodyPr>
          <a:lstStyle/>
          <a:p>
            <a:pPr algn="l">
              <a:defRPr sz="1400" b="1">
                <a:solidFill>
                  <a:srgbClr val="2563EB"/>
                </a:solidFill>
                <a:latin typeface="Calibri"/>
              </a:defRPr>
            </a:pPr>
            <a:r>
              <a:t>📧 Contact</a:t>
            </a:r>
          </a:p>
        </p:txBody>
      </p:sp>
      <p:sp>
        <p:nvSpPr>
          <p:cNvPr id="24" name="TextBox 23"/>
          <p:cNvSpPr txBox="1"/>
          <p:nvPr/>
        </p:nvSpPr>
        <p:spPr>
          <a:xfrm>
            <a:off x="914400" y="4846320"/>
            <a:ext cx="4937760" cy="640080"/>
          </a:xfrm>
          <a:prstGeom prst="rect">
            <a:avLst/>
          </a:prstGeom>
          <a:noFill/>
        </p:spPr>
        <p:txBody>
          <a:bodyPr wrap="square">
            <a:spAutoFit/>
          </a:bodyPr>
          <a:lstStyle/>
          <a:p>
            <a:pPr algn="l">
              <a:defRPr sz="1100" b="0">
                <a:solidFill>
                  <a:srgbClr val="1E293B"/>
                </a:solidFill>
                <a:latin typeface="Calibri"/>
              </a:defRPr>
            </a:pPr>
            <a:r>
              <a:t>Formulaire de contact · Carte interactive</a:t>
            </a:r>
            <a:br/>
            <a:r>
              <a:t>Informations de contact · Réseaux sociaux</a:t>
            </a:r>
          </a:p>
        </p:txBody>
      </p:sp>
      <p:sp>
        <p:nvSpPr>
          <p:cNvPr id="25" name="TextBox 24"/>
          <p:cNvSpPr txBox="1"/>
          <p:nvPr/>
        </p:nvSpPr>
        <p:spPr>
          <a:xfrm>
            <a:off x="914400" y="5440680"/>
            <a:ext cx="4937760" cy="228600"/>
          </a:xfrm>
          <a:prstGeom prst="rect">
            <a:avLst/>
          </a:prstGeom>
          <a:noFill/>
        </p:spPr>
        <p:txBody>
          <a:bodyPr wrap="square">
            <a:spAutoFit/>
          </a:bodyPr>
          <a:lstStyle/>
          <a:p>
            <a:pPr algn="l">
              <a:defRPr sz="900" b="0">
                <a:solidFill>
                  <a:srgbClr val="94A3B8"/>
                </a:solidFill>
                <a:latin typeface="Calibri"/>
              </a:defRPr>
            </a:pPr>
            <a:r>
              <a:t>8 713 octets de code</a:t>
            </a:r>
          </a:p>
        </p:txBody>
      </p:sp>
      <p:sp>
        <p:nvSpPr>
          <p:cNvPr id="26" name="Rounded Rectangle 25"/>
          <p:cNvSpPr/>
          <p:nvPr/>
        </p:nvSpPr>
        <p:spPr>
          <a:xfrm>
            <a:off x="6400800" y="4389120"/>
            <a:ext cx="530352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0" y="4480560"/>
            <a:ext cx="4937760" cy="320040"/>
          </a:xfrm>
          <a:prstGeom prst="rect">
            <a:avLst/>
          </a:prstGeom>
          <a:noFill/>
        </p:spPr>
        <p:txBody>
          <a:bodyPr wrap="square">
            <a:spAutoFit/>
          </a:bodyPr>
          <a:lstStyle/>
          <a:p>
            <a:pPr algn="l">
              <a:defRPr sz="1400" b="1">
                <a:solidFill>
                  <a:srgbClr val="2563EB"/>
                </a:solidFill>
                <a:latin typeface="Calibri"/>
              </a:defRPr>
            </a:pPr>
            <a:r>
              <a:t>🔐 Login / Register</a:t>
            </a:r>
          </a:p>
        </p:txBody>
      </p:sp>
      <p:sp>
        <p:nvSpPr>
          <p:cNvPr id="28" name="TextBox 27"/>
          <p:cNvSpPr txBox="1"/>
          <p:nvPr/>
        </p:nvSpPr>
        <p:spPr>
          <a:xfrm>
            <a:off x="6583680" y="4846320"/>
            <a:ext cx="4937760" cy="640080"/>
          </a:xfrm>
          <a:prstGeom prst="rect">
            <a:avLst/>
          </a:prstGeom>
          <a:noFill/>
        </p:spPr>
        <p:txBody>
          <a:bodyPr wrap="square">
            <a:spAutoFit/>
          </a:bodyPr>
          <a:lstStyle/>
          <a:p>
            <a:pPr algn="l">
              <a:defRPr sz="1100" b="0">
                <a:solidFill>
                  <a:srgbClr val="1E293B"/>
                </a:solidFill>
                <a:latin typeface="Calibri"/>
              </a:defRPr>
            </a:pPr>
            <a:r>
              <a:t>Authentification sécurisée · Inscription multi-rôle</a:t>
            </a:r>
            <a:br/>
            <a:r>
              <a:t>Validation en temps réel · UI Glassmorphism</a:t>
            </a:r>
          </a:p>
        </p:txBody>
      </p:sp>
      <p:sp>
        <p:nvSpPr>
          <p:cNvPr id="29" name="TextBox 28"/>
          <p:cNvSpPr txBox="1"/>
          <p:nvPr/>
        </p:nvSpPr>
        <p:spPr>
          <a:xfrm>
            <a:off x="6583680" y="5440680"/>
            <a:ext cx="4937760" cy="228600"/>
          </a:xfrm>
          <a:prstGeom prst="rect">
            <a:avLst/>
          </a:prstGeom>
          <a:noFill/>
        </p:spPr>
        <p:txBody>
          <a:bodyPr wrap="square">
            <a:spAutoFit/>
          </a:bodyPr>
          <a:lstStyle/>
          <a:p>
            <a:pPr algn="l">
              <a:defRPr sz="900" b="0">
                <a:solidFill>
                  <a:srgbClr val="94A3B8"/>
                </a:solidFill>
                <a:latin typeface="Calibri"/>
              </a:defRPr>
            </a:pPr>
            <a:r>
              <a:t>25 290 octets de code</a:t>
            </a:r>
          </a:p>
        </p:txBody>
      </p:sp>
      <p:sp>
        <p:nvSpPr>
          <p:cNvPr id="30" name="TextBox 29"/>
          <p:cNvSpPr txBox="1"/>
          <p:nvPr/>
        </p:nvSpPr>
        <p:spPr>
          <a:xfrm>
            <a:off x="457200" y="6309360"/>
            <a:ext cx="10972800" cy="365760"/>
          </a:xfrm>
          <a:prstGeom prst="rect">
            <a:avLst/>
          </a:prstGeom>
          <a:noFill/>
        </p:spPr>
        <p:txBody>
          <a:bodyPr wrap="none">
            <a:spAutoFit/>
          </a:bodyPr>
          <a:lstStyle/>
          <a:p>
            <a:pPr algn="ctr">
              <a:defRPr sz="900">
                <a:solidFill>
                  <a:srgbClr val="94A3B8"/>
                </a:solidFill>
              </a:defRPr>
            </a:pPr>
            <a:r>
              <a:t>Dar-Soins — PFE Licence Pro IFIAG 2025/2026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548640" y="228600"/>
            <a:ext cx="731520" cy="731520"/>
          </a:xfrm>
          <a:prstGeom prst="rect">
            <a:avLst/>
          </a:prstGeom>
        </p:spPr>
      </p:pic>
      <p:sp>
        <p:nvSpPr>
          <p:cNvPr id="5" name="TextBox 4"/>
          <p:cNvSpPr txBox="1"/>
          <p:nvPr/>
        </p:nvSpPr>
        <p:spPr>
          <a:xfrm>
            <a:off x="1463040" y="274320"/>
            <a:ext cx="9144000" cy="548640"/>
          </a:xfrm>
          <a:prstGeom prst="rect">
            <a:avLst/>
          </a:prstGeom>
          <a:noFill/>
        </p:spPr>
        <p:txBody>
          <a:bodyPr wrap="square">
            <a:spAutoFit/>
          </a:bodyPr>
          <a:lstStyle/>
          <a:p>
            <a:pPr algn="l">
              <a:defRPr sz="2800" b="1">
                <a:solidFill>
                  <a:srgbClr val="2563EB"/>
                </a:solidFill>
                <a:latin typeface="Calibri"/>
              </a:defRPr>
            </a:pPr>
            <a:r>
              <a:t>Espaces Patient &amp; Infirmier</a:t>
            </a:r>
          </a:p>
        </p:txBody>
      </p:sp>
      <p:sp>
        <p:nvSpPr>
          <p:cNvPr id="6" name="Rounded Rectangle 5"/>
          <p:cNvSpPr/>
          <p:nvPr/>
        </p:nvSpPr>
        <p:spPr>
          <a:xfrm>
            <a:off x="731520" y="1097280"/>
            <a:ext cx="5120640" cy="475488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188720"/>
            <a:ext cx="4754880" cy="365760"/>
          </a:xfrm>
          <a:prstGeom prst="rect">
            <a:avLst/>
          </a:prstGeom>
          <a:noFill/>
        </p:spPr>
        <p:txBody>
          <a:bodyPr wrap="square">
            <a:spAutoFit/>
          </a:bodyPr>
          <a:lstStyle/>
          <a:p>
            <a:pPr algn="l">
              <a:defRPr sz="1800" b="1">
                <a:solidFill>
                  <a:srgbClr val="2563EB"/>
                </a:solidFill>
                <a:latin typeface="Calibri"/>
              </a:defRPr>
            </a:pPr>
            <a:r>
              <a:t>👤 Tableau de Bord Patient</a:t>
            </a:r>
          </a:p>
        </p:txBody>
      </p:sp>
      <p:sp>
        <p:nvSpPr>
          <p:cNvPr id="8" name="TextBox 7"/>
          <p:cNvSpPr txBox="1"/>
          <p:nvPr/>
        </p:nvSpPr>
        <p:spPr>
          <a:xfrm>
            <a:off x="1097280" y="1737360"/>
            <a:ext cx="4572000" cy="320040"/>
          </a:xfrm>
          <a:prstGeom prst="rect">
            <a:avLst/>
          </a:prstGeom>
          <a:noFill/>
        </p:spPr>
        <p:txBody>
          <a:bodyPr wrap="square">
            <a:spAutoFit/>
          </a:bodyPr>
          <a:lstStyle/>
          <a:p>
            <a:pPr algn="l">
              <a:defRPr sz="1200" b="0">
                <a:solidFill>
                  <a:srgbClr val="1E293B"/>
                </a:solidFill>
                <a:latin typeface="Calibri"/>
              </a:defRPr>
            </a:pPr>
            <a:r>
              <a:t>▸ Commande de soins avec sélection du produit</a:t>
            </a:r>
          </a:p>
        </p:txBody>
      </p:sp>
      <p:sp>
        <p:nvSpPr>
          <p:cNvPr id="9" name="TextBox 8"/>
          <p:cNvSpPr txBox="1"/>
          <p:nvPr/>
        </p:nvSpPr>
        <p:spPr>
          <a:xfrm>
            <a:off x="1097280" y="2121408"/>
            <a:ext cx="4572000" cy="320040"/>
          </a:xfrm>
          <a:prstGeom prst="rect">
            <a:avLst/>
          </a:prstGeom>
          <a:noFill/>
        </p:spPr>
        <p:txBody>
          <a:bodyPr wrap="square">
            <a:spAutoFit/>
          </a:bodyPr>
          <a:lstStyle/>
          <a:p>
            <a:pPr algn="l">
              <a:defRPr sz="1200" b="0">
                <a:solidFill>
                  <a:srgbClr val="1E293B"/>
                </a:solidFill>
                <a:latin typeface="Calibri"/>
              </a:defRPr>
            </a:pPr>
            <a:r>
              <a:t>▸ Devis PDF automatique avec détails tarifaires</a:t>
            </a:r>
          </a:p>
        </p:txBody>
      </p:sp>
      <p:sp>
        <p:nvSpPr>
          <p:cNvPr id="10" name="TextBox 9"/>
          <p:cNvSpPr txBox="1"/>
          <p:nvPr/>
        </p:nvSpPr>
        <p:spPr>
          <a:xfrm>
            <a:off x="1097280" y="2505456"/>
            <a:ext cx="4572000" cy="320040"/>
          </a:xfrm>
          <a:prstGeom prst="rect">
            <a:avLst/>
          </a:prstGeom>
          <a:noFill/>
        </p:spPr>
        <p:txBody>
          <a:bodyPr wrap="square">
            <a:spAutoFit/>
          </a:bodyPr>
          <a:lstStyle/>
          <a:p>
            <a:pPr algn="l">
              <a:defRPr sz="1200" b="0">
                <a:solidFill>
                  <a:srgbClr val="1E293B"/>
                </a:solidFill>
                <a:latin typeface="Calibri"/>
              </a:defRPr>
            </a:pPr>
            <a:r>
              <a:t>▸ Acceptation / Refus du devis en un clic</a:t>
            </a:r>
          </a:p>
        </p:txBody>
      </p:sp>
      <p:sp>
        <p:nvSpPr>
          <p:cNvPr id="11" name="TextBox 10"/>
          <p:cNvSpPr txBox="1"/>
          <p:nvPr/>
        </p:nvSpPr>
        <p:spPr>
          <a:xfrm>
            <a:off x="1097280" y="2889504"/>
            <a:ext cx="4572000" cy="320040"/>
          </a:xfrm>
          <a:prstGeom prst="rect">
            <a:avLst/>
          </a:prstGeom>
          <a:noFill/>
        </p:spPr>
        <p:txBody>
          <a:bodyPr wrap="square">
            <a:spAutoFit/>
          </a:bodyPr>
          <a:lstStyle/>
          <a:p>
            <a:pPr algn="l">
              <a:defRPr sz="1200" b="0">
                <a:solidFill>
                  <a:srgbClr val="1E293B"/>
                </a:solidFill>
                <a:latin typeface="Calibri"/>
              </a:defRPr>
            </a:pPr>
            <a:r>
              <a:t>▸ Suivi en temps réel de l'intervention</a:t>
            </a:r>
          </a:p>
        </p:txBody>
      </p:sp>
      <p:sp>
        <p:nvSpPr>
          <p:cNvPr id="12" name="TextBox 11"/>
          <p:cNvSpPr txBox="1"/>
          <p:nvPr/>
        </p:nvSpPr>
        <p:spPr>
          <a:xfrm>
            <a:off x="1097280" y="3273552"/>
            <a:ext cx="4572000" cy="320040"/>
          </a:xfrm>
          <a:prstGeom prst="rect">
            <a:avLst/>
          </a:prstGeom>
          <a:noFill/>
        </p:spPr>
        <p:txBody>
          <a:bodyPr wrap="square">
            <a:spAutoFit/>
          </a:bodyPr>
          <a:lstStyle/>
          <a:p>
            <a:pPr algn="l">
              <a:defRPr sz="1200" b="0">
                <a:solidFill>
                  <a:srgbClr val="1E293B"/>
                </a:solidFill>
                <a:latin typeface="Calibri"/>
              </a:defRPr>
            </a:pPr>
            <a:r>
              <a:t>▸ Constantes médicales enregistrées</a:t>
            </a:r>
          </a:p>
        </p:txBody>
      </p:sp>
      <p:sp>
        <p:nvSpPr>
          <p:cNvPr id="13" name="TextBox 12"/>
          <p:cNvSpPr txBox="1"/>
          <p:nvPr/>
        </p:nvSpPr>
        <p:spPr>
          <a:xfrm>
            <a:off x="1097280" y="3657600"/>
            <a:ext cx="4572000" cy="320040"/>
          </a:xfrm>
          <a:prstGeom prst="rect">
            <a:avLst/>
          </a:prstGeom>
          <a:noFill/>
        </p:spPr>
        <p:txBody>
          <a:bodyPr wrap="square">
            <a:spAutoFit/>
          </a:bodyPr>
          <a:lstStyle/>
          <a:p>
            <a:pPr algn="l">
              <a:defRPr sz="1200" b="0">
                <a:solidFill>
                  <a:srgbClr val="1E293B"/>
                </a:solidFill>
                <a:latin typeface="Calibri"/>
              </a:defRPr>
            </a:pPr>
            <a:r>
              <a:t>▸ Facture PDF avec cachet et signature</a:t>
            </a:r>
          </a:p>
        </p:txBody>
      </p:sp>
      <p:sp>
        <p:nvSpPr>
          <p:cNvPr id="14" name="TextBox 13"/>
          <p:cNvSpPr txBox="1"/>
          <p:nvPr/>
        </p:nvSpPr>
        <p:spPr>
          <a:xfrm>
            <a:off x="1097280" y="4041648"/>
            <a:ext cx="4572000" cy="320040"/>
          </a:xfrm>
          <a:prstGeom prst="rect">
            <a:avLst/>
          </a:prstGeom>
          <a:noFill/>
        </p:spPr>
        <p:txBody>
          <a:bodyPr wrap="square">
            <a:spAutoFit/>
          </a:bodyPr>
          <a:lstStyle/>
          <a:p>
            <a:pPr algn="l">
              <a:defRPr sz="1200" b="0">
                <a:solidFill>
                  <a:srgbClr val="1E293B"/>
                </a:solidFill>
                <a:latin typeface="Calibri"/>
              </a:defRPr>
            </a:pPr>
            <a:r>
              <a:t>▸ Historique complet des interventions</a:t>
            </a:r>
          </a:p>
        </p:txBody>
      </p:sp>
      <p:sp>
        <p:nvSpPr>
          <p:cNvPr id="15" name="TextBox 14"/>
          <p:cNvSpPr txBox="1"/>
          <p:nvPr/>
        </p:nvSpPr>
        <p:spPr>
          <a:xfrm>
            <a:off x="1097280" y="4425696"/>
            <a:ext cx="4572000" cy="320040"/>
          </a:xfrm>
          <a:prstGeom prst="rect">
            <a:avLst/>
          </a:prstGeom>
          <a:noFill/>
        </p:spPr>
        <p:txBody>
          <a:bodyPr wrap="square">
            <a:spAutoFit/>
          </a:bodyPr>
          <a:lstStyle/>
          <a:p>
            <a:pPr algn="l">
              <a:defRPr sz="1200" b="0">
                <a:solidFill>
                  <a:srgbClr val="1E293B"/>
                </a:solidFill>
                <a:latin typeface="Calibri"/>
              </a:defRPr>
            </a:pPr>
            <a:r>
              <a:t>▸ Mise à jour automatique des données</a:t>
            </a:r>
          </a:p>
        </p:txBody>
      </p:sp>
      <p:sp>
        <p:nvSpPr>
          <p:cNvPr id="16" name="TextBox 15"/>
          <p:cNvSpPr txBox="1"/>
          <p:nvPr/>
        </p:nvSpPr>
        <p:spPr>
          <a:xfrm>
            <a:off x="1097280" y="4809744"/>
            <a:ext cx="4572000" cy="320040"/>
          </a:xfrm>
          <a:prstGeom prst="rect">
            <a:avLst/>
          </a:prstGeom>
          <a:noFill/>
        </p:spPr>
        <p:txBody>
          <a:bodyPr wrap="square">
            <a:spAutoFit/>
          </a:bodyPr>
          <a:lstStyle/>
          <a:p>
            <a:pPr algn="l">
              <a:defRPr sz="1200" b="0">
                <a:solidFill>
                  <a:srgbClr val="1E293B"/>
                </a:solidFill>
                <a:latin typeface="Calibri"/>
              </a:defRPr>
            </a:pPr>
            <a:r>
              <a:t>▸ Affichage du nom personnalisé</a:t>
            </a:r>
          </a:p>
        </p:txBody>
      </p:sp>
      <p:sp>
        <p:nvSpPr>
          <p:cNvPr id="17" name="TextBox 16"/>
          <p:cNvSpPr txBox="1"/>
          <p:nvPr/>
        </p:nvSpPr>
        <p:spPr>
          <a:xfrm>
            <a:off x="1097280" y="5193792"/>
            <a:ext cx="4572000" cy="320040"/>
          </a:xfrm>
          <a:prstGeom prst="rect">
            <a:avLst/>
          </a:prstGeom>
          <a:noFill/>
        </p:spPr>
        <p:txBody>
          <a:bodyPr wrap="square">
            <a:spAutoFit/>
          </a:bodyPr>
          <a:lstStyle/>
          <a:p>
            <a:pPr algn="l">
              <a:defRPr sz="1200" b="0">
                <a:solidFill>
                  <a:srgbClr val="1E293B"/>
                </a:solidFill>
                <a:latin typeface="Calibri"/>
              </a:defRPr>
            </a:pPr>
            <a:r>
              <a:t>▸ 32 106 octets de code React</a:t>
            </a:r>
          </a:p>
        </p:txBody>
      </p:sp>
      <p:sp>
        <p:nvSpPr>
          <p:cNvPr id="18" name="Rounded Rectangle 17"/>
          <p:cNvSpPr/>
          <p:nvPr/>
        </p:nvSpPr>
        <p:spPr>
          <a:xfrm>
            <a:off x="6217920" y="1097280"/>
            <a:ext cx="5120640" cy="4754880"/>
          </a:xfrm>
          <a:prstGeom prst="roundRect">
            <a:avLst/>
          </a:prstGeom>
          <a:solidFill>
            <a:srgbClr val="FFFF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1188720"/>
            <a:ext cx="4754880" cy="365760"/>
          </a:xfrm>
          <a:prstGeom prst="rect">
            <a:avLst/>
          </a:prstGeom>
          <a:noFill/>
        </p:spPr>
        <p:txBody>
          <a:bodyPr wrap="square">
            <a:spAutoFit/>
          </a:bodyPr>
          <a:lstStyle/>
          <a:p>
            <a:pPr algn="l">
              <a:defRPr sz="1800" b="1">
                <a:solidFill>
                  <a:srgbClr val="10B981"/>
                </a:solidFill>
                <a:latin typeface="Calibri"/>
              </a:defRPr>
            </a:pPr>
            <a:r>
              <a:t>🩺 Tableau de Bord Infirmier</a:t>
            </a:r>
          </a:p>
        </p:txBody>
      </p:sp>
      <p:sp>
        <p:nvSpPr>
          <p:cNvPr id="20" name="TextBox 19"/>
          <p:cNvSpPr txBox="1"/>
          <p:nvPr/>
        </p:nvSpPr>
        <p:spPr>
          <a:xfrm>
            <a:off x="6583680" y="1737360"/>
            <a:ext cx="4572000" cy="320040"/>
          </a:xfrm>
          <a:prstGeom prst="rect">
            <a:avLst/>
          </a:prstGeom>
          <a:noFill/>
        </p:spPr>
        <p:txBody>
          <a:bodyPr wrap="square">
            <a:spAutoFit/>
          </a:bodyPr>
          <a:lstStyle/>
          <a:p>
            <a:pPr algn="l">
              <a:defRPr sz="1200" b="0">
                <a:solidFill>
                  <a:srgbClr val="1E293B"/>
                </a:solidFill>
                <a:latin typeface="Calibri"/>
              </a:defRPr>
            </a:pPr>
            <a:r>
              <a:t>▸ Réception des missions assignées</a:t>
            </a:r>
          </a:p>
        </p:txBody>
      </p:sp>
      <p:sp>
        <p:nvSpPr>
          <p:cNvPr id="21" name="TextBox 20"/>
          <p:cNvSpPr txBox="1"/>
          <p:nvPr/>
        </p:nvSpPr>
        <p:spPr>
          <a:xfrm>
            <a:off x="6583680" y="2121408"/>
            <a:ext cx="4572000" cy="320040"/>
          </a:xfrm>
          <a:prstGeom prst="rect">
            <a:avLst/>
          </a:prstGeom>
          <a:noFill/>
        </p:spPr>
        <p:txBody>
          <a:bodyPr wrap="square">
            <a:spAutoFit/>
          </a:bodyPr>
          <a:lstStyle/>
          <a:p>
            <a:pPr algn="l">
              <a:defRPr sz="1200" b="0">
                <a:solidFill>
                  <a:srgbClr val="1E293B"/>
                </a:solidFill>
                <a:latin typeface="Calibri"/>
              </a:defRPr>
            </a:pPr>
            <a:r>
              <a:t>▸ Acceptation / Refus de mission</a:t>
            </a:r>
          </a:p>
        </p:txBody>
      </p:sp>
      <p:sp>
        <p:nvSpPr>
          <p:cNvPr id="22" name="TextBox 21"/>
          <p:cNvSpPr txBox="1"/>
          <p:nvPr/>
        </p:nvSpPr>
        <p:spPr>
          <a:xfrm>
            <a:off x="6583680" y="2505456"/>
            <a:ext cx="4572000" cy="320040"/>
          </a:xfrm>
          <a:prstGeom prst="rect">
            <a:avLst/>
          </a:prstGeom>
          <a:noFill/>
        </p:spPr>
        <p:txBody>
          <a:bodyPr wrap="square">
            <a:spAutoFit/>
          </a:bodyPr>
          <a:lstStyle/>
          <a:p>
            <a:pPr algn="l">
              <a:defRPr sz="1200" b="0">
                <a:solidFill>
                  <a:srgbClr val="1E293B"/>
                </a:solidFill>
                <a:latin typeface="Calibri"/>
              </a:defRPr>
            </a:pPr>
            <a:r>
              <a:t>▸ Saisie des constantes médicales</a:t>
            </a:r>
          </a:p>
        </p:txBody>
      </p:sp>
      <p:sp>
        <p:nvSpPr>
          <p:cNvPr id="23" name="TextBox 22"/>
          <p:cNvSpPr txBox="1"/>
          <p:nvPr/>
        </p:nvSpPr>
        <p:spPr>
          <a:xfrm>
            <a:off x="6583680" y="2889504"/>
            <a:ext cx="4572000" cy="320040"/>
          </a:xfrm>
          <a:prstGeom prst="rect">
            <a:avLst/>
          </a:prstGeom>
          <a:noFill/>
        </p:spPr>
        <p:txBody>
          <a:bodyPr wrap="square">
            <a:spAutoFit/>
          </a:bodyPr>
          <a:lstStyle/>
          <a:p>
            <a:pPr algn="l">
              <a:defRPr sz="1200" b="0">
                <a:solidFill>
                  <a:srgbClr val="1E293B"/>
                </a:solidFill>
                <a:latin typeface="Calibri"/>
              </a:defRPr>
            </a:pPr>
            <a:r>
              <a:t>▸ Enregistrement des consommables</a:t>
            </a:r>
          </a:p>
        </p:txBody>
      </p:sp>
      <p:sp>
        <p:nvSpPr>
          <p:cNvPr id="24" name="TextBox 23"/>
          <p:cNvSpPr txBox="1"/>
          <p:nvPr/>
        </p:nvSpPr>
        <p:spPr>
          <a:xfrm>
            <a:off x="6583680" y="3273552"/>
            <a:ext cx="4572000" cy="320040"/>
          </a:xfrm>
          <a:prstGeom prst="rect">
            <a:avLst/>
          </a:prstGeom>
          <a:noFill/>
        </p:spPr>
        <p:txBody>
          <a:bodyPr wrap="square">
            <a:spAutoFit/>
          </a:bodyPr>
          <a:lstStyle/>
          <a:p>
            <a:pPr algn="l">
              <a:defRPr sz="1200" b="0">
                <a:solidFill>
                  <a:srgbClr val="1E293B"/>
                </a:solidFill>
                <a:latin typeface="Calibri"/>
              </a:defRPr>
            </a:pPr>
            <a:r>
              <a:t>▸ Clôture d'intervention avec distance</a:t>
            </a:r>
          </a:p>
        </p:txBody>
      </p:sp>
      <p:sp>
        <p:nvSpPr>
          <p:cNvPr id="25" name="TextBox 24"/>
          <p:cNvSpPr txBox="1"/>
          <p:nvPr/>
        </p:nvSpPr>
        <p:spPr>
          <a:xfrm>
            <a:off x="6583680" y="3657600"/>
            <a:ext cx="4572000" cy="320040"/>
          </a:xfrm>
          <a:prstGeom prst="rect">
            <a:avLst/>
          </a:prstGeom>
          <a:noFill/>
        </p:spPr>
        <p:txBody>
          <a:bodyPr wrap="square">
            <a:spAutoFit/>
          </a:bodyPr>
          <a:lstStyle/>
          <a:p>
            <a:pPr algn="l">
              <a:defRPr sz="1200" b="0">
                <a:solidFill>
                  <a:srgbClr val="1E293B"/>
                </a:solidFill>
                <a:latin typeface="Calibri"/>
              </a:defRPr>
            </a:pPr>
            <a:r>
              <a:t>▸ Validation du montant et facturation</a:t>
            </a:r>
          </a:p>
        </p:txBody>
      </p:sp>
      <p:sp>
        <p:nvSpPr>
          <p:cNvPr id="26" name="TextBox 25"/>
          <p:cNvSpPr txBox="1"/>
          <p:nvPr/>
        </p:nvSpPr>
        <p:spPr>
          <a:xfrm>
            <a:off x="6583680" y="4041648"/>
            <a:ext cx="4572000" cy="320040"/>
          </a:xfrm>
          <a:prstGeom prst="rect">
            <a:avLst/>
          </a:prstGeom>
          <a:noFill/>
        </p:spPr>
        <p:txBody>
          <a:bodyPr wrap="square">
            <a:spAutoFit/>
          </a:bodyPr>
          <a:lstStyle/>
          <a:p>
            <a:pPr algn="l">
              <a:defRPr sz="1200" b="0">
                <a:solidFill>
                  <a:srgbClr val="1E293B"/>
                </a:solidFill>
                <a:latin typeface="Calibri"/>
              </a:defRPr>
            </a:pPr>
            <a:r>
              <a:t>▸ Historique détaillé des interventions</a:t>
            </a:r>
          </a:p>
        </p:txBody>
      </p:sp>
      <p:sp>
        <p:nvSpPr>
          <p:cNvPr id="27" name="TextBox 26"/>
          <p:cNvSpPr txBox="1"/>
          <p:nvPr/>
        </p:nvSpPr>
        <p:spPr>
          <a:xfrm>
            <a:off x="6583680" y="4425696"/>
            <a:ext cx="4572000" cy="320040"/>
          </a:xfrm>
          <a:prstGeom prst="rect">
            <a:avLst/>
          </a:prstGeom>
          <a:noFill/>
        </p:spPr>
        <p:txBody>
          <a:bodyPr wrap="square">
            <a:spAutoFit/>
          </a:bodyPr>
          <a:lstStyle/>
          <a:p>
            <a:pPr algn="l">
              <a:defRPr sz="1200" b="0">
                <a:solidFill>
                  <a:srgbClr val="1E293B"/>
                </a:solidFill>
                <a:latin typeface="Calibri"/>
              </a:defRPr>
            </a:pPr>
            <a:r>
              <a:t>▸ Consultation des commissions</a:t>
            </a:r>
          </a:p>
        </p:txBody>
      </p:sp>
      <p:sp>
        <p:nvSpPr>
          <p:cNvPr id="28" name="TextBox 27"/>
          <p:cNvSpPr txBox="1"/>
          <p:nvPr/>
        </p:nvSpPr>
        <p:spPr>
          <a:xfrm>
            <a:off x="6583680" y="4809744"/>
            <a:ext cx="4572000" cy="320040"/>
          </a:xfrm>
          <a:prstGeom prst="rect">
            <a:avLst/>
          </a:prstGeom>
          <a:noFill/>
        </p:spPr>
        <p:txBody>
          <a:bodyPr wrap="square">
            <a:spAutoFit/>
          </a:bodyPr>
          <a:lstStyle/>
          <a:p>
            <a:pPr algn="l">
              <a:defRPr sz="1200" b="0">
                <a:solidFill>
                  <a:srgbClr val="1E293B"/>
                </a:solidFill>
                <a:latin typeface="Calibri"/>
              </a:defRPr>
            </a:pPr>
            <a:r>
              <a:t>▸ Mise à jour automatique temps réel</a:t>
            </a:r>
          </a:p>
        </p:txBody>
      </p:sp>
      <p:sp>
        <p:nvSpPr>
          <p:cNvPr id="29" name="TextBox 28"/>
          <p:cNvSpPr txBox="1"/>
          <p:nvPr/>
        </p:nvSpPr>
        <p:spPr>
          <a:xfrm>
            <a:off x="6583680" y="5193792"/>
            <a:ext cx="4572000" cy="320040"/>
          </a:xfrm>
          <a:prstGeom prst="rect">
            <a:avLst/>
          </a:prstGeom>
          <a:noFill/>
        </p:spPr>
        <p:txBody>
          <a:bodyPr wrap="square">
            <a:spAutoFit/>
          </a:bodyPr>
          <a:lstStyle/>
          <a:p>
            <a:pPr algn="l">
              <a:defRPr sz="1200" b="0">
                <a:solidFill>
                  <a:srgbClr val="1E293B"/>
                </a:solidFill>
                <a:latin typeface="Calibri"/>
              </a:defRPr>
            </a:pPr>
            <a:r>
              <a:t>▸ 30 263 octets de code React</a:t>
            </a:r>
          </a:p>
        </p:txBody>
      </p:sp>
      <p:sp>
        <p:nvSpPr>
          <p:cNvPr id="30" name="TextBox 29"/>
          <p:cNvSpPr txBox="1"/>
          <p:nvPr/>
        </p:nvSpPr>
        <p:spPr>
          <a:xfrm>
            <a:off x="457200" y="6309360"/>
            <a:ext cx="10972800" cy="365760"/>
          </a:xfrm>
          <a:prstGeom prst="rect">
            <a:avLst/>
          </a:prstGeom>
          <a:noFill/>
        </p:spPr>
        <p:txBody>
          <a:bodyPr wrap="none">
            <a:spAutoFit/>
          </a:bodyPr>
          <a:lstStyle/>
          <a:p>
            <a:pPr algn="ctr">
              <a:defRPr sz="900">
                <a:solidFill>
                  <a:srgbClr val="94A3B8"/>
                </a:solidFill>
              </a:defRPr>
            </a:pPr>
            <a:r>
              <a:t>Dar-Soins — PFE Licence Pro IFIAG 2025/2026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548640" y="228600"/>
            <a:ext cx="731520" cy="731520"/>
          </a:xfrm>
          <a:prstGeom prst="rect">
            <a:avLst/>
          </a:prstGeom>
        </p:spPr>
      </p:pic>
      <p:sp>
        <p:nvSpPr>
          <p:cNvPr id="5" name="TextBox 4"/>
          <p:cNvSpPr txBox="1"/>
          <p:nvPr/>
        </p:nvSpPr>
        <p:spPr>
          <a:xfrm>
            <a:off x="1463040" y="274320"/>
            <a:ext cx="9144000" cy="548640"/>
          </a:xfrm>
          <a:prstGeom prst="rect">
            <a:avLst/>
          </a:prstGeom>
          <a:noFill/>
        </p:spPr>
        <p:txBody>
          <a:bodyPr wrap="square">
            <a:spAutoFit/>
          </a:bodyPr>
          <a:lstStyle/>
          <a:p>
            <a:pPr algn="l">
              <a:defRPr sz="2800" b="1">
                <a:solidFill>
                  <a:srgbClr val="2563EB"/>
                </a:solidFill>
                <a:latin typeface="Calibri"/>
              </a:defRPr>
            </a:pPr>
            <a:r>
              <a:t>ERP Intégré — Back-Office Gestionnaire</a:t>
            </a:r>
          </a:p>
        </p:txBody>
      </p:sp>
      <p:sp>
        <p:nvSpPr>
          <p:cNvPr id="6" name="Rounded Rectangle 5"/>
          <p:cNvSpPr/>
          <p:nvPr/>
        </p:nvSpPr>
        <p:spPr>
          <a:xfrm>
            <a:off x="731520" y="1188720"/>
            <a:ext cx="2560320" cy="192024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325880"/>
            <a:ext cx="2286000" cy="365760"/>
          </a:xfrm>
          <a:prstGeom prst="rect">
            <a:avLst/>
          </a:prstGeom>
          <a:noFill/>
        </p:spPr>
        <p:txBody>
          <a:bodyPr wrap="square">
            <a:spAutoFit/>
          </a:bodyPr>
          <a:lstStyle/>
          <a:p>
            <a:pPr algn="l">
              <a:defRPr sz="1300" b="1">
                <a:solidFill>
                  <a:srgbClr val="2563EB"/>
                </a:solidFill>
                <a:latin typeface="Calibri"/>
              </a:defRPr>
            </a:pPr>
            <a:r>
              <a:t>📦 Produits &amp; Catalogue</a:t>
            </a:r>
          </a:p>
        </p:txBody>
      </p:sp>
      <p:sp>
        <p:nvSpPr>
          <p:cNvPr id="8" name="TextBox 7"/>
          <p:cNvSpPr txBox="1"/>
          <p:nvPr/>
        </p:nvSpPr>
        <p:spPr>
          <a:xfrm>
            <a:off x="868680" y="1783080"/>
            <a:ext cx="2286000" cy="1097280"/>
          </a:xfrm>
          <a:prstGeom prst="rect">
            <a:avLst/>
          </a:prstGeom>
          <a:noFill/>
        </p:spPr>
        <p:txBody>
          <a:bodyPr wrap="square">
            <a:spAutoFit/>
          </a:bodyPr>
          <a:lstStyle/>
          <a:p>
            <a:pPr algn="l">
              <a:defRPr sz="1100" b="0">
                <a:solidFill>
                  <a:srgbClr val="1E293B"/>
                </a:solidFill>
                <a:latin typeface="Calibri"/>
              </a:defRPr>
            </a:pPr>
            <a:r>
              <a:t>CRUD complet, codes-barres,</a:t>
            </a:r>
            <a:br/>
            <a:r>
              <a:t>variations, unités, catégories</a:t>
            </a:r>
          </a:p>
        </p:txBody>
      </p:sp>
      <p:sp>
        <p:nvSpPr>
          <p:cNvPr id="9" name="Rounded Rectangle 8"/>
          <p:cNvSpPr/>
          <p:nvPr/>
        </p:nvSpPr>
        <p:spPr>
          <a:xfrm>
            <a:off x="3566160" y="1188720"/>
            <a:ext cx="2560320" cy="192024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03320" y="1325880"/>
            <a:ext cx="2286000" cy="365760"/>
          </a:xfrm>
          <a:prstGeom prst="rect">
            <a:avLst/>
          </a:prstGeom>
          <a:noFill/>
        </p:spPr>
        <p:txBody>
          <a:bodyPr wrap="square">
            <a:spAutoFit/>
          </a:bodyPr>
          <a:lstStyle/>
          <a:p>
            <a:pPr algn="l">
              <a:defRPr sz="1300" b="1">
                <a:solidFill>
                  <a:srgbClr val="2563EB"/>
                </a:solidFill>
                <a:latin typeface="Calibri"/>
              </a:defRPr>
            </a:pPr>
            <a:r>
              <a:t>🛒 Achats &amp; Fournisseurs</a:t>
            </a:r>
          </a:p>
        </p:txBody>
      </p:sp>
      <p:sp>
        <p:nvSpPr>
          <p:cNvPr id="11" name="TextBox 10"/>
          <p:cNvSpPr txBox="1"/>
          <p:nvPr/>
        </p:nvSpPr>
        <p:spPr>
          <a:xfrm>
            <a:off x="3703320" y="1783080"/>
            <a:ext cx="2286000" cy="1097280"/>
          </a:xfrm>
          <a:prstGeom prst="rect">
            <a:avLst/>
          </a:prstGeom>
          <a:noFill/>
        </p:spPr>
        <p:txBody>
          <a:bodyPr wrap="square">
            <a:spAutoFit/>
          </a:bodyPr>
          <a:lstStyle/>
          <a:p>
            <a:pPr algn="l">
              <a:defRPr sz="1100" b="0">
                <a:solidFill>
                  <a:srgbClr val="1E293B"/>
                </a:solidFill>
                <a:latin typeface="Calibri"/>
              </a:defRPr>
            </a:pPr>
            <a:r>
              <a:t>Bons de commande, réceptions,</a:t>
            </a:r>
            <a:br/>
            <a:r>
              <a:t>retours, paiements partiels</a:t>
            </a:r>
          </a:p>
        </p:txBody>
      </p:sp>
      <p:sp>
        <p:nvSpPr>
          <p:cNvPr id="12" name="Rounded Rectangle 11"/>
          <p:cNvSpPr/>
          <p:nvPr/>
        </p:nvSpPr>
        <p:spPr>
          <a:xfrm>
            <a:off x="6400800" y="1188720"/>
            <a:ext cx="2560320" cy="192024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1325880"/>
            <a:ext cx="2286000" cy="365760"/>
          </a:xfrm>
          <a:prstGeom prst="rect">
            <a:avLst/>
          </a:prstGeom>
          <a:noFill/>
        </p:spPr>
        <p:txBody>
          <a:bodyPr wrap="square">
            <a:spAutoFit/>
          </a:bodyPr>
          <a:lstStyle/>
          <a:p>
            <a:pPr algn="l">
              <a:defRPr sz="1300" b="1">
                <a:solidFill>
                  <a:srgbClr val="2563EB"/>
                </a:solidFill>
                <a:latin typeface="Calibri"/>
              </a:defRPr>
            </a:pPr>
            <a:r>
              <a:t>📊 Stocks &amp; Entrepôts</a:t>
            </a:r>
          </a:p>
        </p:txBody>
      </p:sp>
      <p:sp>
        <p:nvSpPr>
          <p:cNvPr id="14" name="TextBox 13"/>
          <p:cNvSpPr txBox="1"/>
          <p:nvPr/>
        </p:nvSpPr>
        <p:spPr>
          <a:xfrm>
            <a:off x="6537960" y="1783080"/>
            <a:ext cx="2286000" cy="1097280"/>
          </a:xfrm>
          <a:prstGeom prst="rect">
            <a:avLst/>
          </a:prstGeom>
          <a:noFill/>
        </p:spPr>
        <p:txBody>
          <a:bodyPr wrap="square">
            <a:spAutoFit/>
          </a:bodyPr>
          <a:lstStyle/>
          <a:p>
            <a:pPr algn="l">
              <a:defRPr sz="1100" b="0">
                <a:solidFill>
                  <a:srgbClr val="1E293B"/>
                </a:solidFill>
                <a:latin typeface="Calibri"/>
              </a:defRPr>
            </a:pPr>
            <a:r>
              <a:t>Mouvements, ajustements,</a:t>
            </a:r>
            <a:br/>
            <a:r>
              <a:t>transferts, seuils d'alerte</a:t>
            </a:r>
          </a:p>
        </p:txBody>
      </p:sp>
      <p:sp>
        <p:nvSpPr>
          <p:cNvPr id="15" name="Rounded Rectangle 14"/>
          <p:cNvSpPr/>
          <p:nvPr/>
        </p:nvSpPr>
        <p:spPr>
          <a:xfrm>
            <a:off x="9235440" y="1188720"/>
            <a:ext cx="2560320" cy="192024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72600" y="1325880"/>
            <a:ext cx="2286000" cy="365760"/>
          </a:xfrm>
          <a:prstGeom prst="rect">
            <a:avLst/>
          </a:prstGeom>
          <a:noFill/>
        </p:spPr>
        <p:txBody>
          <a:bodyPr wrap="square">
            <a:spAutoFit/>
          </a:bodyPr>
          <a:lstStyle/>
          <a:p>
            <a:pPr algn="l">
              <a:defRPr sz="1300" b="1">
                <a:solidFill>
                  <a:srgbClr val="2563EB"/>
                </a:solidFill>
                <a:latin typeface="Calibri"/>
              </a:defRPr>
            </a:pPr>
            <a:r>
              <a:t>👥 Utilisateurs &amp; Rôles</a:t>
            </a:r>
          </a:p>
        </p:txBody>
      </p:sp>
      <p:sp>
        <p:nvSpPr>
          <p:cNvPr id="17" name="TextBox 16"/>
          <p:cNvSpPr txBox="1"/>
          <p:nvPr/>
        </p:nvSpPr>
        <p:spPr>
          <a:xfrm>
            <a:off x="9372600" y="1783080"/>
            <a:ext cx="2286000" cy="1097280"/>
          </a:xfrm>
          <a:prstGeom prst="rect">
            <a:avLst/>
          </a:prstGeom>
          <a:noFill/>
        </p:spPr>
        <p:txBody>
          <a:bodyPr wrap="square">
            <a:spAutoFit/>
          </a:bodyPr>
          <a:lstStyle/>
          <a:p>
            <a:pPr algn="l">
              <a:defRPr sz="1100" b="0">
                <a:solidFill>
                  <a:srgbClr val="1E293B"/>
                </a:solidFill>
                <a:latin typeface="Calibri"/>
              </a:defRPr>
            </a:pPr>
            <a:r>
              <a:t>RBAC Spatie, permissions</a:t>
            </a:r>
            <a:br/>
            <a:r>
              <a:t>granulaires, gestion complète</a:t>
            </a:r>
          </a:p>
        </p:txBody>
      </p:sp>
      <p:sp>
        <p:nvSpPr>
          <p:cNvPr id="18" name="Rounded Rectangle 17"/>
          <p:cNvSpPr/>
          <p:nvPr/>
        </p:nvSpPr>
        <p:spPr>
          <a:xfrm>
            <a:off x="731520" y="3566160"/>
            <a:ext cx="2560320" cy="192024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703320"/>
            <a:ext cx="2286000" cy="365760"/>
          </a:xfrm>
          <a:prstGeom prst="rect">
            <a:avLst/>
          </a:prstGeom>
          <a:noFill/>
        </p:spPr>
        <p:txBody>
          <a:bodyPr wrap="square">
            <a:spAutoFit/>
          </a:bodyPr>
          <a:lstStyle/>
          <a:p>
            <a:pPr algn="l">
              <a:defRPr sz="1300" b="1">
                <a:solidFill>
                  <a:srgbClr val="2563EB"/>
                </a:solidFill>
                <a:latin typeface="Calibri"/>
              </a:defRPr>
            </a:pPr>
            <a:r>
              <a:t>💰 Finances</a:t>
            </a:r>
          </a:p>
        </p:txBody>
      </p:sp>
      <p:sp>
        <p:nvSpPr>
          <p:cNvPr id="20" name="TextBox 19"/>
          <p:cNvSpPr txBox="1"/>
          <p:nvPr/>
        </p:nvSpPr>
        <p:spPr>
          <a:xfrm>
            <a:off x="868680" y="4160520"/>
            <a:ext cx="2286000" cy="1097280"/>
          </a:xfrm>
          <a:prstGeom prst="rect">
            <a:avLst/>
          </a:prstGeom>
          <a:noFill/>
        </p:spPr>
        <p:txBody>
          <a:bodyPr wrap="square">
            <a:spAutoFit/>
          </a:bodyPr>
          <a:lstStyle/>
          <a:p>
            <a:pPr algn="l">
              <a:defRPr sz="1100" b="0">
                <a:solidFill>
                  <a:srgbClr val="1E293B"/>
                </a:solidFill>
                <a:latin typeface="Calibri"/>
              </a:defRPr>
            </a:pPr>
            <a:r>
              <a:t>Comptes bancaires, transactions,</a:t>
            </a:r>
            <a:br/>
            <a:r>
              <a:t>commissions, devises</a:t>
            </a:r>
          </a:p>
        </p:txBody>
      </p:sp>
      <p:sp>
        <p:nvSpPr>
          <p:cNvPr id="21" name="Rounded Rectangle 20"/>
          <p:cNvSpPr/>
          <p:nvPr/>
        </p:nvSpPr>
        <p:spPr>
          <a:xfrm>
            <a:off x="3566160" y="3566160"/>
            <a:ext cx="2560320" cy="192024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03320" y="3703320"/>
            <a:ext cx="2286000" cy="365760"/>
          </a:xfrm>
          <a:prstGeom prst="rect">
            <a:avLst/>
          </a:prstGeom>
          <a:noFill/>
        </p:spPr>
        <p:txBody>
          <a:bodyPr wrap="square">
            <a:spAutoFit/>
          </a:bodyPr>
          <a:lstStyle/>
          <a:p>
            <a:pPr algn="l">
              <a:defRPr sz="1300" b="1">
                <a:solidFill>
                  <a:srgbClr val="2563EB"/>
                </a:solidFill>
                <a:latin typeface="Calibri"/>
              </a:defRPr>
            </a:pPr>
            <a:r>
              <a:t>📄 Facturation</a:t>
            </a:r>
          </a:p>
        </p:txBody>
      </p:sp>
      <p:sp>
        <p:nvSpPr>
          <p:cNvPr id="23" name="TextBox 22"/>
          <p:cNvSpPr txBox="1"/>
          <p:nvPr/>
        </p:nvSpPr>
        <p:spPr>
          <a:xfrm>
            <a:off x="3703320" y="4160520"/>
            <a:ext cx="2286000" cy="1097280"/>
          </a:xfrm>
          <a:prstGeom prst="rect">
            <a:avLst/>
          </a:prstGeom>
          <a:noFill/>
        </p:spPr>
        <p:txBody>
          <a:bodyPr wrap="square">
            <a:spAutoFit/>
          </a:bodyPr>
          <a:lstStyle/>
          <a:p>
            <a:pPr algn="l">
              <a:defRPr sz="1100" b="0">
                <a:solidFill>
                  <a:srgbClr val="1E293B"/>
                </a:solidFill>
                <a:latin typeface="Calibri"/>
              </a:defRPr>
            </a:pPr>
            <a:r>
              <a:t>Numérotation auto, préfixes,</a:t>
            </a:r>
            <a:br/>
            <a:r>
              <a:t>PDF branded, historique</a:t>
            </a:r>
          </a:p>
        </p:txBody>
      </p:sp>
      <p:sp>
        <p:nvSpPr>
          <p:cNvPr id="24" name="Rounded Rectangle 23"/>
          <p:cNvSpPr/>
          <p:nvPr/>
        </p:nvSpPr>
        <p:spPr>
          <a:xfrm>
            <a:off x="6400800" y="3566160"/>
            <a:ext cx="2560320" cy="192024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37960" y="3703320"/>
            <a:ext cx="2286000" cy="365760"/>
          </a:xfrm>
          <a:prstGeom prst="rect">
            <a:avLst/>
          </a:prstGeom>
          <a:noFill/>
        </p:spPr>
        <p:txBody>
          <a:bodyPr wrap="square">
            <a:spAutoFit/>
          </a:bodyPr>
          <a:lstStyle/>
          <a:p>
            <a:pPr algn="l">
              <a:defRPr sz="1300" b="1">
                <a:solidFill>
                  <a:srgbClr val="2563EB"/>
                </a:solidFill>
                <a:latin typeface="Calibri"/>
              </a:defRPr>
            </a:pPr>
            <a:r>
              <a:t>⚙️ Paramètres</a:t>
            </a:r>
          </a:p>
        </p:txBody>
      </p:sp>
      <p:sp>
        <p:nvSpPr>
          <p:cNvPr id="26" name="TextBox 25"/>
          <p:cNvSpPr txBox="1"/>
          <p:nvPr/>
        </p:nvSpPr>
        <p:spPr>
          <a:xfrm>
            <a:off x="6537960" y="4160520"/>
            <a:ext cx="2286000" cy="1097280"/>
          </a:xfrm>
          <a:prstGeom prst="rect">
            <a:avLst/>
          </a:prstGeom>
          <a:noFill/>
        </p:spPr>
        <p:txBody>
          <a:bodyPr wrap="square">
            <a:spAutoFit/>
          </a:bodyPr>
          <a:lstStyle/>
          <a:p>
            <a:pPr algn="l">
              <a:defRPr sz="1100" b="0">
                <a:solidFill>
                  <a:srgbClr val="1E293B"/>
                </a:solidFill>
                <a:latin typeface="Calibri"/>
              </a:defRPr>
            </a:pPr>
            <a:r>
              <a:t>Config système, identité,</a:t>
            </a:r>
            <a:br/>
            <a:r>
              <a:t>logo, TVA, mentions légales</a:t>
            </a:r>
          </a:p>
        </p:txBody>
      </p:sp>
      <p:sp>
        <p:nvSpPr>
          <p:cNvPr id="27" name="Rounded Rectangle 26"/>
          <p:cNvSpPr/>
          <p:nvPr/>
        </p:nvSpPr>
        <p:spPr>
          <a:xfrm>
            <a:off x="9235440" y="3566160"/>
            <a:ext cx="2560320" cy="192024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72600" y="3703320"/>
            <a:ext cx="2286000" cy="365760"/>
          </a:xfrm>
          <a:prstGeom prst="rect">
            <a:avLst/>
          </a:prstGeom>
          <a:noFill/>
        </p:spPr>
        <p:txBody>
          <a:bodyPr wrap="square">
            <a:spAutoFit/>
          </a:bodyPr>
          <a:lstStyle/>
          <a:p>
            <a:pPr algn="l">
              <a:defRPr sz="1300" b="1">
                <a:solidFill>
                  <a:srgbClr val="2563EB"/>
                </a:solidFill>
                <a:latin typeface="Calibri"/>
              </a:defRPr>
            </a:pPr>
            <a:r>
              <a:t>📈 Reporting</a:t>
            </a:r>
          </a:p>
        </p:txBody>
      </p:sp>
      <p:sp>
        <p:nvSpPr>
          <p:cNvPr id="29" name="TextBox 28"/>
          <p:cNvSpPr txBox="1"/>
          <p:nvPr/>
        </p:nvSpPr>
        <p:spPr>
          <a:xfrm>
            <a:off x="9372600" y="4160520"/>
            <a:ext cx="2286000" cy="1097280"/>
          </a:xfrm>
          <a:prstGeom prst="rect">
            <a:avLst/>
          </a:prstGeom>
          <a:noFill/>
        </p:spPr>
        <p:txBody>
          <a:bodyPr wrap="square">
            <a:spAutoFit/>
          </a:bodyPr>
          <a:lstStyle/>
          <a:p>
            <a:pPr algn="l">
              <a:defRPr sz="1100" b="0">
                <a:solidFill>
                  <a:srgbClr val="1E293B"/>
                </a:solidFill>
                <a:latin typeface="Calibri"/>
              </a:defRPr>
            </a:pPr>
            <a:r>
              <a:t>Tableaux de bord, rapports</a:t>
            </a:r>
            <a:br/>
            <a:r>
              <a:t>analyses, exports données</a:t>
            </a:r>
          </a:p>
        </p:txBody>
      </p:sp>
      <p:sp>
        <p:nvSpPr>
          <p:cNvPr id="30" name="TextBox 29"/>
          <p:cNvSpPr txBox="1"/>
          <p:nvPr/>
        </p:nvSpPr>
        <p:spPr>
          <a:xfrm>
            <a:off x="731520" y="5943600"/>
            <a:ext cx="10972800" cy="365760"/>
          </a:xfrm>
          <a:prstGeom prst="rect">
            <a:avLst/>
          </a:prstGeom>
          <a:noFill/>
        </p:spPr>
        <p:txBody>
          <a:bodyPr wrap="square">
            <a:spAutoFit/>
          </a:bodyPr>
          <a:lstStyle/>
          <a:p>
            <a:pPr algn="ctr">
              <a:defRPr sz="1300" b="0">
                <a:solidFill>
                  <a:srgbClr val="94A3B8"/>
                </a:solidFill>
                <a:latin typeface="Calibri"/>
              </a:defRPr>
            </a:pPr>
            <a:r>
              <a:t>52 composants ERP  ·  31 contrôleurs API  ·  Architecture modulaire extensible</a:t>
            </a:r>
          </a:p>
        </p:txBody>
      </p:sp>
      <p:sp>
        <p:nvSpPr>
          <p:cNvPr id="31" name="TextBox 30"/>
          <p:cNvSpPr txBox="1"/>
          <p:nvPr/>
        </p:nvSpPr>
        <p:spPr>
          <a:xfrm>
            <a:off x="457200" y="6309360"/>
            <a:ext cx="10972800" cy="365760"/>
          </a:xfrm>
          <a:prstGeom prst="rect">
            <a:avLst/>
          </a:prstGeom>
          <a:noFill/>
        </p:spPr>
        <p:txBody>
          <a:bodyPr wrap="none">
            <a:spAutoFit/>
          </a:bodyPr>
          <a:lstStyle/>
          <a:p>
            <a:pPr algn="ctr">
              <a:defRPr sz="900">
                <a:solidFill>
                  <a:srgbClr val="94A3B8"/>
                </a:solidFill>
              </a:defRPr>
            </a:pPr>
            <a:r>
              <a:t>Dar-Soins — PFE Licence Pro IFIAG 2025/2026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563E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IX. Sécurité &amp; Bonnes Pratiques</a:t>
            </a:r>
          </a:p>
        </p:txBody>
      </p:sp>
      <p:sp>
        <p:nvSpPr>
          <p:cNvPr id="5" name="TextBox 4"/>
          <p:cNvSpPr txBox="1"/>
          <p:nvPr/>
        </p:nvSpPr>
        <p:spPr>
          <a:xfrm>
            <a:off x="914400" y="3657600"/>
            <a:ext cx="10058400" cy="914400"/>
          </a:xfrm>
          <a:prstGeom prst="rect">
            <a:avLst/>
          </a:prstGeom>
          <a:noFill/>
        </p:spPr>
        <p:txBody>
          <a:bodyPr wrap="square">
            <a:spAutoFit/>
          </a:bodyPr>
          <a:lstStyle/>
          <a:p>
            <a:pPr algn="ctr">
              <a:defRPr sz="2000" b="0">
                <a:solidFill>
                  <a:srgbClr val="BFDBFE"/>
                </a:solidFill>
                <a:latin typeface="Calibri"/>
              </a:defRPr>
            </a:pPr>
            <a:r>
              <a:t>Protection des données et conformité OWASP</a:t>
            </a:r>
          </a:p>
        </p:txBody>
      </p:sp>
      <p:sp>
        <p:nvSpPr>
          <p:cNvPr id="6" name="TextBox 5"/>
          <p:cNvSpPr txBox="1"/>
          <p:nvPr/>
        </p:nvSpPr>
        <p:spPr>
          <a:xfrm>
            <a:off x="457200" y="6309360"/>
            <a:ext cx="10972800" cy="365760"/>
          </a:xfrm>
          <a:prstGeom prst="rect">
            <a:avLst/>
          </a:prstGeom>
          <a:noFill/>
        </p:spPr>
        <p:txBody>
          <a:bodyPr wrap="none">
            <a:spAutoFit/>
          </a:bodyPr>
          <a:lstStyle/>
          <a:p>
            <a:pPr algn="ctr">
              <a:defRPr sz="900">
                <a:solidFill>
                  <a:srgbClr val="94A3B8"/>
                </a:solidFill>
              </a:defRPr>
            </a:pPr>
            <a:r>
              <a:t>Dar-Soins — PFE Licence Pro IFIAG 2025/2026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548640" y="228600"/>
            <a:ext cx="731520" cy="731520"/>
          </a:xfrm>
          <a:prstGeom prst="rect">
            <a:avLst/>
          </a:prstGeom>
        </p:spPr>
      </p:pic>
      <p:sp>
        <p:nvSpPr>
          <p:cNvPr id="5" name="TextBox 4"/>
          <p:cNvSpPr txBox="1"/>
          <p:nvPr/>
        </p:nvSpPr>
        <p:spPr>
          <a:xfrm>
            <a:off x="1463040" y="274320"/>
            <a:ext cx="9144000" cy="548640"/>
          </a:xfrm>
          <a:prstGeom prst="rect">
            <a:avLst/>
          </a:prstGeom>
          <a:noFill/>
        </p:spPr>
        <p:txBody>
          <a:bodyPr wrap="square">
            <a:spAutoFit/>
          </a:bodyPr>
          <a:lstStyle/>
          <a:p>
            <a:pPr algn="l">
              <a:defRPr sz="2800" b="1">
                <a:solidFill>
                  <a:srgbClr val="2563EB"/>
                </a:solidFill>
                <a:latin typeface="Calibri"/>
              </a:defRPr>
            </a:pPr>
            <a:r>
              <a:t>Mécanismes de Sécurité Implémentés</a:t>
            </a:r>
          </a:p>
        </p:txBody>
      </p:sp>
      <p:sp>
        <p:nvSpPr>
          <p:cNvPr id="6" name="Rounded Rectangle 5"/>
          <p:cNvSpPr/>
          <p:nvPr/>
        </p:nvSpPr>
        <p:spPr>
          <a:xfrm>
            <a:off x="731520" y="1097280"/>
            <a:ext cx="2560320" cy="219456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234440"/>
            <a:ext cx="2286000" cy="365760"/>
          </a:xfrm>
          <a:prstGeom prst="rect">
            <a:avLst/>
          </a:prstGeom>
          <a:noFill/>
        </p:spPr>
        <p:txBody>
          <a:bodyPr wrap="square">
            <a:spAutoFit/>
          </a:bodyPr>
          <a:lstStyle/>
          <a:p>
            <a:pPr algn="l">
              <a:defRPr sz="1300" b="1">
                <a:solidFill>
                  <a:srgbClr val="2563EB"/>
                </a:solidFill>
                <a:latin typeface="Calibri"/>
              </a:defRPr>
            </a:pPr>
            <a:r>
              <a:t>🔐 Authentification</a:t>
            </a:r>
          </a:p>
        </p:txBody>
      </p:sp>
      <p:sp>
        <p:nvSpPr>
          <p:cNvPr id="8" name="TextBox 7"/>
          <p:cNvSpPr txBox="1"/>
          <p:nvPr/>
        </p:nvSpPr>
        <p:spPr>
          <a:xfrm>
            <a:off x="868680" y="1691640"/>
            <a:ext cx="2286000" cy="1371600"/>
          </a:xfrm>
          <a:prstGeom prst="rect">
            <a:avLst/>
          </a:prstGeom>
          <a:noFill/>
        </p:spPr>
        <p:txBody>
          <a:bodyPr wrap="square">
            <a:spAutoFit/>
          </a:bodyPr>
          <a:lstStyle/>
          <a:p>
            <a:pPr algn="l">
              <a:defRPr sz="1100" b="0">
                <a:solidFill>
                  <a:srgbClr val="1E293B"/>
                </a:solidFill>
                <a:latin typeface="Calibri"/>
              </a:defRPr>
            </a:pPr>
            <a:r>
              <a:t>Laravel Sanctum — Tokens API</a:t>
            </a:r>
            <a:br/>
            <a:r>
              <a:t>sécurisés, expiration automatique,</a:t>
            </a:r>
            <a:br/>
            <a:r>
              <a:t>révocation à la déconnexion</a:t>
            </a:r>
          </a:p>
        </p:txBody>
      </p:sp>
      <p:sp>
        <p:nvSpPr>
          <p:cNvPr id="9" name="Rounded Rectangle 8"/>
          <p:cNvSpPr/>
          <p:nvPr/>
        </p:nvSpPr>
        <p:spPr>
          <a:xfrm>
            <a:off x="3566160" y="1097280"/>
            <a:ext cx="2560320" cy="2194560"/>
          </a:xfrm>
          <a:prstGeom prst="roundRect">
            <a:avLst/>
          </a:prstGeom>
          <a:solidFill>
            <a:srgbClr val="FFFF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03320" y="1234440"/>
            <a:ext cx="2286000" cy="365760"/>
          </a:xfrm>
          <a:prstGeom prst="rect">
            <a:avLst/>
          </a:prstGeom>
          <a:noFill/>
        </p:spPr>
        <p:txBody>
          <a:bodyPr wrap="square">
            <a:spAutoFit/>
          </a:bodyPr>
          <a:lstStyle/>
          <a:p>
            <a:pPr algn="l">
              <a:defRPr sz="1300" b="1">
                <a:solidFill>
                  <a:srgbClr val="10B981"/>
                </a:solidFill>
                <a:latin typeface="Calibri"/>
              </a:defRPr>
            </a:pPr>
            <a:r>
              <a:t>🛡️ Autorisation</a:t>
            </a:r>
          </a:p>
        </p:txBody>
      </p:sp>
      <p:sp>
        <p:nvSpPr>
          <p:cNvPr id="11" name="TextBox 10"/>
          <p:cNvSpPr txBox="1"/>
          <p:nvPr/>
        </p:nvSpPr>
        <p:spPr>
          <a:xfrm>
            <a:off x="3703320" y="1691640"/>
            <a:ext cx="2286000" cy="1371600"/>
          </a:xfrm>
          <a:prstGeom prst="rect">
            <a:avLst/>
          </a:prstGeom>
          <a:noFill/>
        </p:spPr>
        <p:txBody>
          <a:bodyPr wrap="square">
            <a:spAutoFit/>
          </a:bodyPr>
          <a:lstStyle/>
          <a:p>
            <a:pPr algn="l">
              <a:defRPr sz="1100" b="0">
                <a:solidFill>
                  <a:srgbClr val="1E293B"/>
                </a:solidFill>
                <a:latin typeface="Calibri"/>
              </a:defRPr>
            </a:pPr>
            <a:r>
              <a:t>Spatie Permissions — RBAC</a:t>
            </a:r>
            <a:br/>
            <a:r>
              <a:t>contrôle granulaire par rôle,</a:t>
            </a:r>
            <a:br/>
            <a:r>
              <a:t>middleware auth:sanctum</a:t>
            </a:r>
          </a:p>
        </p:txBody>
      </p:sp>
      <p:sp>
        <p:nvSpPr>
          <p:cNvPr id="12" name="Rounded Rectangle 11"/>
          <p:cNvSpPr/>
          <p:nvPr/>
        </p:nvSpPr>
        <p:spPr>
          <a:xfrm>
            <a:off x="6400800" y="1097280"/>
            <a:ext cx="2560320" cy="2194560"/>
          </a:xfrm>
          <a:prstGeom prst="roundRect">
            <a:avLst/>
          </a:prstGeom>
          <a:solidFill>
            <a:srgbClr val="FFFFFF"/>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1234440"/>
            <a:ext cx="2286000" cy="365760"/>
          </a:xfrm>
          <a:prstGeom prst="rect">
            <a:avLst/>
          </a:prstGeom>
          <a:noFill/>
        </p:spPr>
        <p:txBody>
          <a:bodyPr wrap="square">
            <a:spAutoFit/>
          </a:bodyPr>
          <a:lstStyle/>
          <a:p>
            <a:pPr algn="l">
              <a:defRPr sz="1300" b="1">
                <a:solidFill>
                  <a:srgbClr val="F59E0B"/>
                </a:solidFill>
                <a:latin typeface="Calibri"/>
              </a:defRPr>
            </a:pPr>
            <a:r>
              <a:t>⚡ Rate Limiting</a:t>
            </a:r>
          </a:p>
        </p:txBody>
      </p:sp>
      <p:sp>
        <p:nvSpPr>
          <p:cNvPr id="14" name="TextBox 13"/>
          <p:cNvSpPr txBox="1"/>
          <p:nvPr/>
        </p:nvSpPr>
        <p:spPr>
          <a:xfrm>
            <a:off x="6537960" y="1691640"/>
            <a:ext cx="2286000" cy="1371600"/>
          </a:xfrm>
          <a:prstGeom prst="rect">
            <a:avLst/>
          </a:prstGeom>
          <a:noFill/>
        </p:spPr>
        <p:txBody>
          <a:bodyPr wrap="square">
            <a:spAutoFit/>
          </a:bodyPr>
          <a:lstStyle/>
          <a:p>
            <a:pPr algn="l">
              <a:defRPr sz="1100" b="0">
                <a:solidFill>
                  <a:srgbClr val="1E293B"/>
                </a:solidFill>
                <a:latin typeface="Calibri"/>
              </a:defRPr>
            </a:pPr>
            <a:r>
              <a:t>ThrottleRequests — 60 req/min</a:t>
            </a:r>
            <a:br/>
            <a:r>
              <a:t>sur l'API, 5 req/min sur</a:t>
            </a:r>
            <a:br/>
            <a:r>
              <a:t>l'authentification</a:t>
            </a:r>
          </a:p>
        </p:txBody>
      </p:sp>
      <p:sp>
        <p:nvSpPr>
          <p:cNvPr id="15" name="Rounded Rectangle 14"/>
          <p:cNvSpPr/>
          <p:nvPr/>
        </p:nvSpPr>
        <p:spPr>
          <a:xfrm>
            <a:off x="9235440" y="1097280"/>
            <a:ext cx="2560320" cy="2194560"/>
          </a:xfrm>
          <a:prstGeom prst="roundRect">
            <a:avLst/>
          </a:prstGeom>
          <a:solidFill>
            <a:srgbClr val="FFFFFF"/>
          </a:solidFill>
          <a:ln w="2540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72600" y="1234440"/>
            <a:ext cx="2286000" cy="365760"/>
          </a:xfrm>
          <a:prstGeom prst="rect">
            <a:avLst/>
          </a:prstGeom>
          <a:noFill/>
        </p:spPr>
        <p:txBody>
          <a:bodyPr wrap="square">
            <a:spAutoFit/>
          </a:bodyPr>
          <a:lstStyle/>
          <a:p>
            <a:pPr algn="l">
              <a:defRPr sz="1300" b="1">
                <a:solidFill>
                  <a:srgbClr val="1E40AF"/>
                </a:solidFill>
                <a:latin typeface="Calibri"/>
              </a:defRPr>
            </a:pPr>
            <a:r>
              <a:t>🌐 CORS</a:t>
            </a:r>
          </a:p>
        </p:txBody>
      </p:sp>
      <p:sp>
        <p:nvSpPr>
          <p:cNvPr id="17" name="TextBox 16"/>
          <p:cNvSpPr txBox="1"/>
          <p:nvPr/>
        </p:nvSpPr>
        <p:spPr>
          <a:xfrm>
            <a:off x="9372600" y="1691640"/>
            <a:ext cx="2286000" cy="1371600"/>
          </a:xfrm>
          <a:prstGeom prst="rect">
            <a:avLst/>
          </a:prstGeom>
          <a:noFill/>
        </p:spPr>
        <p:txBody>
          <a:bodyPr wrap="square">
            <a:spAutoFit/>
          </a:bodyPr>
          <a:lstStyle/>
          <a:p>
            <a:pPr algn="l">
              <a:defRPr sz="1100" b="0">
                <a:solidFill>
                  <a:srgbClr val="1E293B"/>
                </a:solidFill>
                <a:latin typeface="Calibri"/>
              </a:defRPr>
            </a:pPr>
            <a:r>
              <a:t>Configuration stricte, restreint</a:t>
            </a:r>
            <a:br/>
            <a:r>
              <a:t>à localhost:5173, headers</a:t>
            </a:r>
            <a:br/>
            <a:r>
              <a:t>autorisés définis</a:t>
            </a:r>
          </a:p>
        </p:txBody>
      </p:sp>
      <p:sp>
        <p:nvSpPr>
          <p:cNvPr id="18" name="Rounded Rectangle 17"/>
          <p:cNvSpPr/>
          <p:nvPr/>
        </p:nvSpPr>
        <p:spPr>
          <a:xfrm>
            <a:off x="731520" y="3657600"/>
            <a:ext cx="2560320" cy="2194560"/>
          </a:xfrm>
          <a:prstGeom prst="roundRect">
            <a:avLst/>
          </a:prstGeom>
          <a:solidFill>
            <a:srgbClr val="FFFFFF"/>
          </a:solid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794760"/>
            <a:ext cx="2286000" cy="365760"/>
          </a:xfrm>
          <a:prstGeom prst="rect">
            <a:avLst/>
          </a:prstGeom>
          <a:noFill/>
        </p:spPr>
        <p:txBody>
          <a:bodyPr wrap="square">
            <a:spAutoFit/>
          </a:bodyPr>
          <a:lstStyle/>
          <a:p>
            <a:pPr algn="l">
              <a:defRPr sz="1300" b="1">
                <a:solidFill>
                  <a:srgbClr val="7C3AED"/>
                </a:solidFill>
                <a:latin typeface="Calibri"/>
              </a:defRPr>
            </a:pPr>
            <a:r>
              <a:t>🔒 Hachage</a:t>
            </a:r>
          </a:p>
        </p:txBody>
      </p:sp>
      <p:sp>
        <p:nvSpPr>
          <p:cNvPr id="20" name="TextBox 19"/>
          <p:cNvSpPr txBox="1"/>
          <p:nvPr/>
        </p:nvSpPr>
        <p:spPr>
          <a:xfrm>
            <a:off x="868680" y="4251960"/>
            <a:ext cx="2286000" cy="1371600"/>
          </a:xfrm>
          <a:prstGeom prst="rect">
            <a:avLst/>
          </a:prstGeom>
          <a:noFill/>
        </p:spPr>
        <p:txBody>
          <a:bodyPr wrap="square">
            <a:spAutoFit/>
          </a:bodyPr>
          <a:lstStyle/>
          <a:p>
            <a:pPr algn="l">
              <a:defRPr sz="1100" b="0">
                <a:solidFill>
                  <a:srgbClr val="1E293B"/>
                </a:solidFill>
                <a:latin typeface="Calibri"/>
              </a:defRPr>
            </a:pPr>
            <a:r>
              <a:t>bcrypt — Mots de passe</a:t>
            </a:r>
            <a:br/>
            <a:r>
              <a:t>hachés irréversiblement,</a:t>
            </a:r>
            <a:br/>
            <a:r>
              <a:t>facteur de coût 12</a:t>
            </a:r>
          </a:p>
        </p:txBody>
      </p:sp>
      <p:sp>
        <p:nvSpPr>
          <p:cNvPr id="21" name="Rounded Rectangle 20"/>
          <p:cNvSpPr/>
          <p:nvPr/>
        </p:nvSpPr>
        <p:spPr>
          <a:xfrm>
            <a:off x="3566160" y="3657600"/>
            <a:ext cx="2560320" cy="2194560"/>
          </a:xfrm>
          <a:prstGeom prst="roundRect">
            <a:avLst/>
          </a:prstGeom>
          <a:solidFill>
            <a:srgbClr val="FFFFFF"/>
          </a:solidFill>
          <a:ln w="254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03320" y="3794760"/>
            <a:ext cx="2286000" cy="365760"/>
          </a:xfrm>
          <a:prstGeom prst="rect">
            <a:avLst/>
          </a:prstGeom>
          <a:noFill/>
        </p:spPr>
        <p:txBody>
          <a:bodyPr wrap="square">
            <a:spAutoFit/>
          </a:bodyPr>
          <a:lstStyle/>
          <a:p>
            <a:pPr algn="l">
              <a:defRPr sz="1300" b="1">
                <a:solidFill>
                  <a:srgbClr val="059669"/>
                </a:solidFill>
                <a:latin typeface="Calibri"/>
              </a:defRPr>
            </a:pPr>
            <a:r>
              <a:t>📋 Validation</a:t>
            </a:r>
          </a:p>
        </p:txBody>
      </p:sp>
      <p:sp>
        <p:nvSpPr>
          <p:cNvPr id="23" name="TextBox 22"/>
          <p:cNvSpPr txBox="1"/>
          <p:nvPr/>
        </p:nvSpPr>
        <p:spPr>
          <a:xfrm>
            <a:off x="3703320" y="4251960"/>
            <a:ext cx="2286000" cy="1371600"/>
          </a:xfrm>
          <a:prstGeom prst="rect">
            <a:avLst/>
          </a:prstGeom>
          <a:noFill/>
        </p:spPr>
        <p:txBody>
          <a:bodyPr wrap="square">
            <a:spAutoFit/>
          </a:bodyPr>
          <a:lstStyle/>
          <a:p>
            <a:pPr algn="l">
              <a:defRPr sz="1100" b="0">
                <a:solidFill>
                  <a:srgbClr val="1E293B"/>
                </a:solidFill>
                <a:latin typeface="Calibri"/>
              </a:defRPr>
            </a:pPr>
            <a:r>
              <a:t>FormRequest — Validation</a:t>
            </a:r>
            <a:br/>
            <a:r>
              <a:t>côté serveur stricte, règles</a:t>
            </a:r>
            <a:br/>
            <a:r>
              <a:t>métier, sanitisation</a:t>
            </a:r>
          </a:p>
        </p:txBody>
      </p:sp>
      <p:sp>
        <p:nvSpPr>
          <p:cNvPr id="24" name="Rounded Rectangle 23"/>
          <p:cNvSpPr/>
          <p:nvPr/>
        </p:nvSpPr>
        <p:spPr>
          <a:xfrm>
            <a:off x="6400800" y="3657600"/>
            <a:ext cx="2560320" cy="2194560"/>
          </a:xfrm>
          <a:prstGeom prst="roundRect">
            <a:avLst/>
          </a:prstGeom>
          <a:solidFill>
            <a:srgbClr val="FFFFFF"/>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37960" y="3794760"/>
            <a:ext cx="2286000" cy="365760"/>
          </a:xfrm>
          <a:prstGeom prst="rect">
            <a:avLst/>
          </a:prstGeom>
          <a:noFill/>
        </p:spPr>
        <p:txBody>
          <a:bodyPr wrap="square">
            <a:spAutoFit/>
          </a:bodyPr>
          <a:lstStyle/>
          <a:p>
            <a:pPr algn="l">
              <a:defRPr sz="1300" b="1">
                <a:solidFill>
                  <a:srgbClr val="EF4444"/>
                </a:solidFill>
                <a:latin typeface="Calibri"/>
              </a:defRPr>
            </a:pPr>
            <a:r>
              <a:t>💾 Cache</a:t>
            </a:r>
          </a:p>
        </p:txBody>
      </p:sp>
      <p:sp>
        <p:nvSpPr>
          <p:cNvPr id="26" name="TextBox 25"/>
          <p:cNvSpPr txBox="1"/>
          <p:nvPr/>
        </p:nvSpPr>
        <p:spPr>
          <a:xfrm>
            <a:off x="6537960" y="4251960"/>
            <a:ext cx="2286000" cy="1371600"/>
          </a:xfrm>
          <a:prstGeom prst="rect">
            <a:avLst/>
          </a:prstGeom>
          <a:noFill/>
        </p:spPr>
        <p:txBody>
          <a:bodyPr wrap="square">
            <a:spAutoFit/>
          </a:bodyPr>
          <a:lstStyle/>
          <a:p>
            <a:pPr algn="l">
              <a:defRPr sz="1100" b="0">
                <a:solidFill>
                  <a:srgbClr val="1E293B"/>
                </a:solidFill>
                <a:latin typeface="Calibri"/>
              </a:defRPr>
            </a:pPr>
            <a:r>
              <a:t>Redis 7 — Sessions sécurisées,</a:t>
            </a:r>
            <a:br/>
            <a:r>
              <a:t>cache de données sensibles,</a:t>
            </a:r>
            <a:br/>
            <a:r>
              <a:t>isolation par clé</a:t>
            </a:r>
          </a:p>
        </p:txBody>
      </p:sp>
      <p:sp>
        <p:nvSpPr>
          <p:cNvPr id="27" name="Rounded Rectangle 26"/>
          <p:cNvSpPr/>
          <p:nvPr/>
        </p:nvSpPr>
        <p:spPr>
          <a:xfrm>
            <a:off x="9235440" y="3657600"/>
            <a:ext cx="2560320" cy="2194560"/>
          </a:xfrm>
          <a:prstGeom prst="roundRect">
            <a:avLst/>
          </a:prstGeom>
          <a:solidFill>
            <a:srgbClr val="FFFFFF"/>
          </a:solidFill>
          <a:ln w="254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72600" y="3794760"/>
            <a:ext cx="2286000" cy="365760"/>
          </a:xfrm>
          <a:prstGeom prst="rect">
            <a:avLst/>
          </a:prstGeom>
          <a:noFill/>
        </p:spPr>
        <p:txBody>
          <a:bodyPr wrap="square">
            <a:spAutoFit/>
          </a:bodyPr>
          <a:lstStyle/>
          <a:p>
            <a:pPr algn="l">
              <a:defRPr sz="1300" b="1">
                <a:solidFill>
                  <a:srgbClr val="1E293B"/>
                </a:solidFill>
                <a:latin typeface="Calibri"/>
              </a:defRPr>
            </a:pPr>
            <a:r>
              <a:t>📊 API Resources</a:t>
            </a:r>
          </a:p>
        </p:txBody>
      </p:sp>
      <p:sp>
        <p:nvSpPr>
          <p:cNvPr id="29" name="TextBox 28"/>
          <p:cNvSpPr txBox="1"/>
          <p:nvPr/>
        </p:nvSpPr>
        <p:spPr>
          <a:xfrm>
            <a:off x="9372600" y="4251960"/>
            <a:ext cx="2286000" cy="1371600"/>
          </a:xfrm>
          <a:prstGeom prst="rect">
            <a:avLst/>
          </a:prstGeom>
          <a:noFill/>
        </p:spPr>
        <p:txBody>
          <a:bodyPr wrap="square">
            <a:spAutoFit/>
          </a:bodyPr>
          <a:lstStyle/>
          <a:p>
            <a:pPr algn="l">
              <a:defRPr sz="1100" b="0">
                <a:solidFill>
                  <a:srgbClr val="1E293B"/>
                </a:solidFill>
                <a:latin typeface="Calibri"/>
              </a:defRPr>
            </a:pPr>
            <a:r>
              <a:t>Transformation sécurisée —</a:t>
            </a:r>
            <a:br/>
            <a:r>
              <a:t>Filtrage des champs sensibles,</a:t>
            </a:r>
            <a:br/>
            <a:r>
              <a:t>pas d'exposition directe</a:t>
            </a:r>
          </a:p>
        </p:txBody>
      </p:sp>
      <p:sp>
        <p:nvSpPr>
          <p:cNvPr id="30" name="TextBox 29"/>
          <p:cNvSpPr txBox="1"/>
          <p:nvPr/>
        </p:nvSpPr>
        <p:spPr>
          <a:xfrm>
            <a:off x="457200" y="6309360"/>
            <a:ext cx="10972800" cy="365760"/>
          </a:xfrm>
          <a:prstGeom prst="rect">
            <a:avLst/>
          </a:prstGeom>
          <a:noFill/>
        </p:spPr>
        <p:txBody>
          <a:bodyPr wrap="none">
            <a:spAutoFit/>
          </a:bodyPr>
          <a:lstStyle/>
          <a:p>
            <a:pPr algn="ctr">
              <a:defRPr sz="900">
                <a:solidFill>
                  <a:srgbClr val="94A3B8"/>
                </a:solidFill>
              </a:defRPr>
            </a:pPr>
            <a:r>
              <a:t>Dar-Soins — PFE Licence Pro IFIAG 2025/2026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563E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X. Tests, Déploiement &amp; CI/CD</a:t>
            </a:r>
          </a:p>
        </p:txBody>
      </p:sp>
      <p:sp>
        <p:nvSpPr>
          <p:cNvPr id="5" name="TextBox 4"/>
          <p:cNvSpPr txBox="1"/>
          <p:nvPr/>
        </p:nvSpPr>
        <p:spPr>
          <a:xfrm>
            <a:off x="914400" y="3657600"/>
            <a:ext cx="10058400" cy="914400"/>
          </a:xfrm>
          <a:prstGeom prst="rect">
            <a:avLst/>
          </a:prstGeom>
          <a:noFill/>
        </p:spPr>
        <p:txBody>
          <a:bodyPr wrap="square">
            <a:spAutoFit/>
          </a:bodyPr>
          <a:lstStyle/>
          <a:p>
            <a:pPr algn="ctr">
              <a:defRPr sz="2000" b="0">
                <a:solidFill>
                  <a:srgbClr val="BFDBFE"/>
                </a:solidFill>
                <a:latin typeface="Calibri"/>
              </a:defRPr>
            </a:pPr>
            <a:r>
              <a:t>Assurance qualité et pipeline d'intégration continue</a:t>
            </a:r>
          </a:p>
        </p:txBody>
      </p:sp>
      <p:sp>
        <p:nvSpPr>
          <p:cNvPr id="6" name="TextBox 5"/>
          <p:cNvSpPr txBox="1"/>
          <p:nvPr/>
        </p:nvSpPr>
        <p:spPr>
          <a:xfrm>
            <a:off x="457200" y="6309360"/>
            <a:ext cx="10972800" cy="365760"/>
          </a:xfrm>
          <a:prstGeom prst="rect">
            <a:avLst/>
          </a:prstGeom>
          <a:noFill/>
        </p:spPr>
        <p:txBody>
          <a:bodyPr wrap="none">
            <a:spAutoFit/>
          </a:bodyPr>
          <a:lstStyle/>
          <a:p>
            <a:pPr algn="ctr">
              <a:defRPr sz="900">
                <a:solidFill>
                  <a:srgbClr val="94A3B8"/>
                </a:solidFill>
              </a:defRPr>
            </a:pPr>
            <a:r>
              <a:t>Dar-Soins — PFE Licence Pro IFIAG 2025/2026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548640" y="228600"/>
            <a:ext cx="731520" cy="731520"/>
          </a:xfrm>
          <a:prstGeom prst="rect">
            <a:avLst/>
          </a:prstGeom>
        </p:spPr>
      </p:pic>
      <p:sp>
        <p:nvSpPr>
          <p:cNvPr id="5" name="TextBox 4"/>
          <p:cNvSpPr txBox="1"/>
          <p:nvPr/>
        </p:nvSpPr>
        <p:spPr>
          <a:xfrm>
            <a:off x="1463040" y="274320"/>
            <a:ext cx="9144000" cy="548640"/>
          </a:xfrm>
          <a:prstGeom prst="rect">
            <a:avLst/>
          </a:prstGeom>
          <a:noFill/>
        </p:spPr>
        <p:txBody>
          <a:bodyPr wrap="square">
            <a:spAutoFit/>
          </a:bodyPr>
          <a:lstStyle/>
          <a:p>
            <a:pPr algn="l">
              <a:defRPr sz="2800" b="1">
                <a:solidFill>
                  <a:srgbClr val="2563EB"/>
                </a:solidFill>
                <a:latin typeface="Calibri"/>
              </a:defRPr>
            </a:pPr>
            <a:r>
              <a:t>Stratégie de Tests &amp; Déploiement</a:t>
            </a:r>
          </a:p>
        </p:txBody>
      </p:sp>
      <p:sp>
        <p:nvSpPr>
          <p:cNvPr id="6" name="Rounded Rectangle 5"/>
          <p:cNvSpPr/>
          <p:nvPr/>
        </p:nvSpPr>
        <p:spPr>
          <a:xfrm>
            <a:off x="731520" y="1097280"/>
            <a:ext cx="5303520" cy="411480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188720"/>
            <a:ext cx="4937760" cy="365760"/>
          </a:xfrm>
          <a:prstGeom prst="rect">
            <a:avLst/>
          </a:prstGeom>
          <a:noFill/>
        </p:spPr>
        <p:txBody>
          <a:bodyPr wrap="square">
            <a:spAutoFit/>
          </a:bodyPr>
          <a:lstStyle/>
          <a:p>
            <a:pPr algn="l">
              <a:defRPr sz="1800" b="1">
                <a:solidFill>
                  <a:srgbClr val="2563EB"/>
                </a:solidFill>
                <a:latin typeface="Calibri"/>
              </a:defRPr>
            </a:pPr>
            <a:r>
              <a:t>🧪 Tests Automatisés</a:t>
            </a:r>
          </a:p>
        </p:txBody>
      </p:sp>
      <p:sp>
        <p:nvSpPr>
          <p:cNvPr id="8" name="TextBox 7"/>
          <p:cNvSpPr txBox="1"/>
          <p:nvPr/>
        </p:nvSpPr>
        <p:spPr>
          <a:xfrm>
            <a:off x="1097280" y="1691640"/>
            <a:ext cx="4754880" cy="228600"/>
          </a:xfrm>
          <a:prstGeom prst="rect">
            <a:avLst/>
          </a:prstGeom>
          <a:noFill/>
        </p:spPr>
        <p:txBody>
          <a:bodyPr wrap="square">
            <a:spAutoFit/>
          </a:bodyPr>
          <a:lstStyle/>
          <a:p>
            <a:pPr algn="l">
              <a:defRPr sz="1100" b="1">
                <a:solidFill>
                  <a:srgbClr val="1E40AF"/>
                </a:solidFill>
                <a:latin typeface="Calibri"/>
              </a:defRPr>
            </a:pPr>
            <a:r>
              <a:t>Tests Unitaires (Pest PHP)</a:t>
            </a:r>
          </a:p>
        </p:txBody>
      </p:sp>
      <p:sp>
        <p:nvSpPr>
          <p:cNvPr id="9" name="TextBox 8"/>
          <p:cNvSpPr txBox="1"/>
          <p:nvPr/>
        </p:nvSpPr>
        <p:spPr>
          <a:xfrm>
            <a:off x="1097280" y="1947672"/>
            <a:ext cx="4754880" cy="228600"/>
          </a:xfrm>
          <a:prstGeom prst="rect">
            <a:avLst/>
          </a:prstGeom>
          <a:noFill/>
        </p:spPr>
        <p:txBody>
          <a:bodyPr wrap="square">
            <a:spAutoFit/>
          </a:bodyPr>
          <a:lstStyle/>
          <a:p>
            <a:pPr algn="l">
              <a:defRPr sz="1100" b="0">
                <a:solidFill>
                  <a:srgbClr val="1E293B"/>
                </a:solidFill>
                <a:latin typeface="Calibri"/>
              </a:defRPr>
            </a:pPr>
            <a:r>
              <a:t>  ▸ ServiceTarification : 7 tests, 14 assertions</a:t>
            </a:r>
          </a:p>
        </p:txBody>
      </p:sp>
      <p:sp>
        <p:nvSpPr>
          <p:cNvPr id="10" name="TextBox 9"/>
          <p:cNvSpPr txBox="1"/>
          <p:nvPr/>
        </p:nvSpPr>
        <p:spPr>
          <a:xfrm>
            <a:off x="1097280" y="2203704"/>
            <a:ext cx="4754880" cy="228600"/>
          </a:xfrm>
          <a:prstGeom prst="rect">
            <a:avLst/>
          </a:prstGeom>
          <a:noFill/>
        </p:spPr>
        <p:txBody>
          <a:bodyPr wrap="square">
            <a:spAutoFit/>
          </a:bodyPr>
          <a:lstStyle/>
          <a:p>
            <a:pPr algn="l">
              <a:defRPr sz="1100" b="0">
                <a:solidFill>
                  <a:srgbClr val="1E293B"/>
                </a:solidFill>
                <a:latin typeface="Calibri"/>
              </a:defRPr>
            </a:pPr>
            <a:r>
              <a:t>  ▸ Calcul prix, remises, frais déplacement</a:t>
            </a:r>
          </a:p>
        </p:txBody>
      </p:sp>
      <p:sp>
        <p:nvSpPr>
          <p:cNvPr id="11" name="TextBox 10"/>
          <p:cNvSpPr txBox="1"/>
          <p:nvPr/>
        </p:nvSpPr>
        <p:spPr>
          <a:xfrm>
            <a:off x="1097280" y="2459736"/>
            <a:ext cx="4754880" cy="228600"/>
          </a:xfrm>
          <a:prstGeom prst="rect">
            <a:avLst/>
          </a:prstGeom>
          <a:noFill/>
        </p:spPr>
        <p:txBody>
          <a:bodyPr wrap="square">
            <a:spAutoFit/>
          </a:bodyPr>
          <a:lstStyle/>
          <a:p>
            <a:pPr algn="l">
              <a:defRPr sz="1100" b="0">
                <a:solidFill>
                  <a:srgbClr val="1E293B"/>
                </a:solidFill>
                <a:latin typeface="Calibri"/>
              </a:defRPr>
            </a:pPr>
            <a:r>
              <a:t>  ▸ Multiplication heures garde_malade</a:t>
            </a:r>
          </a:p>
        </p:txBody>
      </p:sp>
      <p:sp>
        <p:nvSpPr>
          <p:cNvPr id="12" name="TextBox 11"/>
          <p:cNvSpPr txBox="1"/>
          <p:nvPr/>
        </p:nvSpPr>
        <p:spPr>
          <a:xfrm>
            <a:off x="1097280" y="2715768"/>
            <a:ext cx="4754880" cy="228600"/>
          </a:xfrm>
          <a:prstGeom prst="rect">
            <a:avLst/>
          </a:prstGeom>
          <a:noFill/>
        </p:spPr>
        <p:txBody>
          <a:bodyPr wrap="square">
            <a:spAutoFit/>
          </a:bodyPr>
          <a:lstStyle/>
          <a:p>
            <a:pPr algn="l">
              <a:defRPr sz="1100" b="0">
                <a:solidFill>
                  <a:srgbClr val="1E293B"/>
                </a:solidFill>
                <a:latin typeface="Calibri"/>
              </a:defRPr>
            </a:pPr>
          </a:p>
        </p:txBody>
      </p:sp>
      <p:sp>
        <p:nvSpPr>
          <p:cNvPr id="13" name="TextBox 12"/>
          <p:cNvSpPr txBox="1"/>
          <p:nvPr/>
        </p:nvSpPr>
        <p:spPr>
          <a:xfrm>
            <a:off x="1097280" y="2971800"/>
            <a:ext cx="4754880" cy="228600"/>
          </a:xfrm>
          <a:prstGeom prst="rect">
            <a:avLst/>
          </a:prstGeom>
          <a:noFill/>
        </p:spPr>
        <p:txBody>
          <a:bodyPr wrap="square">
            <a:spAutoFit/>
          </a:bodyPr>
          <a:lstStyle/>
          <a:p>
            <a:pPr algn="l">
              <a:defRPr sz="1100" b="1">
                <a:solidFill>
                  <a:srgbClr val="1E40AF"/>
                </a:solidFill>
                <a:latin typeface="Calibri"/>
              </a:defRPr>
            </a:pPr>
            <a:r>
              <a:t>Tests Fonctionnels (Feature Tests)</a:t>
            </a:r>
          </a:p>
        </p:txBody>
      </p:sp>
      <p:sp>
        <p:nvSpPr>
          <p:cNvPr id="14" name="TextBox 13"/>
          <p:cNvSpPr txBox="1"/>
          <p:nvPr/>
        </p:nvSpPr>
        <p:spPr>
          <a:xfrm>
            <a:off x="1097280" y="3227832"/>
            <a:ext cx="4754880" cy="228600"/>
          </a:xfrm>
          <a:prstGeom prst="rect">
            <a:avLst/>
          </a:prstGeom>
          <a:noFill/>
        </p:spPr>
        <p:txBody>
          <a:bodyPr wrap="square">
            <a:spAutoFit/>
          </a:bodyPr>
          <a:lstStyle/>
          <a:p>
            <a:pPr algn="l">
              <a:defRPr sz="1100" b="0">
                <a:solidFill>
                  <a:srgbClr val="1E293B"/>
                </a:solidFill>
                <a:latin typeface="Calibri"/>
              </a:defRPr>
            </a:pPr>
            <a:r>
              <a:t>  ▸ AuthTest : inscription, connexion, profil</a:t>
            </a:r>
          </a:p>
        </p:txBody>
      </p:sp>
      <p:sp>
        <p:nvSpPr>
          <p:cNvPr id="15" name="TextBox 14"/>
          <p:cNvSpPr txBox="1"/>
          <p:nvPr/>
        </p:nvSpPr>
        <p:spPr>
          <a:xfrm>
            <a:off x="1097280" y="3483864"/>
            <a:ext cx="4754880" cy="228600"/>
          </a:xfrm>
          <a:prstGeom prst="rect">
            <a:avLst/>
          </a:prstGeom>
          <a:noFill/>
        </p:spPr>
        <p:txBody>
          <a:bodyPr wrap="square">
            <a:spAutoFit/>
          </a:bodyPr>
          <a:lstStyle/>
          <a:p>
            <a:pPr algn="l">
              <a:defRPr sz="1100" b="0">
                <a:solidFill>
                  <a:srgbClr val="1E293B"/>
                </a:solidFill>
                <a:latin typeface="Calibri"/>
              </a:defRPr>
            </a:pPr>
            <a:r>
              <a:t>  ▸ InterventionTest : commande, clôture, sécurité</a:t>
            </a:r>
          </a:p>
        </p:txBody>
      </p:sp>
      <p:sp>
        <p:nvSpPr>
          <p:cNvPr id="16" name="TextBox 15"/>
          <p:cNvSpPr txBox="1"/>
          <p:nvPr/>
        </p:nvSpPr>
        <p:spPr>
          <a:xfrm>
            <a:off x="1097280" y="3739896"/>
            <a:ext cx="4754880" cy="228600"/>
          </a:xfrm>
          <a:prstGeom prst="rect">
            <a:avLst/>
          </a:prstGeom>
          <a:noFill/>
        </p:spPr>
        <p:txBody>
          <a:bodyPr wrap="square">
            <a:spAutoFit/>
          </a:bodyPr>
          <a:lstStyle/>
          <a:p>
            <a:pPr algn="l">
              <a:defRPr sz="1100" b="0">
                <a:solidFill>
                  <a:srgbClr val="1E293B"/>
                </a:solidFill>
                <a:latin typeface="Calibri"/>
              </a:defRPr>
            </a:pPr>
            <a:r>
              <a:t>  ▸ ProduitTest : CRUD admin, accès public</a:t>
            </a:r>
          </a:p>
        </p:txBody>
      </p:sp>
      <p:sp>
        <p:nvSpPr>
          <p:cNvPr id="17" name="TextBox 16"/>
          <p:cNvSpPr txBox="1"/>
          <p:nvPr/>
        </p:nvSpPr>
        <p:spPr>
          <a:xfrm>
            <a:off x="1097280" y="3995928"/>
            <a:ext cx="4754880" cy="228600"/>
          </a:xfrm>
          <a:prstGeom prst="rect">
            <a:avLst/>
          </a:prstGeom>
          <a:noFill/>
        </p:spPr>
        <p:txBody>
          <a:bodyPr wrap="square">
            <a:spAutoFit/>
          </a:bodyPr>
          <a:lstStyle/>
          <a:p>
            <a:pPr algn="l">
              <a:defRPr sz="1100" b="0">
                <a:solidFill>
                  <a:srgbClr val="1E293B"/>
                </a:solidFill>
                <a:latin typeface="Calibri"/>
              </a:defRPr>
            </a:pPr>
          </a:p>
        </p:txBody>
      </p:sp>
      <p:sp>
        <p:nvSpPr>
          <p:cNvPr id="18" name="TextBox 17"/>
          <p:cNvSpPr txBox="1"/>
          <p:nvPr/>
        </p:nvSpPr>
        <p:spPr>
          <a:xfrm>
            <a:off x="1097280" y="4251960"/>
            <a:ext cx="4754880" cy="228600"/>
          </a:xfrm>
          <a:prstGeom prst="rect">
            <a:avLst/>
          </a:prstGeom>
          <a:noFill/>
        </p:spPr>
        <p:txBody>
          <a:bodyPr wrap="square">
            <a:spAutoFit/>
          </a:bodyPr>
          <a:lstStyle/>
          <a:p>
            <a:pPr algn="l">
              <a:defRPr sz="1100" b="1">
                <a:solidFill>
                  <a:srgbClr val="1E40AF"/>
                </a:solidFill>
                <a:latin typeface="Calibri"/>
              </a:defRPr>
            </a:pPr>
            <a:r>
              <a:t>Tests End-to-End (Playwright)</a:t>
            </a:r>
          </a:p>
        </p:txBody>
      </p:sp>
      <p:sp>
        <p:nvSpPr>
          <p:cNvPr id="19" name="TextBox 18"/>
          <p:cNvSpPr txBox="1"/>
          <p:nvPr/>
        </p:nvSpPr>
        <p:spPr>
          <a:xfrm>
            <a:off x="1097280" y="4507992"/>
            <a:ext cx="4754880" cy="228600"/>
          </a:xfrm>
          <a:prstGeom prst="rect">
            <a:avLst/>
          </a:prstGeom>
          <a:noFill/>
        </p:spPr>
        <p:txBody>
          <a:bodyPr wrap="square">
            <a:spAutoFit/>
          </a:bodyPr>
          <a:lstStyle/>
          <a:p>
            <a:pPr algn="l">
              <a:defRPr sz="1100" b="0">
                <a:solidFill>
                  <a:srgbClr val="1E293B"/>
                </a:solidFill>
                <a:latin typeface="Calibri"/>
              </a:defRPr>
            </a:pPr>
            <a:r>
              <a:t>  ▸ Scénarios utilisateur complets</a:t>
            </a:r>
          </a:p>
        </p:txBody>
      </p:sp>
      <p:sp>
        <p:nvSpPr>
          <p:cNvPr id="20" name="TextBox 19"/>
          <p:cNvSpPr txBox="1"/>
          <p:nvPr/>
        </p:nvSpPr>
        <p:spPr>
          <a:xfrm>
            <a:off x="1097280" y="4764024"/>
            <a:ext cx="4754880" cy="228600"/>
          </a:xfrm>
          <a:prstGeom prst="rect">
            <a:avLst/>
          </a:prstGeom>
          <a:noFill/>
        </p:spPr>
        <p:txBody>
          <a:bodyPr wrap="square">
            <a:spAutoFit/>
          </a:bodyPr>
          <a:lstStyle/>
          <a:p>
            <a:pPr algn="l">
              <a:defRPr sz="1100" b="0">
                <a:solidFill>
                  <a:srgbClr val="1E293B"/>
                </a:solidFill>
                <a:latin typeface="Calibri"/>
              </a:defRPr>
            </a:pPr>
            <a:r>
              <a:t>  ▸ Exécution navigateur headless</a:t>
            </a:r>
          </a:p>
        </p:txBody>
      </p:sp>
      <p:sp>
        <p:nvSpPr>
          <p:cNvPr id="21" name="TextBox 20"/>
          <p:cNvSpPr txBox="1"/>
          <p:nvPr/>
        </p:nvSpPr>
        <p:spPr>
          <a:xfrm>
            <a:off x="1097280" y="5020056"/>
            <a:ext cx="4754880" cy="228600"/>
          </a:xfrm>
          <a:prstGeom prst="rect">
            <a:avLst/>
          </a:prstGeom>
          <a:noFill/>
        </p:spPr>
        <p:txBody>
          <a:bodyPr wrap="square">
            <a:spAutoFit/>
          </a:bodyPr>
          <a:lstStyle/>
          <a:p>
            <a:pPr algn="l">
              <a:defRPr sz="1100" b="0">
                <a:solidFill>
                  <a:srgbClr val="1E293B"/>
                </a:solidFill>
                <a:latin typeface="Calibri"/>
              </a:defRPr>
            </a:pPr>
          </a:p>
        </p:txBody>
      </p:sp>
      <p:sp>
        <p:nvSpPr>
          <p:cNvPr id="22" name="TextBox 21"/>
          <p:cNvSpPr txBox="1"/>
          <p:nvPr/>
        </p:nvSpPr>
        <p:spPr>
          <a:xfrm>
            <a:off x="1097280" y="5276088"/>
            <a:ext cx="4754880" cy="228600"/>
          </a:xfrm>
          <a:prstGeom prst="rect">
            <a:avLst/>
          </a:prstGeom>
          <a:noFill/>
        </p:spPr>
        <p:txBody>
          <a:bodyPr wrap="square">
            <a:spAutoFit/>
          </a:bodyPr>
          <a:lstStyle/>
          <a:p>
            <a:pPr algn="l">
              <a:defRPr sz="1100" b="1">
                <a:solidFill>
                  <a:srgbClr val="10B981"/>
                </a:solidFill>
                <a:latin typeface="Calibri"/>
              </a:defRPr>
            </a:pPr>
            <a:r>
              <a:t>Résultat : 21 tests, 38 assertions — 100% ✅</a:t>
            </a:r>
          </a:p>
        </p:txBody>
      </p:sp>
      <p:sp>
        <p:nvSpPr>
          <p:cNvPr id="23" name="Rounded Rectangle 22"/>
          <p:cNvSpPr/>
          <p:nvPr/>
        </p:nvSpPr>
        <p:spPr>
          <a:xfrm>
            <a:off x="6400800" y="1097280"/>
            <a:ext cx="5120640" cy="4114800"/>
          </a:xfrm>
          <a:prstGeom prst="roundRect">
            <a:avLst/>
          </a:prstGeom>
          <a:solidFill>
            <a:srgbClr val="FFFF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0" y="1188720"/>
            <a:ext cx="4754880" cy="365760"/>
          </a:xfrm>
          <a:prstGeom prst="rect">
            <a:avLst/>
          </a:prstGeom>
          <a:noFill/>
        </p:spPr>
        <p:txBody>
          <a:bodyPr wrap="square">
            <a:spAutoFit/>
          </a:bodyPr>
          <a:lstStyle/>
          <a:p>
            <a:pPr algn="l">
              <a:defRPr sz="1800" b="1">
                <a:solidFill>
                  <a:srgbClr val="10B981"/>
                </a:solidFill>
                <a:latin typeface="Calibri"/>
              </a:defRPr>
            </a:pPr>
            <a:r>
              <a:t>🚀 Déploiement &amp; CI/CD</a:t>
            </a:r>
          </a:p>
        </p:txBody>
      </p:sp>
      <p:sp>
        <p:nvSpPr>
          <p:cNvPr id="25" name="TextBox 24"/>
          <p:cNvSpPr txBox="1"/>
          <p:nvPr/>
        </p:nvSpPr>
        <p:spPr>
          <a:xfrm>
            <a:off x="6766560" y="1737360"/>
            <a:ext cx="1828800" cy="274320"/>
          </a:xfrm>
          <a:prstGeom prst="rect">
            <a:avLst/>
          </a:prstGeom>
          <a:noFill/>
        </p:spPr>
        <p:txBody>
          <a:bodyPr wrap="square">
            <a:spAutoFit/>
          </a:bodyPr>
          <a:lstStyle/>
          <a:p>
            <a:pPr algn="l">
              <a:defRPr sz="1200" b="1">
                <a:solidFill>
                  <a:srgbClr val="059669"/>
                </a:solidFill>
                <a:latin typeface="Calibri"/>
              </a:defRPr>
            </a:pPr>
            <a:r>
              <a:t>▸ Docker Compose</a:t>
            </a:r>
          </a:p>
        </p:txBody>
      </p:sp>
      <p:sp>
        <p:nvSpPr>
          <p:cNvPr id="26" name="TextBox 25"/>
          <p:cNvSpPr txBox="1"/>
          <p:nvPr/>
        </p:nvSpPr>
        <p:spPr>
          <a:xfrm>
            <a:off x="8595360" y="1737360"/>
            <a:ext cx="2743200" cy="640080"/>
          </a:xfrm>
          <a:prstGeom prst="rect">
            <a:avLst/>
          </a:prstGeom>
          <a:noFill/>
        </p:spPr>
        <p:txBody>
          <a:bodyPr wrap="square">
            <a:spAutoFit/>
          </a:bodyPr>
          <a:lstStyle/>
          <a:p>
            <a:pPr algn="l">
              <a:defRPr sz="1000" b="0">
                <a:solidFill>
                  <a:srgbClr val="1E293B"/>
                </a:solidFill>
                <a:latin typeface="Calibri"/>
              </a:defRPr>
            </a:pPr>
            <a:r>
              <a:t>Conteneurisation multi-services</a:t>
            </a:r>
            <a:br/>
            <a:r>
              <a:t>(Backend, Frontend, DB, Redis)</a:t>
            </a:r>
          </a:p>
        </p:txBody>
      </p:sp>
      <p:sp>
        <p:nvSpPr>
          <p:cNvPr id="27" name="TextBox 26"/>
          <p:cNvSpPr txBox="1"/>
          <p:nvPr/>
        </p:nvSpPr>
        <p:spPr>
          <a:xfrm>
            <a:off x="6766560" y="2514600"/>
            <a:ext cx="1828800" cy="274320"/>
          </a:xfrm>
          <a:prstGeom prst="rect">
            <a:avLst/>
          </a:prstGeom>
          <a:noFill/>
        </p:spPr>
        <p:txBody>
          <a:bodyPr wrap="square">
            <a:spAutoFit/>
          </a:bodyPr>
          <a:lstStyle/>
          <a:p>
            <a:pPr algn="l">
              <a:defRPr sz="1200" b="1">
                <a:solidFill>
                  <a:srgbClr val="059669"/>
                </a:solidFill>
                <a:latin typeface="Calibri"/>
              </a:defRPr>
            </a:pPr>
            <a:r>
              <a:t>▸ Dockerfile.prod</a:t>
            </a:r>
          </a:p>
        </p:txBody>
      </p:sp>
      <p:sp>
        <p:nvSpPr>
          <p:cNvPr id="28" name="TextBox 27"/>
          <p:cNvSpPr txBox="1"/>
          <p:nvPr/>
        </p:nvSpPr>
        <p:spPr>
          <a:xfrm>
            <a:off x="8595360" y="2514600"/>
            <a:ext cx="2743200" cy="640080"/>
          </a:xfrm>
          <a:prstGeom prst="rect">
            <a:avLst/>
          </a:prstGeom>
          <a:noFill/>
        </p:spPr>
        <p:txBody>
          <a:bodyPr wrap="square">
            <a:spAutoFit/>
          </a:bodyPr>
          <a:lstStyle/>
          <a:p>
            <a:pPr algn="l">
              <a:defRPr sz="1000" b="0">
                <a:solidFill>
                  <a:srgbClr val="1E293B"/>
                </a:solidFill>
                <a:latin typeface="Calibri"/>
              </a:defRPr>
            </a:pPr>
            <a:r>
              <a:t>Build multi-stage optimisé</a:t>
            </a:r>
            <a:br/>
            <a:r>
              <a:t>pour production</a:t>
            </a:r>
          </a:p>
        </p:txBody>
      </p:sp>
      <p:sp>
        <p:nvSpPr>
          <p:cNvPr id="29" name="TextBox 28"/>
          <p:cNvSpPr txBox="1"/>
          <p:nvPr/>
        </p:nvSpPr>
        <p:spPr>
          <a:xfrm>
            <a:off x="6766560" y="3291839"/>
            <a:ext cx="1828800" cy="274320"/>
          </a:xfrm>
          <a:prstGeom prst="rect">
            <a:avLst/>
          </a:prstGeom>
          <a:noFill/>
        </p:spPr>
        <p:txBody>
          <a:bodyPr wrap="square">
            <a:spAutoFit/>
          </a:bodyPr>
          <a:lstStyle/>
          <a:p>
            <a:pPr algn="l">
              <a:defRPr sz="1200" b="1">
                <a:solidFill>
                  <a:srgbClr val="059669"/>
                </a:solidFill>
                <a:latin typeface="Calibri"/>
              </a:defRPr>
            </a:pPr>
            <a:r>
              <a:t>▸ Nginx</a:t>
            </a:r>
          </a:p>
        </p:txBody>
      </p:sp>
      <p:sp>
        <p:nvSpPr>
          <p:cNvPr id="30" name="TextBox 29"/>
          <p:cNvSpPr txBox="1"/>
          <p:nvPr/>
        </p:nvSpPr>
        <p:spPr>
          <a:xfrm>
            <a:off x="8595360" y="3291839"/>
            <a:ext cx="2743200" cy="640080"/>
          </a:xfrm>
          <a:prstGeom prst="rect">
            <a:avLst/>
          </a:prstGeom>
          <a:noFill/>
        </p:spPr>
        <p:txBody>
          <a:bodyPr wrap="square">
            <a:spAutoFit/>
          </a:bodyPr>
          <a:lstStyle/>
          <a:p>
            <a:pPr algn="l">
              <a:defRPr sz="1000" b="0">
                <a:solidFill>
                  <a:srgbClr val="1E293B"/>
                </a:solidFill>
                <a:latin typeface="Calibri"/>
              </a:defRPr>
            </a:pPr>
            <a:r>
              <a:t>Reverse proxy, compression</a:t>
            </a:r>
            <a:br/>
            <a:r>
              <a:t>gzip, SSL/TLS ready</a:t>
            </a:r>
          </a:p>
        </p:txBody>
      </p:sp>
      <p:sp>
        <p:nvSpPr>
          <p:cNvPr id="31" name="TextBox 30"/>
          <p:cNvSpPr txBox="1"/>
          <p:nvPr/>
        </p:nvSpPr>
        <p:spPr>
          <a:xfrm>
            <a:off x="6766560" y="4069079"/>
            <a:ext cx="1828800" cy="274320"/>
          </a:xfrm>
          <a:prstGeom prst="rect">
            <a:avLst/>
          </a:prstGeom>
          <a:noFill/>
        </p:spPr>
        <p:txBody>
          <a:bodyPr wrap="square">
            <a:spAutoFit/>
          </a:bodyPr>
          <a:lstStyle/>
          <a:p>
            <a:pPr algn="l">
              <a:defRPr sz="1200" b="1">
                <a:solidFill>
                  <a:srgbClr val="059669"/>
                </a:solidFill>
                <a:latin typeface="Calibri"/>
              </a:defRPr>
            </a:pPr>
            <a:r>
              <a:t>▸ GitHub Actions</a:t>
            </a:r>
          </a:p>
        </p:txBody>
      </p:sp>
      <p:sp>
        <p:nvSpPr>
          <p:cNvPr id="32" name="TextBox 31"/>
          <p:cNvSpPr txBox="1"/>
          <p:nvPr/>
        </p:nvSpPr>
        <p:spPr>
          <a:xfrm>
            <a:off x="8595360" y="4069079"/>
            <a:ext cx="2743200" cy="640080"/>
          </a:xfrm>
          <a:prstGeom prst="rect">
            <a:avLst/>
          </a:prstGeom>
          <a:noFill/>
        </p:spPr>
        <p:txBody>
          <a:bodyPr wrap="square">
            <a:spAutoFit/>
          </a:bodyPr>
          <a:lstStyle/>
          <a:p>
            <a:pPr algn="l">
              <a:defRPr sz="1000" b="0">
                <a:solidFill>
                  <a:srgbClr val="1E293B"/>
                </a:solidFill>
                <a:latin typeface="Calibri"/>
              </a:defRPr>
            </a:pPr>
            <a:r>
              <a:t>Pipeline CI/CD automatisé :</a:t>
            </a:r>
            <a:br/>
            <a:r>
              <a:t>lint → test → build → deploy</a:t>
            </a:r>
          </a:p>
        </p:txBody>
      </p:sp>
      <p:sp>
        <p:nvSpPr>
          <p:cNvPr id="33" name="TextBox 32"/>
          <p:cNvSpPr txBox="1"/>
          <p:nvPr/>
        </p:nvSpPr>
        <p:spPr>
          <a:xfrm>
            <a:off x="6766560" y="4846320"/>
            <a:ext cx="1828800" cy="274320"/>
          </a:xfrm>
          <a:prstGeom prst="rect">
            <a:avLst/>
          </a:prstGeom>
          <a:noFill/>
        </p:spPr>
        <p:txBody>
          <a:bodyPr wrap="square">
            <a:spAutoFit/>
          </a:bodyPr>
          <a:lstStyle/>
          <a:p>
            <a:pPr algn="l">
              <a:defRPr sz="1200" b="1">
                <a:solidFill>
                  <a:srgbClr val="059669"/>
                </a:solidFill>
                <a:latin typeface="Calibri"/>
              </a:defRPr>
            </a:pPr>
            <a:r>
              <a:t>▸ Scripts Auto</a:t>
            </a:r>
          </a:p>
        </p:txBody>
      </p:sp>
      <p:sp>
        <p:nvSpPr>
          <p:cNvPr id="34" name="TextBox 33"/>
          <p:cNvSpPr txBox="1"/>
          <p:nvPr/>
        </p:nvSpPr>
        <p:spPr>
          <a:xfrm>
            <a:off x="8595360" y="4846320"/>
            <a:ext cx="2743200" cy="640080"/>
          </a:xfrm>
          <a:prstGeom prst="rect">
            <a:avLst/>
          </a:prstGeom>
          <a:noFill/>
        </p:spPr>
        <p:txBody>
          <a:bodyPr wrap="square">
            <a:spAutoFit/>
          </a:bodyPr>
          <a:lstStyle/>
          <a:p>
            <a:pPr algn="l">
              <a:defRPr sz="1000" b="0">
                <a:solidFill>
                  <a:srgbClr val="1E293B"/>
                </a:solidFill>
                <a:latin typeface="Calibri"/>
              </a:defRPr>
            </a:pPr>
            <a:r>
              <a:t>start.bat / start.sh pour</a:t>
            </a:r>
            <a:br/>
            <a:r>
              <a:t>démarrage one-click</a:t>
            </a:r>
          </a:p>
        </p:txBody>
      </p:sp>
      <p:sp>
        <p:nvSpPr>
          <p:cNvPr id="35" name="TextBox 34"/>
          <p:cNvSpPr txBox="1"/>
          <p:nvPr/>
        </p:nvSpPr>
        <p:spPr>
          <a:xfrm>
            <a:off x="457200" y="6309360"/>
            <a:ext cx="10972800" cy="365760"/>
          </a:xfrm>
          <a:prstGeom prst="rect">
            <a:avLst/>
          </a:prstGeom>
          <a:noFill/>
        </p:spPr>
        <p:txBody>
          <a:bodyPr wrap="none">
            <a:spAutoFit/>
          </a:bodyPr>
          <a:lstStyle/>
          <a:p>
            <a:pPr algn="ctr">
              <a:defRPr sz="900">
                <a:solidFill>
                  <a:srgbClr val="94A3B8"/>
                </a:solidFill>
              </a:defRPr>
            </a:pPr>
            <a:r>
              <a:t>Dar-Soins — PFE Licence Pro IFIAG 2025/2026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2563E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XI. Démonstration en Direct</a:t>
            </a:r>
          </a:p>
        </p:txBody>
      </p:sp>
      <p:sp>
        <p:nvSpPr>
          <p:cNvPr id="5" name="TextBox 4"/>
          <p:cNvSpPr txBox="1"/>
          <p:nvPr/>
        </p:nvSpPr>
        <p:spPr>
          <a:xfrm>
            <a:off x="914400" y="3657600"/>
            <a:ext cx="10058400" cy="914400"/>
          </a:xfrm>
          <a:prstGeom prst="rect">
            <a:avLst/>
          </a:prstGeom>
          <a:noFill/>
        </p:spPr>
        <p:txBody>
          <a:bodyPr wrap="square">
            <a:spAutoFit/>
          </a:bodyPr>
          <a:lstStyle/>
          <a:p>
            <a:pPr algn="ctr">
              <a:defRPr sz="2000" b="0">
                <a:solidFill>
                  <a:srgbClr val="BFDBFE"/>
                </a:solidFill>
                <a:latin typeface="Calibri"/>
              </a:defRPr>
            </a:pPr>
            <a:r>
              <a:t>🖥️  Parcours complet : de la commande à la facture</a:t>
            </a:r>
          </a:p>
        </p:txBody>
      </p:sp>
      <p:sp>
        <p:nvSpPr>
          <p:cNvPr id="6" name="TextBox 5"/>
          <p:cNvSpPr txBox="1"/>
          <p:nvPr/>
        </p:nvSpPr>
        <p:spPr>
          <a:xfrm>
            <a:off x="457200" y="6309360"/>
            <a:ext cx="10972800" cy="365760"/>
          </a:xfrm>
          <a:prstGeom prst="rect">
            <a:avLst/>
          </a:prstGeom>
          <a:noFill/>
        </p:spPr>
        <p:txBody>
          <a:bodyPr wrap="none">
            <a:spAutoFit/>
          </a:bodyPr>
          <a:lstStyle/>
          <a:p>
            <a:pPr algn="ctr">
              <a:defRPr sz="900">
                <a:solidFill>
                  <a:srgbClr val="94A3B8"/>
                </a:solidFill>
              </a:defRPr>
            </a:pPr>
            <a:r>
              <a:t>Dar-Soins — PFE Licence Pro IFIAG 2025/2026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563E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XII. Bilan, Perspectives &amp; Conclusion</a:t>
            </a:r>
          </a:p>
        </p:txBody>
      </p:sp>
      <p:sp>
        <p:nvSpPr>
          <p:cNvPr id="5" name="TextBox 4"/>
          <p:cNvSpPr txBox="1"/>
          <p:nvPr/>
        </p:nvSpPr>
        <p:spPr>
          <a:xfrm>
            <a:off x="914400" y="3657600"/>
            <a:ext cx="10058400" cy="914400"/>
          </a:xfrm>
          <a:prstGeom prst="rect">
            <a:avLst/>
          </a:prstGeom>
          <a:noFill/>
        </p:spPr>
        <p:txBody>
          <a:bodyPr wrap="square">
            <a:spAutoFit/>
          </a:bodyPr>
          <a:lstStyle/>
          <a:p>
            <a:pPr algn="ctr">
              <a:defRPr sz="2000" b="0">
                <a:solidFill>
                  <a:srgbClr val="BFDBFE"/>
                </a:solidFill>
                <a:latin typeface="Calibri"/>
              </a:defRPr>
            </a:pPr>
            <a:r>
              <a:t>Ce qui a été accompli et la suite</a:t>
            </a:r>
          </a:p>
        </p:txBody>
      </p:sp>
      <p:sp>
        <p:nvSpPr>
          <p:cNvPr id="6" name="TextBox 5"/>
          <p:cNvSpPr txBox="1"/>
          <p:nvPr/>
        </p:nvSpPr>
        <p:spPr>
          <a:xfrm>
            <a:off x="457200" y="6309360"/>
            <a:ext cx="10972800" cy="365760"/>
          </a:xfrm>
          <a:prstGeom prst="rect">
            <a:avLst/>
          </a:prstGeom>
          <a:noFill/>
        </p:spPr>
        <p:txBody>
          <a:bodyPr wrap="none">
            <a:spAutoFit/>
          </a:bodyPr>
          <a:lstStyle/>
          <a:p>
            <a:pPr algn="ctr">
              <a:defRPr sz="900">
                <a:solidFill>
                  <a:srgbClr val="94A3B8"/>
                </a:solidFill>
              </a:defRPr>
            </a:pPr>
            <a:r>
              <a:t>Dar-Soins — PFE Licence Pro IFIAG 2025/2026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548640" y="228600"/>
            <a:ext cx="731520" cy="731520"/>
          </a:xfrm>
          <a:prstGeom prst="rect">
            <a:avLst/>
          </a:prstGeom>
        </p:spPr>
      </p:pic>
      <p:sp>
        <p:nvSpPr>
          <p:cNvPr id="5" name="TextBox 4"/>
          <p:cNvSpPr txBox="1"/>
          <p:nvPr/>
        </p:nvSpPr>
        <p:spPr>
          <a:xfrm>
            <a:off x="1463040" y="274320"/>
            <a:ext cx="9144000" cy="548640"/>
          </a:xfrm>
          <a:prstGeom prst="rect">
            <a:avLst/>
          </a:prstGeom>
          <a:noFill/>
        </p:spPr>
        <p:txBody>
          <a:bodyPr wrap="square">
            <a:spAutoFit/>
          </a:bodyPr>
          <a:lstStyle/>
          <a:p>
            <a:pPr algn="l">
              <a:defRPr sz="2800" b="1">
                <a:solidFill>
                  <a:srgbClr val="2563EB"/>
                </a:solidFill>
                <a:latin typeface="Calibri"/>
              </a:defRPr>
            </a:pPr>
            <a:r>
              <a:t>Bilan Technique du Projet</a:t>
            </a:r>
          </a:p>
        </p:txBody>
      </p:sp>
      <p:sp>
        <p:nvSpPr>
          <p:cNvPr id="6" name="Rounded Rectangle 5"/>
          <p:cNvSpPr/>
          <p:nvPr/>
        </p:nvSpPr>
        <p:spPr>
          <a:xfrm>
            <a:off x="731520" y="1097280"/>
            <a:ext cx="2560320" cy="182880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25880"/>
            <a:ext cx="2194560" cy="640080"/>
          </a:xfrm>
          <a:prstGeom prst="rect">
            <a:avLst/>
          </a:prstGeom>
          <a:noFill/>
        </p:spPr>
        <p:txBody>
          <a:bodyPr wrap="square">
            <a:spAutoFit/>
          </a:bodyPr>
          <a:lstStyle/>
          <a:p>
            <a:pPr algn="ctr">
              <a:defRPr sz="3600" b="1">
                <a:solidFill>
                  <a:srgbClr val="2563EB"/>
                </a:solidFill>
                <a:latin typeface="Calibri"/>
              </a:defRPr>
            </a:pPr>
            <a:r>
              <a:t>34</a:t>
            </a:r>
          </a:p>
        </p:txBody>
      </p:sp>
      <p:sp>
        <p:nvSpPr>
          <p:cNvPr id="8" name="TextBox 7"/>
          <p:cNvSpPr txBox="1"/>
          <p:nvPr/>
        </p:nvSpPr>
        <p:spPr>
          <a:xfrm>
            <a:off x="914400" y="2103120"/>
            <a:ext cx="2194560" cy="640080"/>
          </a:xfrm>
          <a:prstGeom prst="rect">
            <a:avLst/>
          </a:prstGeom>
          <a:noFill/>
        </p:spPr>
        <p:txBody>
          <a:bodyPr wrap="square">
            <a:spAutoFit/>
          </a:bodyPr>
          <a:lstStyle/>
          <a:p>
            <a:pPr algn="ctr">
              <a:defRPr sz="1300" b="0">
                <a:solidFill>
                  <a:srgbClr val="1E293B"/>
                </a:solidFill>
                <a:latin typeface="Calibri"/>
              </a:defRPr>
            </a:pPr>
            <a:r>
              <a:t>Modèles</a:t>
            </a:r>
            <a:br/>
            <a:r>
              <a:t>Eloquent</a:t>
            </a:r>
          </a:p>
        </p:txBody>
      </p:sp>
      <p:sp>
        <p:nvSpPr>
          <p:cNvPr id="9" name="Rounded Rectangle 8"/>
          <p:cNvSpPr/>
          <p:nvPr/>
        </p:nvSpPr>
        <p:spPr>
          <a:xfrm>
            <a:off x="3566160" y="1097280"/>
            <a:ext cx="2560320" cy="1828800"/>
          </a:xfrm>
          <a:prstGeom prst="roundRect">
            <a:avLst/>
          </a:prstGeom>
          <a:solidFill>
            <a:srgbClr val="FFFF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9040" y="1325880"/>
            <a:ext cx="2194560" cy="640080"/>
          </a:xfrm>
          <a:prstGeom prst="rect">
            <a:avLst/>
          </a:prstGeom>
          <a:noFill/>
        </p:spPr>
        <p:txBody>
          <a:bodyPr wrap="square">
            <a:spAutoFit/>
          </a:bodyPr>
          <a:lstStyle/>
          <a:p>
            <a:pPr algn="ctr">
              <a:defRPr sz="3600" b="1">
                <a:solidFill>
                  <a:srgbClr val="10B981"/>
                </a:solidFill>
                <a:latin typeface="Calibri"/>
              </a:defRPr>
            </a:pPr>
            <a:r>
              <a:t>44</a:t>
            </a:r>
          </a:p>
        </p:txBody>
      </p:sp>
      <p:sp>
        <p:nvSpPr>
          <p:cNvPr id="11" name="TextBox 10"/>
          <p:cNvSpPr txBox="1"/>
          <p:nvPr/>
        </p:nvSpPr>
        <p:spPr>
          <a:xfrm>
            <a:off x="3749040" y="2103120"/>
            <a:ext cx="2194560" cy="640080"/>
          </a:xfrm>
          <a:prstGeom prst="rect">
            <a:avLst/>
          </a:prstGeom>
          <a:noFill/>
        </p:spPr>
        <p:txBody>
          <a:bodyPr wrap="square">
            <a:spAutoFit/>
          </a:bodyPr>
          <a:lstStyle/>
          <a:p>
            <a:pPr algn="ctr">
              <a:defRPr sz="1300" b="0">
                <a:solidFill>
                  <a:srgbClr val="1E293B"/>
                </a:solidFill>
                <a:latin typeface="Calibri"/>
              </a:defRPr>
            </a:pPr>
            <a:r>
              <a:t>Migrations</a:t>
            </a:r>
            <a:br/>
            <a:r>
              <a:t>DB</a:t>
            </a:r>
          </a:p>
        </p:txBody>
      </p:sp>
      <p:sp>
        <p:nvSpPr>
          <p:cNvPr id="12" name="Rounded Rectangle 11"/>
          <p:cNvSpPr/>
          <p:nvPr/>
        </p:nvSpPr>
        <p:spPr>
          <a:xfrm>
            <a:off x="6400800" y="1097280"/>
            <a:ext cx="2560320" cy="1828800"/>
          </a:xfrm>
          <a:prstGeom prst="roundRect">
            <a:avLst/>
          </a:prstGeom>
          <a:solidFill>
            <a:srgbClr val="FFFFFF"/>
          </a:solidFill>
          <a:ln w="2540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1325880"/>
            <a:ext cx="2194560" cy="640080"/>
          </a:xfrm>
          <a:prstGeom prst="rect">
            <a:avLst/>
          </a:prstGeom>
          <a:noFill/>
        </p:spPr>
        <p:txBody>
          <a:bodyPr wrap="square">
            <a:spAutoFit/>
          </a:bodyPr>
          <a:lstStyle/>
          <a:p>
            <a:pPr algn="ctr">
              <a:defRPr sz="3600" b="1">
                <a:solidFill>
                  <a:srgbClr val="1E40AF"/>
                </a:solidFill>
                <a:latin typeface="Calibri"/>
              </a:defRPr>
            </a:pPr>
            <a:r>
              <a:t>31</a:t>
            </a:r>
          </a:p>
        </p:txBody>
      </p:sp>
      <p:sp>
        <p:nvSpPr>
          <p:cNvPr id="14" name="TextBox 13"/>
          <p:cNvSpPr txBox="1"/>
          <p:nvPr/>
        </p:nvSpPr>
        <p:spPr>
          <a:xfrm>
            <a:off x="6583680" y="2103120"/>
            <a:ext cx="2194560" cy="640080"/>
          </a:xfrm>
          <a:prstGeom prst="rect">
            <a:avLst/>
          </a:prstGeom>
          <a:noFill/>
        </p:spPr>
        <p:txBody>
          <a:bodyPr wrap="square">
            <a:spAutoFit/>
          </a:bodyPr>
          <a:lstStyle/>
          <a:p>
            <a:pPr algn="ctr">
              <a:defRPr sz="1300" b="0">
                <a:solidFill>
                  <a:srgbClr val="1E293B"/>
                </a:solidFill>
                <a:latin typeface="Calibri"/>
              </a:defRPr>
            </a:pPr>
            <a:r>
              <a:t>Contrôleurs</a:t>
            </a:r>
            <a:br/>
            <a:r>
              <a:t>API</a:t>
            </a:r>
          </a:p>
        </p:txBody>
      </p:sp>
      <p:sp>
        <p:nvSpPr>
          <p:cNvPr id="15" name="Rounded Rectangle 14"/>
          <p:cNvSpPr/>
          <p:nvPr/>
        </p:nvSpPr>
        <p:spPr>
          <a:xfrm>
            <a:off x="9235440" y="1097280"/>
            <a:ext cx="2560320" cy="1828800"/>
          </a:xfrm>
          <a:prstGeom prst="roundRect">
            <a:avLst/>
          </a:prstGeom>
          <a:solidFill>
            <a:srgbClr val="FFFFFF"/>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18320" y="1325880"/>
            <a:ext cx="2194560" cy="640080"/>
          </a:xfrm>
          <a:prstGeom prst="rect">
            <a:avLst/>
          </a:prstGeom>
          <a:noFill/>
        </p:spPr>
        <p:txBody>
          <a:bodyPr wrap="square">
            <a:spAutoFit/>
          </a:bodyPr>
          <a:lstStyle/>
          <a:p>
            <a:pPr algn="ctr">
              <a:defRPr sz="3600" b="1">
                <a:solidFill>
                  <a:srgbClr val="F59E0B"/>
                </a:solidFill>
                <a:latin typeface="Calibri"/>
              </a:defRPr>
            </a:pPr>
            <a:r>
              <a:t>52</a:t>
            </a:r>
          </a:p>
        </p:txBody>
      </p:sp>
      <p:sp>
        <p:nvSpPr>
          <p:cNvPr id="17" name="TextBox 16"/>
          <p:cNvSpPr txBox="1"/>
          <p:nvPr/>
        </p:nvSpPr>
        <p:spPr>
          <a:xfrm>
            <a:off x="9418320" y="2103120"/>
            <a:ext cx="2194560" cy="640080"/>
          </a:xfrm>
          <a:prstGeom prst="rect">
            <a:avLst/>
          </a:prstGeom>
          <a:noFill/>
        </p:spPr>
        <p:txBody>
          <a:bodyPr wrap="square">
            <a:spAutoFit/>
          </a:bodyPr>
          <a:lstStyle/>
          <a:p>
            <a:pPr algn="ctr">
              <a:defRPr sz="1300" b="0">
                <a:solidFill>
                  <a:srgbClr val="1E293B"/>
                </a:solidFill>
                <a:latin typeface="Calibri"/>
              </a:defRPr>
            </a:pPr>
            <a:r>
              <a:t>Composants</a:t>
            </a:r>
            <a:br/>
            <a:r>
              <a:t>ERP React</a:t>
            </a:r>
          </a:p>
        </p:txBody>
      </p:sp>
      <p:sp>
        <p:nvSpPr>
          <p:cNvPr id="18" name="Rounded Rectangle 17"/>
          <p:cNvSpPr/>
          <p:nvPr/>
        </p:nvSpPr>
        <p:spPr>
          <a:xfrm>
            <a:off x="731520" y="3383280"/>
            <a:ext cx="2560320" cy="1828800"/>
          </a:xfrm>
          <a:prstGeom prst="roundRect">
            <a:avLst/>
          </a:prstGeom>
          <a:solidFill>
            <a:srgbClr val="FFFFFF"/>
          </a:solidFill>
          <a:ln w="254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611880"/>
            <a:ext cx="2194560" cy="640080"/>
          </a:xfrm>
          <a:prstGeom prst="rect">
            <a:avLst/>
          </a:prstGeom>
          <a:noFill/>
        </p:spPr>
        <p:txBody>
          <a:bodyPr wrap="square">
            <a:spAutoFit/>
          </a:bodyPr>
          <a:lstStyle/>
          <a:p>
            <a:pPr algn="ctr">
              <a:defRPr sz="3600" b="1">
                <a:solidFill>
                  <a:srgbClr val="059669"/>
                </a:solidFill>
                <a:latin typeface="Calibri"/>
              </a:defRPr>
            </a:pPr>
            <a:r>
              <a:t>21</a:t>
            </a:r>
          </a:p>
        </p:txBody>
      </p:sp>
      <p:sp>
        <p:nvSpPr>
          <p:cNvPr id="20" name="TextBox 19"/>
          <p:cNvSpPr txBox="1"/>
          <p:nvPr/>
        </p:nvSpPr>
        <p:spPr>
          <a:xfrm>
            <a:off x="914400" y="4389120"/>
            <a:ext cx="2194560" cy="640080"/>
          </a:xfrm>
          <a:prstGeom prst="rect">
            <a:avLst/>
          </a:prstGeom>
          <a:noFill/>
        </p:spPr>
        <p:txBody>
          <a:bodyPr wrap="square">
            <a:spAutoFit/>
          </a:bodyPr>
          <a:lstStyle/>
          <a:p>
            <a:pPr algn="ctr">
              <a:defRPr sz="1300" b="0">
                <a:solidFill>
                  <a:srgbClr val="1E293B"/>
                </a:solidFill>
                <a:latin typeface="Calibri"/>
              </a:defRPr>
            </a:pPr>
            <a:r>
              <a:t>Tests</a:t>
            </a:r>
            <a:br/>
            <a:r>
              <a:t>automatisés</a:t>
            </a:r>
          </a:p>
        </p:txBody>
      </p:sp>
      <p:sp>
        <p:nvSpPr>
          <p:cNvPr id="21" name="Rounded Rectangle 20"/>
          <p:cNvSpPr/>
          <p:nvPr/>
        </p:nvSpPr>
        <p:spPr>
          <a:xfrm>
            <a:off x="3566160" y="3383280"/>
            <a:ext cx="2560320" cy="1828800"/>
          </a:xfrm>
          <a:prstGeom prst="roundRect">
            <a:avLst/>
          </a:prstGeom>
          <a:solidFill>
            <a:srgbClr val="FFFFFF"/>
          </a:solid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0" y="3611880"/>
            <a:ext cx="2194560" cy="640080"/>
          </a:xfrm>
          <a:prstGeom prst="rect">
            <a:avLst/>
          </a:prstGeom>
          <a:noFill/>
        </p:spPr>
        <p:txBody>
          <a:bodyPr wrap="square">
            <a:spAutoFit/>
          </a:bodyPr>
          <a:lstStyle/>
          <a:p>
            <a:pPr algn="ctr">
              <a:defRPr sz="3600" b="1">
                <a:solidFill>
                  <a:srgbClr val="7C3AED"/>
                </a:solidFill>
                <a:latin typeface="Calibri"/>
              </a:defRPr>
            </a:pPr>
            <a:r>
              <a:t>5</a:t>
            </a:r>
          </a:p>
        </p:txBody>
      </p:sp>
      <p:sp>
        <p:nvSpPr>
          <p:cNvPr id="23" name="TextBox 22"/>
          <p:cNvSpPr txBox="1"/>
          <p:nvPr/>
        </p:nvSpPr>
        <p:spPr>
          <a:xfrm>
            <a:off x="3749040" y="4389120"/>
            <a:ext cx="2194560" cy="640080"/>
          </a:xfrm>
          <a:prstGeom prst="rect">
            <a:avLst/>
          </a:prstGeom>
          <a:noFill/>
        </p:spPr>
        <p:txBody>
          <a:bodyPr wrap="square">
            <a:spAutoFit/>
          </a:bodyPr>
          <a:lstStyle/>
          <a:p>
            <a:pPr algn="ctr">
              <a:defRPr sz="1300" b="0">
                <a:solidFill>
                  <a:srgbClr val="1E293B"/>
                </a:solidFill>
                <a:latin typeface="Calibri"/>
              </a:defRPr>
            </a:pPr>
            <a:r>
              <a:t>Services</a:t>
            </a:r>
            <a:br/>
            <a:r>
              <a:t>métier</a:t>
            </a:r>
          </a:p>
        </p:txBody>
      </p:sp>
      <p:sp>
        <p:nvSpPr>
          <p:cNvPr id="24" name="Rounded Rectangle 23"/>
          <p:cNvSpPr/>
          <p:nvPr/>
        </p:nvSpPr>
        <p:spPr>
          <a:xfrm>
            <a:off x="6400800" y="3383280"/>
            <a:ext cx="2560320" cy="1828800"/>
          </a:xfrm>
          <a:prstGeom prst="roundRect">
            <a:avLst/>
          </a:prstGeom>
          <a:solidFill>
            <a:srgbClr val="FFFFFF"/>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0" y="3611880"/>
            <a:ext cx="2194560" cy="640080"/>
          </a:xfrm>
          <a:prstGeom prst="rect">
            <a:avLst/>
          </a:prstGeom>
          <a:noFill/>
        </p:spPr>
        <p:txBody>
          <a:bodyPr wrap="square">
            <a:spAutoFit/>
          </a:bodyPr>
          <a:lstStyle/>
          <a:p>
            <a:pPr algn="ctr">
              <a:defRPr sz="3600" b="1">
                <a:solidFill>
                  <a:srgbClr val="EF4444"/>
                </a:solidFill>
                <a:latin typeface="Calibri"/>
              </a:defRPr>
            </a:pPr>
            <a:r>
              <a:t>11</a:t>
            </a:r>
          </a:p>
        </p:txBody>
      </p:sp>
      <p:sp>
        <p:nvSpPr>
          <p:cNvPr id="26" name="TextBox 25"/>
          <p:cNvSpPr txBox="1"/>
          <p:nvPr/>
        </p:nvSpPr>
        <p:spPr>
          <a:xfrm>
            <a:off x="6583680" y="4389120"/>
            <a:ext cx="2194560" cy="640080"/>
          </a:xfrm>
          <a:prstGeom prst="rect">
            <a:avLst/>
          </a:prstGeom>
          <a:noFill/>
        </p:spPr>
        <p:txBody>
          <a:bodyPr wrap="square">
            <a:spAutoFit/>
          </a:bodyPr>
          <a:lstStyle/>
          <a:p>
            <a:pPr algn="ctr">
              <a:defRPr sz="1300" b="0">
                <a:solidFill>
                  <a:srgbClr val="1E293B"/>
                </a:solidFill>
                <a:latin typeface="Calibri"/>
              </a:defRPr>
            </a:pPr>
            <a:r>
              <a:t>Pages</a:t>
            </a:r>
            <a:br/>
            <a:r>
              <a:t>frontend</a:t>
            </a:r>
          </a:p>
        </p:txBody>
      </p:sp>
      <p:sp>
        <p:nvSpPr>
          <p:cNvPr id="27" name="Rounded Rectangle 26"/>
          <p:cNvSpPr/>
          <p:nvPr/>
        </p:nvSpPr>
        <p:spPr>
          <a:xfrm>
            <a:off x="9235440" y="3383280"/>
            <a:ext cx="2560320" cy="1828800"/>
          </a:xfrm>
          <a:prstGeom prst="roundRect">
            <a:avLst/>
          </a:prstGeom>
          <a:solidFill>
            <a:srgbClr val="FFFF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18320" y="3611880"/>
            <a:ext cx="2194560" cy="640080"/>
          </a:xfrm>
          <a:prstGeom prst="rect">
            <a:avLst/>
          </a:prstGeom>
          <a:noFill/>
        </p:spPr>
        <p:txBody>
          <a:bodyPr wrap="square">
            <a:spAutoFit/>
          </a:bodyPr>
          <a:lstStyle/>
          <a:p>
            <a:pPr algn="ctr">
              <a:defRPr sz="3600" b="1">
                <a:solidFill>
                  <a:srgbClr val="10B981"/>
                </a:solidFill>
                <a:latin typeface="Calibri"/>
              </a:defRPr>
            </a:pPr>
            <a:r>
              <a:t>100%</a:t>
            </a:r>
          </a:p>
        </p:txBody>
      </p:sp>
      <p:sp>
        <p:nvSpPr>
          <p:cNvPr id="29" name="TextBox 28"/>
          <p:cNvSpPr txBox="1"/>
          <p:nvPr/>
        </p:nvSpPr>
        <p:spPr>
          <a:xfrm>
            <a:off x="9418320" y="4389120"/>
            <a:ext cx="2194560" cy="640080"/>
          </a:xfrm>
          <a:prstGeom prst="rect">
            <a:avLst/>
          </a:prstGeom>
          <a:noFill/>
        </p:spPr>
        <p:txBody>
          <a:bodyPr wrap="square">
            <a:spAutoFit/>
          </a:bodyPr>
          <a:lstStyle/>
          <a:p>
            <a:pPr algn="ctr">
              <a:defRPr sz="1300" b="0">
                <a:solidFill>
                  <a:srgbClr val="1E293B"/>
                </a:solidFill>
                <a:latin typeface="Calibri"/>
              </a:defRPr>
            </a:pPr>
            <a:r>
              <a:t>Tests</a:t>
            </a:r>
            <a:br/>
            <a:r>
              <a:t>réussis ✅</a:t>
            </a:r>
          </a:p>
        </p:txBody>
      </p:sp>
      <p:sp>
        <p:nvSpPr>
          <p:cNvPr id="30" name="TextBox 29"/>
          <p:cNvSpPr txBox="1"/>
          <p:nvPr/>
        </p:nvSpPr>
        <p:spPr>
          <a:xfrm>
            <a:off x="731520" y="5760720"/>
            <a:ext cx="10972800" cy="457200"/>
          </a:xfrm>
          <a:prstGeom prst="rect">
            <a:avLst/>
          </a:prstGeom>
          <a:noFill/>
        </p:spPr>
        <p:txBody>
          <a:bodyPr wrap="square">
            <a:spAutoFit/>
          </a:bodyPr>
          <a:lstStyle/>
          <a:p>
            <a:pPr algn="ctr">
              <a:defRPr sz="1200" b="0">
                <a:solidFill>
                  <a:srgbClr val="94A3B8"/>
                </a:solidFill>
                <a:latin typeface="Calibri"/>
              </a:defRPr>
            </a:pPr>
            <a:r>
              <a:t>Compétences acquises : Full-Stack Development · Architecture logicielle · Sécurité web · UX/UI Design · DevOps · Gestion de projet</a:t>
            </a:r>
          </a:p>
        </p:txBody>
      </p:sp>
      <p:sp>
        <p:nvSpPr>
          <p:cNvPr id="31" name="TextBox 30"/>
          <p:cNvSpPr txBox="1"/>
          <p:nvPr/>
        </p:nvSpPr>
        <p:spPr>
          <a:xfrm>
            <a:off x="457200" y="6309360"/>
            <a:ext cx="10972800" cy="365760"/>
          </a:xfrm>
          <a:prstGeom prst="rect">
            <a:avLst/>
          </a:prstGeom>
          <a:noFill/>
        </p:spPr>
        <p:txBody>
          <a:bodyPr wrap="none">
            <a:spAutoFit/>
          </a:bodyPr>
          <a:lstStyle/>
          <a:p>
            <a:pPr algn="ctr">
              <a:defRPr sz="900">
                <a:solidFill>
                  <a:srgbClr val="94A3B8"/>
                </a:solidFill>
              </a:defRPr>
            </a:pPr>
            <a:r>
              <a:t>Dar-Soins — PFE Licence Pro IFIAG 2025/2026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548640" y="228600"/>
            <a:ext cx="731520" cy="731520"/>
          </a:xfrm>
          <a:prstGeom prst="rect">
            <a:avLst/>
          </a:prstGeom>
        </p:spPr>
      </p:pic>
      <p:sp>
        <p:nvSpPr>
          <p:cNvPr id="5" name="TextBox 4"/>
          <p:cNvSpPr txBox="1"/>
          <p:nvPr/>
        </p:nvSpPr>
        <p:spPr>
          <a:xfrm>
            <a:off x="1463040" y="274320"/>
            <a:ext cx="9144000" cy="548640"/>
          </a:xfrm>
          <a:prstGeom prst="rect">
            <a:avLst/>
          </a:prstGeom>
          <a:noFill/>
        </p:spPr>
        <p:txBody>
          <a:bodyPr wrap="square">
            <a:spAutoFit/>
          </a:bodyPr>
          <a:lstStyle/>
          <a:p>
            <a:pPr algn="l">
              <a:defRPr sz="2800" b="1">
                <a:solidFill>
                  <a:srgbClr val="2563EB"/>
                </a:solidFill>
                <a:latin typeface="Calibri"/>
              </a:defRPr>
            </a:pPr>
            <a:r>
              <a:t>Perspectives d'Évolution</a:t>
            </a:r>
          </a:p>
        </p:txBody>
      </p:sp>
      <p:sp>
        <p:nvSpPr>
          <p:cNvPr id="6" name="Rounded Rectangle 5"/>
          <p:cNvSpPr/>
          <p:nvPr/>
        </p:nvSpPr>
        <p:spPr>
          <a:xfrm>
            <a:off x="731520" y="1097280"/>
            <a:ext cx="5303520" cy="137160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188720"/>
            <a:ext cx="3657600" cy="320040"/>
          </a:xfrm>
          <a:prstGeom prst="rect">
            <a:avLst/>
          </a:prstGeom>
          <a:noFill/>
        </p:spPr>
        <p:txBody>
          <a:bodyPr wrap="square">
            <a:spAutoFit/>
          </a:bodyPr>
          <a:lstStyle/>
          <a:p>
            <a:pPr algn="l">
              <a:defRPr sz="1400" b="1">
                <a:solidFill>
                  <a:srgbClr val="2563EB"/>
                </a:solidFill>
                <a:latin typeface="Calibri"/>
              </a:defRPr>
            </a:pPr>
            <a:r>
              <a:t>📱 Application Mobile</a:t>
            </a:r>
          </a:p>
        </p:txBody>
      </p:sp>
      <p:sp>
        <p:nvSpPr>
          <p:cNvPr id="8" name="Rounded Rectangle 7"/>
          <p:cNvSpPr/>
          <p:nvPr/>
        </p:nvSpPr>
        <p:spPr>
          <a:xfrm>
            <a:off x="4572000" y="1207008"/>
            <a:ext cx="1280160" cy="256032"/>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207008"/>
            <a:ext cx="1188720" cy="256032"/>
          </a:xfrm>
          <a:prstGeom prst="rect">
            <a:avLst/>
          </a:prstGeom>
          <a:noFill/>
        </p:spPr>
        <p:txBody>
          <a:bodyPr wrap="square">
            <a:spAutoFit/>
          </a:bodyPr>
          <a:lstStyle/>
          <a:p>
            <a:pPr algn="ctr">
              <a:defRPr sz="900" b="1">
                <a:solidFill>
                  <a:srgbClr val="FFFFFF"/>
                </a:solidFill>
                <a:latin typeface="Calibri"/>
              </a:defRPr>
            </a:pPr>
            <a:r>
              <a:t>Court terme</a:t>
            </a:r>
          </a:p>
        </p:txBody>
      </p:sp>
      <p:sp>
        <p:nvSpPr>
          <p:cNvPr id="10" name="TextBox 9"/>
          <p:cNvSpPr txBox="1"/>
          <p:nvPr/>
        </p:nvSpPr>
        <p:spPr>
          <a:xfrm>
            <a:off x="914400" y="1600200"/>
            <a:ext cx="4937760" cy="731520"/>
          </a:xfrm>
          <a:prstGeom prst="rect">
            <a:avLst/>
          </a:prstGeom>
          <a:noFill/>
        </p:spPr>
        <p:txBody>
          <a:bodyPr wrap="square">
            <a:spAutoFit/>
          </a:bodyPr>
          <a:lstStyle/>
          <a:p>
            <a:pPr algn="l">
              <a:defRPr sz="1100" b="0">
                <a:solidFill>
                  <a:srgbClr val="1E293B"/>
                </a:solidFill>
                <a:latin typeface="Calibri"/>
              </a:defRPr>
            </a:pPr>
            <a:r>
              <a:t>Développement d'applications iOS et Android</a:t>
            </a:r>
            <a:br/>
            <a:r>
              <a:t>avec React Native pour étendre la portée</a:t>
            </a:r>
          </a:p>
        </p:txBody>
      </p:sp>
      <p:sp>
        <p:nvSpPr>
          <p:cNvPr id="11" name="Rounded Rectangle 10"/>
          <p:cNvSpPr/>
          <p:nvPr/>
        </p:nvSpPr>
        <p:spPr>
          <a:xfrm>
            <a:off x="6400800" y="1097280"/>
            <a:ext cx="5303520" cy="137160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1188720"/>
            <a:ext cx="3657600" cy="320040"/>
          </a:xfrm>
          <a:prstGeom prst="rect">
            <a:avLst/>
          </a:prstGeom>
          <a:noFill/>
        </p:spPr>
        <p:txBody>
          <a:bodyPr wrap="square">
            <a:spAutoFit/>
          </a:bodyPr>
          <a:lstStyle/>
          <a:p>
            <a:pPr algn="l">
              <a:defRPr sz="1400" b="1">
                <a:solidFill>
                  <a:srgbClr val="2563EB"/>
                </a:solidFill>
                <a:latin typeface="Calibri"/>
              </a:defRPr>
            </a:pPr>
            <a:r>
              <a:t>🤖 Intelligence Artificielle</a:t>
            </a:r>
          </a:p>
        </p:txBody>
      </p:sp>
      <p:sp>
        <p:nvSpPr>
          <p:cNvPr id="13" name="Rounded Rectangle 12"/>
          <p:cNvSpPr/>
          <p:nvPr/>
        </p:nvSpPr>
        <p:spPr>
          <a:xfrm>
            <a:off x="10241280" y="1207008"/>
            <a:ext cx="1280160" cy="256032"/>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87000" y="1207008"/>
            <a:ext cx="1188720" cy="256032"/>
          </a:xfrm>
          <a:prstGeom prst="rect">
            <a:avLst/>
          </a:prstGeom>
          <a:noFill/>
        </p:spPr>
        <p:txBody>
          <a:bodyPr wrap="square">
            <a:spAutoFit/>
          </a:bodyPr>
          <a:lstStyle/>
          <a:p>
            <a:pPr algn="ctr">
              <a:defRPr sz="900" b="1">
                <a:solidFill>
                  <a:srgbClr val="FFFFFF"/>
                </a:solidFill>
                <a:latin typeface="Calibri"/>
              </a:defRPr>
            </a:pPr>
            <a:r>
              <a:t>Moyen terme</a:t>
            </a:r>
          </a:p>
        </p:txBody>
      </p:sp>
      <p:sp>
        <p:nvSpPr>
          <p:cNvPr id="15" name="TextBox 14"/>
          <p:cNvSpPr txBox="1"/>
          <p:nvPr/>
        </p:nvSpPr>
        <p:spPr>
          <a:xfrm>
            <a:off x="6583680" y="1600200"/>
            <a:ext cx="4937760" cy="731520"/>
          </a:xfrm>
          <a:prstGeom prst="rect">
            <a:avLst/>
          </a:prstGeom>
          <a:noFill/>
        </p:spPr>
        <p:txBody>
          <a:bodyPr wrap="square">
            <a:spAutoFit/>
          </a:bodyPr>
          <a:lstStyle/>
          <a:p>
            <a:pPr algn="l">
              <a:defRPr sz="1100" b="0">
                <a:solidFill>
                  <a:srgbClr val="1E293B"/>
                </a:solidFill>
                <a:latin typeface="Calibri"/>
              </a:defRPr>
            </a:pPr>
            <a:r>
              <a:t>Recommandation intelligente de soins,</a:t>
            </a:r>
            <a:br/>
            <a:r>
              <a:t>prédiction des besoins, chatbot médical</a:t>
            </a:r>
          </a:p>
        </p:txBody>
      </p:sp>
      <p:sp>
        <p:nvSpPr>
          <p:cNvPr id="16" name="Rounded Rectangle 15"/>
          <p:cNvSpPr/>
          <p:nvPr/>
        </p:nvSpPr>
        <p:spPr>
          <a:xfrm>
            <a:off x="731520" y="2743200"/>
            <a:ext cx="5303520" cy="137160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2834640"/>
            <a:ext cx="3657600" cy="320040"/>
          </a:xfrm>
          <a:prstGeom prst="rect">
            <a:avLst/>
          </a:prstGeom>
          <a:noFill/>
        </p:spPr>
        <p:txBody>
          <a:bodyPr wrap="square">
            <a:spAutoFit/>
          </a:bodyPr>
          <a:lstStyle/>
          <a:p>
            <a:pPr algn="l">
              <a:defRPr sz="1400" b="1">
                <a:solidFill>
                  <a:srgbClr val="2563EB"/>
                </a:solidFill>
                <a:latin typeface="Calibri"/>
              </a:defRPr>
            </a:pPr>
            <a:r>
              <a:t>🗺️ Géolocalisation Avancée</a:t>
            </a:r>
          </a:p>
        </p:txBody>
      </p:sp>
      <p:sp>
        <p:nvSpPr>
          <p:cNvPr id="18" name="Rounded Rectangle 17"/>
          <p:cNvSpPr/>
          <p:nvPr/>
        </p:nvSpPr>
        <p:spPr>
          <a:xfrm>
            <a:off x="4572000" y="2852928"/>
            <a:ext cx="1280160" cy="256032"/>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17720" y="2852928"/>
            <a:ext cx="1188720" cy="256032"/>
          </a:xfrm>
          <a:prstGeom prst="rect">
            <a:avLst/>
          </a:prstGeom>
          <a:noFill/>
        </p:spPr>
        <p:txBody>
          <a:bodyPr wrap="square">
            <a:spAutoFit/>
          </a:bodyPr>
          <a:lstStyle/>
          <a:p>
            <a:pPr algn="ctr">
              <a:defRPr sz="900" b="1">
                <a:solidFill>
                  <a:srgbClr val="FFFFFF"/>
                </a:solidFill>
                <a:latin typeface="Calibri"/>
              </a:defRPr>
            </a:pPr>
            <a:r>
              <a:t>Court terme</a:t>
            </a:r>
          </a:p>
        </p:txBody>
      </p:sp>
      <p:sp>
        <p:nvSpPr>
          <p:cNvPr id="20" name="TextBox 19"/>
          <p:cNvSpPr txBox="1"/>
          <p:nvPr/>
        </p:nvSpPr>
        <p:spPr>
          <a:xfrm>
            <a:off x="914400" y="3246120"/>
            <a:ext cx="4937760" cy="731520"/>
          </a:xfrm>
          <a:prstGeom prst="rect">
            <a:avLst/>
          </a:prstGeom>
          <a:noFill/>
        </p:spPr>
        <p:txBody>
          <a:bodyPr wrap="square">
            <a:spAutoFit/>
          </a:bodyPr>
          <a:lstStyle/>
          <a:p>
            <a:pPr algn="l">
              <a:defRPr sz="1100" b="0">
                <a:solidFill>
                  <a:srgbClr val="1E293B"/>
                </a:solidFill>
                <a:latin typeface="Calibri"/>
              </a:defRPr>
            </a:pPr>
            <a:r>
              <a:t>Suivi GPS en temps réel de l'infirmier,</a:t>
            </a:r>
            <a:br/>
            <a:r>
              <a:t>calcul d'itinéraire optimal</a:t>
            </a:r>
          </a:p>
        </p:txBody>
      </p:sp>
      <p:sp>
        <p:nvSpPr>
          <p:cNvPr id="21" name="Rounded Rectangle 20"/>
          <p:cNvSpPr/>
          <p:nvPr/>
        </p:nvSpPr>
        <p:spPr>
          <a:xfrm>
            <a:off x="6400800" y="2743200"/>
            <a:ext cx="5303520" cy="137160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0" y="2834640"/>
            <a:ext cx="3657600" cy="320040"/>
          </a:xfrm>
          <a:prstGeom prst="rect">
            <a:avLst/>
          </a:prstGeom>
          <a:noFill/>
        </p:spPr>
        <p:txBody>
          <a:bodyPr wrap="square">
            <a:spAutoFit/>
          </a:bodyPr>
          <a:lstStyle/>
          <a:p>
            <a:pPr algn="l">
              <a:defRPr sz="1400" b="1">
                <a:solidFill>
                  <a:srgbClr val="2563EB"/>
                </a:solidFill>
                <a:latin typeface="Calibri"/>
              </a:defRPr>
            </a:pPr>
            <a:r>
              <a:t>💳 Paiement en Ligne</a:t>
            </a:r>
          </a:p>
        </p:txBody>
      </p:sp>
      <p:sp>
        <p:nvSpPr>
          <p:cNvPr id="23" name="Rounded Rectangle 22"/>
          <p:cNvSpPr/>
          <p:nvPr/>
        </p:nvSpPr>
        <p:spPr>
          <a:xfrm>
            <a:off x="10241280" y="2852928"/>
            <a:ext cx="1280160" cy="256032"/>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287000" y="2852928"/>
            <a:ext cx="1188720" cy="256032"/>
          </a:xfrm>
          <a:prstGeom prst="rect">
            <a:avLst/>
          </a:prstGeom>
          <a:noFill/>
        </p:spPr>
        <p:txBody>
          <a:bodyPr wrap="square">
            <a:spAutoFit/>
          </a:bodyPr>
          <a:lstStyle/>
          <a:p>
            <a:pPr algn="ctr">
              <a:defRPr sz="900" b="1">
                <a:solidFill>
                  <a:srgbClr val="FFFFFF"/>
                </a:solidFill>
                <a:latin typeface="Calibri"/>
              </a:defRPr>
            </a:pPr>
            <a:r>
              <a:t>Court terme</a:t>
            </a:r>
          </a:p>
        </p:txBody>
      </p:sp>
      <p:sp>
        <p:nvSpPr>
          <p:cNvPr id="25" name="TextBox 24"/>
          <p:cNvSpPr txBox="1"/>
          <p:nvPr/>
        </p:nvSpPr>
        <p:spPr>
          <a:xfrm>
            <a:off x="6583680" y="3246120"/>
            <a:ext cx="4937760" cy="731520"/>
          </a:xfrm>
          <a:prstGeom prst="rect">
            <a:avLst/>
          </a:prstGeom>
          <a:noFill/>
        </p:spPr>
        <p:txBody>
          <a:bodyPr wrap="square">
            <a:spAutoFit/>
          </a:bodyPr>
          <a:lstStyle/>
          <a:p>
            <a:pPr algn="l">
              <a:defRPr sz="1100" b="0">
                <a:solidFill>
                  <a:srgbClr val="1E293B"/>
                </a:solidFill>
                <a:latin typeface="Calibri"/>
              </a:defRPr>
            </a:pPr>
            <a:r>
              <a:t>Intégration CMI / Stripe pour le paiement</a:t>
            </a:r>
            <a:br/>
            <a:r>
              <a:t>en ligne sécurisé (3D Secure)</a:t>
            </a:r>
          </a:p>
        </p:txBody>
      </p:sp>
      <p:sp>
        <p:nvSpPr>
          <p:cNvPr id="26" name="Rounded Rectangle 25"/>
          <p:cNvSpPr/>
          <p:nvPr/>
        </p:nvSpPr>
        <p:spPr>
          <a:xfrm>
            <a:off x="731520" y="4389120"/>
            <a:ext cx="5303520" cy="137160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480560"/>
            <a:ext cx="3657600" cy="320040"/>
          </a:xfrm>
          <a:prstGeom prst="rect">
            <a:avLst/>
          </a:prstGeom>
          <a:noFill/>
        </p:spPr>
        <p:txBody>
          <a:bodyPr wrap="square">
            <a:spAutoFit/>
          </a:bodyPr>
          <a:lstStyle/>
          <a:p>
            <a:pPr algn="l">
              <a:defRPr sz="1400" b="1">
                <a:solidFill>
                  <a:srgbClr val="2563EB"/>
                </a:solidFill>
                <a:latin typeface="Calibri"/>
              </a:defRPr>
            </a:pPr>
            <a:r>
              <a:t>🏥 Télémédecine</a:t>
            </a:r>
          </a:p>
        </p:txBody>
      </p:sp>
      <p:sp>
        <p:nvSpPr>
          <p:cNvPr id="28" name="Rounded Rectangle 27"/>
          <p:cNvSpPr/>
          <p:nvPr/>
        </p:nvSpPr>
        <p:spPr>
          <a:xfrm>
            <a:off x="4572000" y="4498848"/>
            <a:ext cx="1280160" cy="256032"/>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17720" y="4498848"/>
            <a:ext cx="1188720" cy="256032"/>
          </a:xfrm>
          <a:prstGeom prst="rect">
            <a:avLst/>
          </a:prstGeom>
          <a:noFill/>
        </p:spPr>
        <p:txBody>
          <a:bodyPr wrap="square">
            <a:spAutoFit/>
          </a:bodyPr>
          <a:lstStyle/>
          <a:p>
            <a:pPr algn="ctr">
              <a:defRPr sz="900" b="1">
                <a:solidFill>
                  <a:srgbClr val="FFFFFF"/>
                </a:solidFill>
                <a:latin typeface="Calibri"/>
              </a:defRPr>
            </a:pPr>
            <a:r>
              <a:t>Long terme</a:t>
            </a:r>
          </a:p>
        </p:txBody>
      </p:sp>
      <p:sp>
        <p:nvSpPr>
          <p:cNvPr id="30" name="TextBox 29"/>
          <p:cNvSpPr txBox="1"/>
          <p:nvPr/>
        </p:nvSpPr>
        <p:spPr>
          <a:xfrm>
            <a:off x="914400" y="4892040"/>
            <a:ext cx="4937760" cy="731520"/>
          </a:xfrm>
          <a:prstGeom prst="rect">
            <a:avLst/>
          </a:prstGeom>
          <a:noFill/>
        </p:spPr>
        <p:txBody>
          <a:bodyPr wrap="square">
            <a:spAutoFit/>
          </a:bodyPr>
          <a:lstStyle/>
          <a:p>
            <a:pPr algn="l">
              <a:defRPr sz="1100" b="0">
                <a:solidFill>
                  <a:srgbClr val="1E293B"/>
                </a:solidFill>
                <a:latin typeface="Calibri"/>
              </a:defRPr>
            </a:pPr>
            <a:r>
              <a:t>Consultations vidéo, ordonnances</a:t>
            </a:r>
            <a:br/>
            <a:r>
              <a:t>numériques, dossier médical partagé</a:t>
            </a:r>
          </a:p>
        </p:txBody>
      </p:sp>
      <p:sp>
        <p:nvSpPr>
          <p:cNvPr id="31" name="Rounded Rectangle 30"/>
          <p:cNvSpPr/>
          <p:nvPr/>
        </p:nvSpPr>
        <p:spPr>
          <a:xfrm>
            <a:off x="6400800" y="4389120"/>
            <a:ext cx="5303520" cy="137160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0" y="4480560"/>
            <a:ext cx="3657600" cy="320040"/>
          </a:xfrm>
          <a:prstGeom prst="rect">
            <a:avLst/>
          </a:prstGeom>
          <a:noFill/>
        </p:spPr>
        <p:txBody>
          <a:bodyPr wrap="square">
            <a:spAutoFit/>
          </a:bodyPr>
          <a:lstStyle/>
          <a:p>
            <a:pPr algn="l">
              <a:defRPr sz="1400" b="1">
                <a:solidFill>
                  <a:srgbClr val="2563EB"/>
                </a:solidFill>
                <a:latin typeface="Calibri"/>
              </a:defRPr>
            </a:pPr>
            <a:r>
              <a:t>🌍 Expansion Régionale</a:t>
            </a:r>
          </a:p>
        </p:txBody>
      </p:sp>
      <p:sp>
        <p:nvSpPr>
          <p:cNvPr id="33" name="Rounded Rectangle 32"/>
          <p:cNvSpPr/>
          <p:nvPr/>
        </p:nvSpPr>
        <p:spPr>
          <a:xfrm>
            <a:off x="10241280" y="4498848"/>
            <a:ext cx="1280160" cy="256032"/>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287000" y="4498848"/>
            <a:ext cx="1188720" cy="256032"/>
          </a:xfrm>
          <a:prstGeom prst="rect">
            <a:avLst/>
          </a:prstGeom>
          <a:noFill/>
        </p:spPr>
        <p:txBody>
          <a:bodyPr wrap="square">
            <a:spAutoFit/>
          </a:bodyPr>
          <a:lstStyle/>
          <a:p>
            <a:pPr algn="ctr">
              <a:defRPr sz="900" b="1">
                <a:solidFill>
                  <a:srgbClr val="FFFFFF"/>
                </a:solidFill>
                <a:latin typeface="Calibri"/>
              </a:defRPr>
            </a:pPr>
            <a:r>
              <a:t>Moyen terme</a:t>
            </a:r>
          </a:p>
        </p:txBody>
      </p:sp>
      <p:sp>
        <p:nvSpPr>
          <p:cNvPr id="35" name="TextBox 34"/>
          <p:cNvSpPr txBox="1"/>
          <p:nvPr/>
        </p:nvSpPr>
        <p:spPr>
          <a:xfrm>
            <a:off x="6583680" y="4892040"/>
            <a:ext cx="4937760" cy="731520"/>
          </a:xfrm>
          <a:prstGeom prst="rect">
            <a:avLst/>
          </a:prstGeom>
          <a:noFill/>
        </p:spPr>
        <p:txBody>
          <a:bodyPr wrap="square">
            <a:spAutoFit/>
          </a:bodyPr>
          <a:lstStyle/>
          <a:p>
            <a:pPr algn="l">
              <a:defRPr sz="1100" b="0">
                <a:solidFill>
                  <a:srgbClr val="1E293B"/>
                </a:solidFill>
                <a:latin typeface="Calibri"/>
              </a:defRPr>
            </a:pPr>
            <a:r>
              <a:t>Déploiement dans d'autres villes</a:t>
            </a:r>
            <a:br/>
            <a:r>
              <a:t>marocaines puis en Afrique francophone</a:t>
            </a:r>
          </a:p>
        </p:txBody>
      </p:sp>
      <p:sp>
        <p:nvSpPr>
          <p:cNvPr id="36" name="TextBox 35"/>
          <p:cNvSpPr txBox="1"/>
          <p:nvPr/>
        </p:nvSpPr>
        <p:spPr>
          <a:xfrm>
            <a:off x="457200" y="6309360"/>
            <a:ext cx="10972800" cy="365760"/>
          </a:xfrm>
          <a:prstGeom prst="rect">
            <a:avLst/>
          </a:prstGeom>
          <a:noFill/>
        </p:spPr>
        <p:txBody>
          <a:bodyPr wrap="none">
            <a:spAutoFit/>
          </a:bodyPr>
          <a:lstStyle/>
          <a:p>
            <a:pPr algn="ctr">
              <a:defRPr sz="900">
                <a:solidFill>
                  <a:srgbClr val="94A3B8"/>
                </a:solidFill>
              </a:defRPr>
            </a:pPr>
            <a:r>
              <a:t>Dar-Soins — PFE Licence Pro IFIAG 2025/2026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563EB"/>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695" cy="91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5181904" y="548640"/>
            <a:ext cx="1828800" cy="1828800"/>
          </a:xfrm>
          <a:prstGeom prst="rect">
            <a:avLst/>
          </a:prstGeom>
        </p:spPr>
      </p:pic>
      <p:sp>
        <p:nvSpPr>
          <p:cNvPr id="5" name="TextBox 4"/>
          <p:cNvSpPr txBox="1"/>
          <p:nvPr/>
        </p:nvSpPr>
        <p:spPr>
          <a:xfrm>
            <a:off x="914400" y="2560320"/>
            <a:ext cx="10362895" cy="731520"/>
          </a:xfrm>
          <a:prstGeom prst="rect">
            <a:avLst/>
          </a:prstGeom>
          <a:noFill/>
        </p:spPr>
        <p:txBody>
          <a:bodyPr wrap="square">
            <a:spAutoFit/>
          </a:bodyPr>
          <a:lstStyle/>
          <a:p>
            <a:pPr algn="ctr">
              <a:defRPr sz="4000" b="1">
                <a:solidFill>
                  <a:srgbClr val="FFFFFF"/>
                </a:solidFill>
                <a:latin typeface="Calibri"/>
              </a:defRPr>
            </a:pPr>
            <a:r>
              <a:t>Conclusion</a:t>
            </a:r>
          </a:p>
        </p:txBody>
      </p:sp>
      <p:sp>
        <p:nvSpPr>
          <p:cNvPr id="6" name="Rectangle 5"/>
          <p:cNvSpPr/>
          <p:nvPr/>
        </p:nvSpPr>
        <p:spPr>
          <a:xfrm>
            <a:off x="5029200" y="3383280"/>
            <a:ext cx="2133295"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657600"/>
            <a:ext cx="9448495" cy="1371600"/>
          </a:xfrm>
          <a:prstGeom prst="rect">
            <a:avLst/>
          </a:prstGeom>
          <a:noFill/>
        </p:spPr>
        <p:txBody>
          <a:bodyPr wrap="square">
            <a:spAutoFit/>
          </a:bodyPr>
          <a:lstStyle/>
          <a:p>
            <a:pPr algn="ctr">
              <a:defRPr sz="1800" b="0">
                <a:solidFill>
                  <a:srgbClr val="BFDBFE"/>
                </a:solidFill>
                <a:latin typeface="Calibri"/>
              </a:defRPr>
            </a:pPr>
            <a:r>
              <a:t>Dar-Soins apporte une réponse concrète et fonctionnelle</a:t>
            </a:r>
            <a:br/>
            <a:r>
              <a:t>à la problématique de digitalisation des soins infirmiers à domicile au Maroc.</a:t>
            </a:r>
            <a:br/>
            <a:br/>
            <a:r>
              <a:t>Une plateforme complète, sécurisée et prête à transformer le secteur.</a:t>
            </a:r>
          </a:p>
        </p:txBody>
      </p:sp>
      <p:sp>
        <p:nvSpPr>
          <p:cNvPr id="8" name="TextBox 7"/>
          <p:cNvSpPr txBox="1"/>
          <p:nvPr/>
        </p:nvSpPr>
        <p:spPr>
          <a:xfrm>
            <a:off x="914400" y="5303520"/>
            <a:ext cx="10362895" cy="548640"/>
          </a:xfrm>
          <a:prstGeom prst="rect">
            <a:avLst/>
          </a:prstGeom>
          <a:noFill/>
        </p:spPr>
        <p:txBody>
          <a:bodyPr wrap="square">
            <a:spAutoFit/>
          </a:bodyPr>
          <a:lstStyle/>
          <a:p>
            <a:pPr algn="ctr">
              <a:defRPr sz="2400" b="1">
                <a:solidFill>
                  <a:srgbClr val="10B981"/>
                </a:solidFill>
                <a:latin typeface="Calibri"/>
              </a:defRPr>
            </a:pPr>
            <a:r>
              <a:t>« La santé, chez vous, en un clic »</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563EB"/>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695" cy="91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5181904" y="914400"/>
            <a:ext cx="1828800" cy="1828800"/>
          </a:xfrm>
          <a:prstGeom prst="rect">
            <a:avLst/>
          </a:prstGeom>
        </p:spPr>
      </p:pic>
      <p:sp>
        <p:nvSpPr>
          <p:cNvPr id="5" name="TextBox 4"/>
          <p:cNvSpPr txBox="1"/>
          <p:nvPr/>
        </p:nvSpPr>
        <p:spPr>
          <a:xfrm>
            <a:off x="914400" y="3017520"/>
            <a:ext cx="10362895" cy="914400"/>
          </a:xfrm>
          <a:prstGeom prst="rect">
            <a:avLst/>
          </a:prstGeom>
          <a:noFill/>
        </p:spPr>
        <p:txBody>
          <a:bodyPr wrap="square">
            <a:spAutoFit/>
          </a:bodyPr>
          <a:lstStyle/>
          <a:p>
            <a:pPr algn="ctr">
              <a:defRPr sz="4200" b="1">
                <a:solidFill>
                  <a:srgbClr val="FFFFFF"/>
                </a:solidFill>
                <a:latin typeface="Calibri"/>
              </a:defRPr>
            </a:pPr>
            <a:r>
              <a:t>Merci de votre attention</a:t>
            </a:r>
          </a:p>
        </p:txBody>
      </p:sp>
      <p:sp>
        <p:nvSpPr>
          <p:cNvPr id="6" name="TextBox 5"/>
          <p:cNvSpPr txBox="1"/>
          <p:nvPr/>
        </p:nvSpPr>
        <p:spPr>
          <a:xfrm>
            <a:off x="914400" y="3931920"/>
            <a:ext cx="10362895" cy="548640"/>
          </a:xfrm>
          <a:prstGeom prst="rect">
            <a:avLst/>
          </a:prstGeom>
          <a:noFill/>
        </p:spPr>
        <p:txBody>
          <a:bodyPr wrap="square">
            <a:spAutoFit/>
          </a:bodyPr>
          <a:lstStyle/>
          <a:p>
            <a:pPr algn="ctr">
              <a:defRPr sz="2800" b="1">
                <a:solidFill>
                  <a:srgbClr val="10B981"/>
                </a:solidFill>
                <a:latin typeface="Calibri"/>
              </a:defRPr>
            </a:pPr>
            <a:r>
              <a:t>Questions ?</a:t>
            </a:r>
          </a:p>
        </p:txBody>
      </p:sp>
      <p:sp>
        <p:nvSpPr>
          <p:cNvPr id="7" name="Rectangle 6"/>
          <p:cNvSpPr/>
          <p:nvPr/>
        </p:nvSpPr>
        <p:spPr>
          <a:xfrm>
            <a:off x="4572000" y="4572000"/>
            <a:ext cx="3047695"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846320"/>
            <a:ext cx="10362895" cy="457200"/>
          </a:xfrm>
          <a:prstGeom prst="rect">
            <a:avLst/>
          </a:prstGeom>
          <a:noFill/>
        </p:spPr>
        <p:txBody>
          <a:bodyPr wrap="square">
            <a:spAutoFit/>
          </a:bodyPr>
          <a:lstStyle/>
          <a:p>
            <a:pPr algn="ctr">
              <a:defRPr sz="1600" b="0">
                <a:solidFill>
                  <a:srgbClr val="93C5FD"/>
                </a:solidFill>
                <a:latin typeface="Calibri"/>
              </a:defRPr>
            </a:pPr>
            <a:r>
              <a:t>contact@darsoins.ma  ·  darsoins.ma</a:t>
            </a:r>
          </a:p>
        </p:txBody>
      </p:sp>
      <p:sp>
        <p:nvSpPr>
          <p:cNvPr id="9" name="TextBox 8"/>
          <p:cNvSpPr txBox="1"/>
          <p:nvPr/>
        </p:nvSpPr>
        <p:spPr>
          <a:xfrm>
            <a:off x="914400" y="5303520"/>
            <a:ext cx="10362895" cy="457200"/>
          </a:xfrm>
          <a:prstGeom prst="rect">
            <a:avLst/>
          </a:prstGeom>
          <a:noFill/>
        </p:spPr>
        <p:txBody>
          <a:bodyPr wrap="square">
            <a:spAutoFit/>
          </a:bodyPr>
          <a:lstStyle/>
          <a:p>
            <a:pPr algn="ctr">
              <a:defRPr sz="1400" b="0">
                <a:solidFill>
                  <a:srgbClr val="BFDBFE"/>
                </a:solidFill>
                <a:latin typeface="Calibri"/>
              </a:defRPr>
            </a:pPr>
            <a:r>
              <a:t>Dar-Soins — La santé, chez vous, en un clic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